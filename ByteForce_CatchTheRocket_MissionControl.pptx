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We're Team ByteForce. Our project is Catch the Rocket – an ESP32 ground station that has to understand a whole rocket flight while it is still arriving, sample by sample. We reached Level 5 and verified it on the Official Tracker and Practice Tracker B."
VISUAL: The teal curve is the Official Tracker flight rebuilt from our verified results – climb, apogee (amber), parachute descent. The chip is the ESP32 we ran it on.
KEY POINT: The whole project is a hardware-constraint problem first and a rocket-physics problem second.
LIKELY QUESTION: What exactly did you build?
ANSWER: An autonomous ESP32 ground station: it ingests 100,000 altitude readings, filters sensor glitches and answers serial commands (G, APOGEE, DEPLOY, DESCENT, LAND, GLITCHES, ALT t) with no hard-coded flight constants.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biggest problem was not the rocket physics. It was the hardware constraint. We get 100,000 altitude readings. We may keep only 4096 bytes of persistent state, and each reading must be processed in 12,000 clock cycles – 50 microseconds on a 240 MHz ESP32. Storing the flight as floats would take about 400,000 bytes, a hundred times too much. So we don't store the history; we store the information extracted from it."
VISUAL: Five hard limits. Below, the whole flight as 4-byte floats against our allowed state at the same scale.
KEY POINT: Two budgets – memory (4096 B) and time (12,000 cycles) – must hold together for every sample. Online processing: running sums, compressed state, and a ring buffer only where history is needed.
LIKELY QUESTION: Why can't you store all 100,000 readings, and is the sampling rate consistent with a 100-second flight?
ANSWER: 100,000 x 4 B is about 400 KB against 4096 B, and flash/lookup tables/large flight arrays are forbidden. Timing: each nextAltitude() call advances the tracker by 1 ms of simulated flight (code: t++, heights in ms), so 100,000 calls = a 100 s simulated flight. The 20,000 readings/s and 50 us figures come from the problem statement as quoted in our report; the sketch itself does not pace the calls, so we cannot show a measured delivery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the whole system. Each altitude reading enters on the left, goes through a five-point median to catch glitches, updates a small set of running sums, and is gone. The models are fitted from those sums and the coefficients are cached, so the serial commands on the right answer from cached results."
VISUAL: The dashed outline is the ESP32 and its single 4096-byte state struct. Data flows left to right; nothing accumulates as a giant dataset.
KEY POINT: Per sample we filter, accumulate and watch for deployment. The expensive fit happens once, after the flight, and is then cached.
LIKELY QUESTION: How does the ESP32 process each sample?
ANSWER: Causal 5-point median -&gt; glitch check (&gt;20 m deviation, replace with the median) -&gt; update running sums and the 1024-entry ring buffer -&gt; compare actual vs ballistic drop for deployment. All of it peaked at 6502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never wrote the final system in one go. Each level added one capability and we measured RAM and worst-case cycles after every step. We reached Level 5 on both trackers. RAM jumped when we added the 2048-byte ring buffer in Level 4, and cycles roughly doubled once glitch filtering and deployment detection ran on every sample – but we finished at 6502 cycles."
VISUAL: A staircase. Each step lists the new capability, the state RAM and the worst per-reading cycles (Official / Practice B where they differ). Every value is from the serial-monitor capture for that level.
KEY POINT: Final level achieved: Level 5, verified on the Official Tracker and Practice Tracker B. Level 5 added no RAM and almost no cycles – it was optimization, profiling and code freeze.
LIKELY QUESTION: How did resource use change across levels?
ANSWER: State RAM went 44 -&gt; 88 -&gt; 136 -&gt; 2096 -&gt; 2336 -&gt; 2336 B; worst cycles 903 -&gt; 992 -&gt; 2404/3343 -&gt; 2662 -&gt; 6416/6501 -&gt; 6418/6502 (Official/Practice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flight phases, two simple models. After 45 seconds under parachute, altitude is a straight line, y = A + Bk: the slope is the descent velocity and where it hits zero is the landing time. During the first 8 seconds only gravity acts, so altitude is a parabola, y = A + Bq + Cq squared. The coefficient C is how strongly the curve bends – the acceleration – so g equals minus 80,000 times C, and the vertex, where the slope is zero, is the apogee. Neither model needs the raw samples; both are built from a few running sums."
VISUAL: Left, the descent line fitted from verified results; right, the coast parabola with the apogee marked. Squares are verified ALT readings.
KEY POINT: Time is centred (k = i - 72500 ms, q = 2i - 7999) so sums stay small; q is symmetric so odd sums cancel, but sums of q^4 reach about 10^19, so we use int64 sums and double coefficients.
LIKELY QUESTION: Why does the quadratic coefficient give gravity, and how do you find apogee?
ANSWER: d2y/dt2 = C x (dq/dt)^2 = C x 2000^2 = 4x10^6 C cm/s^2, so g = -80000 C m/s^2. Apogee is where dy/dq = B + 2Cq = 0, so q = -B/(2C) and t = (7999 + q)/2000 s. Running sums for the line: N, sum k, sum y, sum k^2, sum 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Level 3 we compressed the stream into 100 blocks of 1000 readings – one second each – keeping just three moments per block. That was 2000 bytes instead of hundreds of kilobytes. From those we fit a coast parabola and a descent line. Where they cross is a deployment candidate; the earlier crossing is just the line extended backwards, so we pick the later root."
VISUAL: Left: 1000 raw samples collapse into three moments. Right: the two curves cross twice; the later crossing is deployment (12.000 s, 547.68 m on the Official Tracker).
KEY POINT: Two models describe two flight phases; their intersection gives the transition. The 100-block representation was the intermediate Level 3 design; the final firmware (state slide) uses running accumulators and the ring buffer instead of the block arrays (the Level 5 sketch contains no block code).
LIKELY QUESTION: How is deployment detected?
ANSWER: Two ways working together: the real-time trigger compares actual vs ballistic altitude drop (&gt;500 cm), and the curve intersection P(t) - L(t) = 0 - taking the later root - gives the exact time and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"In Level 4 the tracker injects glitches: single readings that jump by 50 to 300 metres. Normal noise is only about two metres. We can't wait for future samples in a live stream, so we use a causal five-point median over the last five readings. If a reading differs from that median by more than 20 metres, it's a glitch – we count it and replace it with the median."
VISUAL: Top trace is raw with one huge spike; bottom is after the filter. This plot is conceptual (synthetic) and is labelled so – it is not measured data.
KEY POINT: The median runs BEFORE the ring buffer and the deployment logic, so an isolated spike can never be mistaken for the parachute opening. In the code the glitch check is active from reading 1000 on (glitches only start after t = 1000 ms).
LIKELY QUESTION: Why use a causal median filter, and why 5 samples?
ANSWER: Causal because future readings aren't available in real time. Median because it ignores outliers. Five: the report specifies a 5-sample window and guarantees glitches are at least 10 clean readings apart, so a 5-sample window never holds more than one spike (our reasoning). The code computes the median with a small insertion sort over 5 values (the report mentions a sorting network; the sketch does not use one). Official run: 739 glitches caught; Practice B: 727.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detect deployment in real time we need to compare the altitude now with the altitude 1024 samples ago. That's history – exactly what we can't afford. A ring buffer of 1024 floats would eat 4096 bytes, our entire budget. Quantizing altitude to 5 cm lets each entry fit in 16 bits, so the ring is 2048 bytes. Precision is lost only in that rounding – at most 2.5 cm per stored reading – far below the plus or minus 2 m noise."
VISUAL: The circle is the 1024-slot circular buffer; the newest sample overwrites the oldest. Right: the float-versus-uint16 cost and the trigger rule.
KEY POINT: Trigger: (actual drop over 1024 samples) - (ballistic predicted drop) &gt; 500 cm, checked every 16th sample. When it fires, the firmware freezes the transition window so those transitional samples don't distort either curve fit. The ring stores CLEAN (median-filtered) readings only.
LIKELY QUESTION: What happens during the deployment transition, and why uint16?
ANSWER: Clean ballistic samples keep feeding the coast accumulators with a 1024-sample delay, post-transition samples feed the descent accumulators, and the transitional samples are excluded, because the parachute's deceleration fits neither the parabola nor the line. uint16 at 5 cm covers 65535 x 5 cm = 3276 m; the code clamps at 60000 units (3000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memory map of our final firmware – one C struct, 2336 bytes out of 4096 – and every field in it. The ring buffer is the big block at 2048 bytes. The rest are accumulators for the three curve fits, the median window, deployment state, cached coefficients and the serial command buffer. The declared fields add up to 2317 bytes; the compiler reports 2336, so 19 bytes are alignment padding. A static_assert makes the compiler enforce the 4096-byte limit."
VISUAL: The bar is the 4096-byte budget drawn to scale. The table lists each group of fields with its type, byte cost and purpose, straight from GroundState in LEVEL_5_OFFICIAL.ino.
KEY POINT: No raw history except the 1024-entry quantized ring; everything else is a fixed set of sums, coefficients and flags. The 19 B of padding is derived (2336 minus the 2317 B sum of declared fields).
LIKELY QUESTION: Why int64 for sums and double for coefficients? How much RAM is used and how was it verified?
ANSWER: Sums of q^4 reach about 10^19 and would lose precision in 32-bit floats, so sums are int64 and fitted coefficients are double; time is centred to keep sums small. RAM: STATS prints 'bytes used: 2336 of 4096' on both trackers (57.0%, 1760 B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"Memory was the first constraint; the clock was the second. At 240 MHz, a 50-microsecond interval gives 12,000 cycles per reading. We measured our own processing with the ESP32 cycle counter around every reading, with the tracker call outside the measured section. The worst reading we ever saw was 6502 cycles – 54.2 percent of the budget, 5498 cycles to spare. The table shows the measured cost of every command after the flight."
VISUAL: The long bar is 0 to 12,000 cycles. The table is the cycles each serial command took in the Level 5 captures; microseconds are cycles divided by 240.
KEY POINT: The first G command takes about 104,000 cycles because it does the final matrix fit AFTER the flight, so it is outside the per-sample budget. Other commands cost from 10 to about 2,200 cycles; the report's claim of under 100 cycles for all cached commands is true only for DEPLOY, DESCENT, GLITCHES and STATS.
LIKELY QUESTION: Does the 104,000-cycle G command violate the timing constraint?
ANSWER: No. The limit is 12,000 cycles per incoming reading during ingestion. The G fit happens after all readings have arrived, so no reading is delayed. Measured: G = 104337 cycles (Official), 104186 (Practice B), about 435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"These are the outputs from the ESP32 with glitches enabled, next to what the tracker's own flight model says they should be. On the Official Tracker gravity is 9.810 against 9.81, apogee 8.002 seconds and 626.08 metres, deployment at exactly 12.000 seconds, descent minus 4.5. On Practice Tracker B, a different flight, every value is within a few hundredths. The only precision loss is the 5 cm quantization, at most 2.5 cm, plus the plus or minus 2 m noise that the regressions average out."
VISUAL: Measured values are from the Level 5 serial captures. Expected values are the noise-free model in the tracker function inside the sketches (H0, V0, G, TD, VD) – the firmware never reads those constants. The two trackers are never mixed.
KEY POINT: Same unchanged firmware, two different flights, no hard-coded flight constants, same 2336 B and at most 6502 cycles per reading. Verification procedure: flash the sketch, let the tracker feed 100,000 readings with glitches on, send the commands over serial, compare with the tracker model, read worst cycles from STATS. Glitch-free runs were Level 3; glitch-enabled runs are Levels 4 and 5.
LIKELY QUESTION: Why are some Practice Tracker B results different, and was there an unseen tracker?
ANSWER: Practice Tracker B simulates a different flight (gravity 3.71, descent -8.5, later apogee and deployment), so outputs differ while the code is identical. We have no unseen-tracker output in our evidence, so we do not claim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changed three things because they did not work. First, a float-based quadratic fit lost precision because the sums reach ten to the nineteen, so we moved to int64 sums and double coefficients. Second, the Level 3 G command cost over a million cycles, so we switched to closed-form power sums and cached coefficients, and it dropped to about 104 thousand. Third, our Skeptic spotted that a single 300-metre glitch could look like deployment, so the median runs before the ring buffer and the detector. The limitations are honest: altitude clamps at 3000 metres, glitch checks start at reading 1000, the first G costs 104 thousand cycles after the flight, and we only tested two trackers."
VISUAL: Left, documented changes with the measured effect; middle, limitations; right, lessons about memory, data representation and computation.
KEY POINT: Only changes documented in the report and visible in our outputs are listed: Level 3 G cost 1,247,112 (Official) and 2,118,771 (Practice B) cycles; Level 5 G cost 104,337 and 104,186.
LIKELY QUESTION: What failed and what did you learn?
ANSWER: Float precision loss, the slow first fit, and the glitch-versus-deployment confusion. We learned that a float ring buffer would take the whole 4096 B, that centring time and int64 sums prevent overflow, and that closed-form sums plus cached coefficients keep both the per-reading and the command costs low.
TEAM TO CONFIRM: add any other real failed attempts from the team log; none beyond those above are documented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used an LLM only for mathematical verification and formatting, and Brunda kept the audit log. It gave us the closed-form power-sum formulas; Gana checked them on paper and in desktop C++ before we used them. It was wrong about deployment detection: it claimed a sudden spike in rolling variance would show the parachute opening. On the board, normal plus or minus 2 metre noise caused continuous false triggers, so Gana discarded it and we use trajectory lag instead: the real altitude drop over 1024 samples against the drop our coast parabola predicts, triggering above 500 centimetres."
VISUAL: Top, the logged LLM entries from the final report (Table 11). Below, the one wrong answer: what the LLM said, how it was tested, what happened, and the fix we kept.
KEY POINT: Every LLM suggestion was tested independently before use. The fix is in the final code: DETECT_THRESHOLD_CM 500, a 1024-sample window, checked every 16th reading.
LIKELY QUESTION: Give one helpful and one wrong or unhelpful LLM result.
ANSWER: Helpful: closed-form power sums, verified on paper and in desktop C++, used in the final code. Wrong: the rolling-variance deployment detector - normal plus or minus 2 m noise caused continuous false triggers on the board, so it was discarded in favour of the trajectory-divergence trigger.
CARE: the report says the sorting network was optimised to 7 comparators, but the final sketch computes the median with a small insertion sort - say 'we tested a sorting network; the final code uses a simple 5-value sort'. Do not claim a measured false-trigger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summarize: 100,000 samples flow through online processing, get filtered and compressed into a trajectory model, and come out as flight intelligence. We reached Level 5. We used 2336 of 4096 bytes and 6502 of 12,000 cycles, verified on hardware on two trackers. One ESP32, one compact state structure, 100,000 readings, real-time flight analysis. Thank you – we're happy to take questions."
VISUAL: The flow compresses the whole story; the four readouts are the verified resource numbers.
KEY POINT: This is a computer-architecture problem: memory capacity, cycle budget, data path and numerical design had to be solved together.
LIKELY QUESTION: What is the main takeaway?
ANSWER: Don't store the data - store what the data means. Online processing with a few accumulators, a causal filter, and a quantized ring buffer let a 4 KB, 240 MHz microcontroller do real-time flight analysis with 1760 B and over 5400 cycles to spare.
----- Q&amp;A BACKUP (see SPEAKER_QA.md for the full 20) -----
Speaking split (suggested, by report roles): Brunda M (Scribe) slides 1-3 and 13 (she kept the LLM log); Sindhu GV (Builder) slides 4-6; Chaithra Gana G (Skeptic and Code Integrate) slides 7-9 and 12; Samudra Kar (Measurer) slides 10-11 and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0A0E13"/>
        </a:solidFill>
      </p:bgPr>
    </p:bg>
    <p:spTree>
      <p:nvGrpSpPr>
        <p:cNvPr id="1" name=""/>
        <p:cNvGrpSpPr/>
        <p:nvPr/>
      </p:nvGrpSpPr>
      <p:grpSpPr>
        <a:xfrm>
          <a:off x="0" y="0"/>
          <a:ext cx="0" cy="0"/>
          <a:chOff x="0" y="0"/>
          <a:chExt cx="0" cy="0"/>
        </a:xfrm>
      </p:grpSpPr>
      <p:sp>
        <p:nvSpPr>
          <p:cNvPr id="2" name="Text 0"/>
          <p:cNvSpPr/>
          <p:nvPr/>
        </p:nvSpPr>
        <p:spPr>
          <a:xfrm>
            <a:off x="548640" y="6446520"/>
            <a:ext cx="7315200" cy="228600"/>
          </a:xfrm>
          <a:prstGeom prst="rect">
            <a:avLst/>
          </a:prstGeom>
          <a:noFill/>
          <a:ln/>
        </p:spPr>
        <p:txBody>
          <a:bodyPr wrap="square" lIns="0" tIns="0" rIns="0" bIns="0" rtlCol="0" anchor="ctr"/>
          <a:lstStyle/>
          <a:p>
            <a:pPr indent="0" marL="0">
              <a:buNone/>
            </a:pPr>
            <a:r>
              <a:rPr lang="en-US" sz="1000" dirty="0">
                <a:solidFill>
                  <a:srgbClr val="5E6B7A"/>
                </a:solidFill>
                <a:latin typeface="Calibri" pitchFamily="34" charset="0"/>
                <a:ea typeface="Calibri" pitchFamily="34" charset="-122"/>
                <a:cs typeface="Calibri" pitchFamily="34" charset="-120"/>
              </a:rPr>
              <a:t>TEAM BYTEFORCE  ·  CATCH THE ROCKET  ·  FCA MID-SEMESTER HACKATHON</a:t>
            </a:r>
            <a:endParaRPr lang="en-US" sz="10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D:\FCA_Deck\assets\hero.png">    </p:cNvPr>
          <p:cNvPicPr>
            <a:picLocks noChangeAspect="1"/>
          </p:cNvPicPr>
          <p:nvPr/>
        </p:nvPicPr>
        <p:blipFill>
          <a:blip r:embed="rId1"/>
          <a:stretch>
            <a:fillRect/>
          </a:stretch>
        </p:blipFill>
        <p:spPr>
          <a:xfrm>
            <a:off x="4206240" y="3108960"/>
            <a:ext cx="7772400" cy="3108960"/>
          </a:xfrm>
          <a:prstGeom prst="rect">
            <a:avLst/>
          </a:prstGeom>
        </p:spPr>
      </p:pic>
      <p:sp>
        <p:nvSpPr>
          <p:cNvPr id="4" name="Text 0"/>
          <p:cNvSpPr txBox="1"/>
          <p:nvPr/>
        </p:nvSpPr>
        <p:spPr>
          <a:xfrm>
            <a:off x="548640" y="548640"/>
            <a:ext cx="6400800" cy="274320"/>
          </a:xfrm>
          <a:prstGeom prst="rect">
            <a:avLst/>
          </a:prstGeom>
          <a:noFill/>
          <a:ln/>
        </p:spPr>
        <p:txBody>
          <a:bodyPr wrap="square" lIns="0" tIns="0" rIns="0" bIns="0" rtlCol="0" anchor="t"/>
          <a:lstStyle/>
          <a:p>
            <a:pPr indent="0" marL="0">
              <a:buNone/>
            </a:pPr>
            <a:r>
              <a:rPr lang="en-US" sz="1300" spc="300" kern="0" dirty="0">
                <a:solidFill>
                  <a:srgbClr val="3FD0C0"/>
                </a:solidFill>
                <a:latin typeface="Consolas" pitchFamily="34" charset="0"/>
                <a:ea typeface="Consolas" pitchFamily="34" charset="-122"/>
                <a:cs typeface="Consolas" pitchFamily="34" charset="-120"/>
              </a:rPr>
              <a:t>FCA MID-SEMESTER HACKATHON</a:t>
            </a:r>
            <a:endParaRPr lang="en-US" sz="1300" dirty="0"/>
          </a:p>
        </p:txBody>
      </p:sp>
      <p:sp>
        <p:nvSpPr>
          <p:cNvPr id="5" name="Text 1"/>
          <p:cNvSpPr txBox="1"/>
          <p:nvPr/>
        </p:nvSpPr>
        <p:spPr>
          <a:xfrm>
            <a:off x="548640" y="1097280"/>
            <a:ext cx="7315200" cy="1920240"/>
          </a:xfrm>
          <a:prstGeom prst="rect">
            <a:avLst/>
          </a:prstGeom>
          <a:noFill/>
          <a:ln/>
        </p:spPr>
        <p:txBody>
          <a:bodyPr wrap="square" lIns="0" tIns="0" rIns="0" bIns="0" rtlCol="0" anchor="t"/>
          <a:lstStyle/>
          <a:p>
            <a:pPr indent="0" marL="0">
              <a:lnSpc>
                <a:spcPct val="90000"/>
              </a:lnSpc>
              <a:buNone/>
            </a:pPr>
            <a:r>
              <a:rPr lang="en-US" sz="7200" b="1" dirty="0">
                <a:solidFill>
                  <a:srgbClr val="E8ECEF"/>
                </a:solidFill>
                <a:latin typeface="Calibri" pitchFamily="34" charset="0"/>
                <a:ea typeface="Calibri" pitchFamily="34" charset="-122"/>
                <a:cs typeface="Calibri" pitchFamily="34" charset="-120"/>
              </a:rPr>
              <a:t>CATCH THE</a:t>
            </a:r>
            <a:endParaRPr lang="en-US" sz="7200" dirty="0"/>
          </a:p>
          <a:p>
            <a:pPr indent="0" marL="0">
              <a:lnSpc>
                <a:spcPct val="90000"/>
              </a:lnSpc>
              <a:buNone/>
            </a:pPr>
            <a:r>
              <a:rPr lang="en-US" sz="7200" b="1" dirty="0">
                <a:solidFill>
                  <a:srgbClr val="E8ECEF"/>
                </a:solidFill>
                <a:latin typeface="Calibri" pitchFamily="34" charset="0"/>
                <a:ea typeface="Calibri" pitchFamily="34" charset="-122"/>
                <a:cs typeface="Calibri" pitchFamily="34" charset="-120"/>
              </a:rPr>
              <a:t>ROCKET</a:t>
            </a:r>
            <a:endParaRPr lang="en-US" sz="7200" dirty="0"/>
          </a:p>
        </p:txBody>
      </p:sp>
      <p:sp>
        <p:nvSpPr>
          <p:cNvPr id="6" name="Text 2"/>
          <p:cNvSpPr txBox="1"/>
          <p:nvPr/>
        </p:nvSpPr>
        <p:spPr>
          <a:xfrm>
            <a:off x="548640" y="3154680"/>
            <a:ext cx="5486400" cy="457200"/>
          </a:xfrm>
          <a:prstGeom prst="rect">
            <a:avLst/>
          </a:prstGeom>
          <a:noFill/>
          <a:ln/>
        </p:spPr>
        <p:txBody>
          <a:bodyPr wrap="square" lIns="0" tIns="0" rIns="0" bIns="0" rtlCol="0" anchor="t"/>
          <a:lstStyle/>
          <a:p>
            <a:pPr indent="0" marL="0">
              <a:buNone/>
            </a:pPr>
            <a:r>
              <a:rPr lang="en-US" sz="2600" b="1" dirty="0">
                <a:solidFill>
                  <a:srgbClr val="3FD0C0"/>
                </a:solidFill>
                <a:latin typeface="Calibri" pitchFamily="34" charset="0"/>
                <a:ea typeface="Calibri" pitchFamily="34" charset="-122"/>
                <a:cs typeface="Calibri" pitchFamily="34" charset="-120"/>
              </a:rPr>
              <a:t>Mission Control</a:t>
            </a:r>
            <a:endParaRPr lang="en-US" sz="2600" dirty="0"/>
          </a:p>
        </p:txBody>
      </p:sp>
      <p:sp>
        <p:nvSpPr>
          <p:cNvPr id="7" name="Text 3"/>
          <p:cNvSpPr txBox="1"/>
          <p:nvPr/>
        </p:nvSpPr>
        <p:spPr>
          <a:xfrm>
            <a:off x="548640" y="3611880"/>
            <a:ext cx="5486400" cy="365760"/>
          </a:xfrm>
          <a:prstGeom prst="rect">
            <a:avLst/>
          </a:prstGeom>
          <a:noFill/>
          <a:ln/>
        </p:spPr>
        <p:txBody>
          <a:bodyPr wrap="square" lIns="0" tIns="0" rIns="0" bIns="0" rtlCol="0" anchor="t"/>
          <a:lstStyle/>
          <a:p>
            <a:pPr indent="0" marL="0">
              <a:buNone/>
            </a:pPr>
            <a:r>
              <a:rPr lang="en-US" sz="1800" dirty="0">
                <a:solidFill>
                  <a:srgbClr val="8E9BAA"/>
                </a:solidFill>
                <a:latin typeface="Calibri" pitchFamily="34" charset="0"/>
                <a:ea typeface="Calibri" pitchFamily="34" charset="-122"/>
                <a:cs typeface="Calibri" pitchFamily="34" charset="-120"/>
              </a:rPr>
              <a:t>Real-Time Telemetry on an ESP32</a:t>
            </a:r>
            <a:endParaRPr lang="en-US" sz="1800" dirty="0"/>
          </a:p>
        </p:txBody>
      </p:sp>
      <p:sp>
        <p:nvSpPr>
          <p:cNvPr id="8" name="Text 4"/>
          <p:cNvSpPr txBox="1"/>
          <p:nvPr/>
        </p:nvSpPr>
        <p:spPr>
          <a:xfrm>
            <a:off x="548640" y="4754880"/>
            <a:ext cx="5486400" cy="320040"/>
          </a:xfrm>
          <a:prstGeom prst="rect">
            <a:avLst/>
          </a:prstGeom>
          <a:noFill/>
          <a:ln/>
        </p:spPr>
        <p:txBody>
          <a:bodyPr wrap="square" lIns="0" tIns="0" rIns="0" bIns="0" rtlCol="0" anchor="t"/>
          <a:lstStyle/>
          <a:p>
            <a:pPr indent="0" marL="0">
              <a:buNone/>
            </a:pPr>
            <a:r>
              <a:rPr lang="en-US" sz="1800" b="1" spc="300" kern="0" dirty="0">
                <a:solidFill>
                  <a:srgbClr val="E8ECEF"/>
                </a:solidFill>
                <a:latin typeface="Calibri" pitchFamily="34" charset="0"/>
                <a:ea typeface="Calibri" pitchFamily="34" charset="-122"/>
                <a:cs typeface="Calibri" pitchFamily="34" charset="-120"/>
              </a:rPr>
              <a:t>TEAM BYTEFORCE</a:t>
            </a:r>
            <a:endParaRPr lang="en-US" sz="1800" dirty="0"/>
          </a:p>
        </p:txBody>
      </p:sp>
      <p:sp>
        <p:nvSpPr>
          <p:cNvPr id="9" name="Text 5"/>
          <p:cNvSpPr txBox="1"/>
          <p:nvPr/>
        </p:nvSpPr>
        <p:spPr>
          <a:xfrm>
            <a:off x="548640" y="5120640"/>
            <a:ext cx="5486400" cy="274320"/>
          </a:xfrm>
          <a:prstGeom prst="rect">
            <a:avLst/>
          </a:prstGeom>
          <a:noFill/>
          <a:ln/>
        </p:spPr>
        <p:txBody>
          <a:bodyPr wrap="square" lIns="0" tIns="0" rIns="0" bIns="0" rtlCol="0" anchor="t"/>
          <a:lstStyle/>
          <a:p>
            <a:pPr indent="0" marL="0">
              <a:buNone/>
            </a:pPr>
            <a:r>
              <a:rPr lang="en-US" sz="1300" dirty="0">
                <a:solidFill>
                  <a:srgbClr val="8E9BAA"/>
                </a:solidFill>
                <a:latin typeface="Calibri" pitchFamily="34" charset="0"/>
                <a:ea typeface="Calibri" pitchFamily="34" charset="-122"/>
                <a:cs typeface="Calibri" pitchFamily="34" charset="-120"/>
              </a:rPr>
              <a:t>Chaithra Gana G  ·  Sindhu GV  ·  Samudra Kar  ·  Brunda M</a:t>
            </a:r>
            <a:endParaRPr lang="en-US" sz="1300" dirty="0"/>
          </a:p>
        </p:txBody>
      </p:sp>
      <p:sp>
        <p:nvSpPr>
          <p:cNvPr id="10" name="Shape 6"/>
          <p:cNvSpPr/>
          <p:nvPr/>
        </p:nvSpPr>
        <p:spPr>
          <a:xfrm>
            <a:off x="548640" y="5623560"/>
            <a:ext cx="1051560" cy="566928"/>
          </a:xfrm>
          <a:prstGeom prst="rect">
            <a:avLst/>
          </a:prstGeom>
          <a:solidFill>
            <a:srgbClr val="0F151D"/>
          </a:solidFill>
          <a:ln w="15875">
            <a:solidFill>
              <a:srgbClr val="3FD0C0"/>
            </a:solidFill>
            <a:prstDash val="solid"/>
          </a:ln>
        </p:spPr>
      </p:sp>
      <p:sp>
        <p:nvSpPr>
          <p:cNvPr id="11" name="Shape 7"/>
          <p:cNvSpPr/>
          <p:nvPr/>
        </p:nvSpPr>
        <p:spPr>
          <a:xfrm>
            <a:off x="658368" y="5532120"/>
            <a:ext cx="0" cy="91440"/>
          </a:xfrm>
          <a:prstGeom prst="line">
            <a:avLst/>
          </a:prstGeom>
          <a:noFill/>
          <a:ln w="12700">
            <a:solidFill>
              <a:srgbClr val="3FD0C0"/>
            </a:solidFill>
            <a:prstDash val="solid"/>
          </a:ln>
        </p:spPr>
      </p:sp>
      <p:sp>
        <p:nvSpPr>
          <p:cNvPr id="12" name="Shape 8"/>
          <p:cNvSpPr/>
          <p:nvPr/>
        </p:nvSpPr>
        <p:spPr>
          <a:xfrm>
            <a:off x="658368" y="6190488"/>
            <a:ext cx="0" cy="91440"/>
          </a:xfrm>
          <a:prstGeom prst="line">
            <a:avLst/>
          </a:prstGeom>
          <a:noFill/>
          <a:ln w="12700">
            <a:solidFill>
              <a:srgbClr val="3FD0C0"/>
            </a:solidFill>
            <a:prstDash val="solid"/>
          </a:ln>
        </p:spPr>
      </p:sp>
      <p:sp>
        <p:nvSpPr>
          <p:cNvPr id="13" name="Shape 9"/>
          <p:cNvSpPr/>
          <p:nvPr/>
        </p:nvSpPr>
        <p:spPr>
          <a:xfrm>
            <a:off x="822960" y="5532120"/>
            <a:ext cx="0" cy="91440"/>
          </a:xfrm>
          <a:prstGeom prst="line">
            <a:avLst/>
          </a:prstGeom>
          <a:noFill/>
          <a:ln w="12700">
            <a:solidFill>
              <a:srgbClr val="3FD0C0"/>
            </a:solidFill>
            <a:prstDash val="solid"/>
          </a:ln>
        </p:spPr>
      </p:sp>
      <p:sp>
        <p:nvSpPr>
          <p:cNvPr id="14" name="Shape 10"/>
          <p:cNvSpPr/>
          <p:nvPr/>
        </p:nvSpPr>
        <p:spPr>
          <a:xfrm>
            <a:off x="822960" y="6190488"/>
            <a:ext cx="0" cy="91440"/>
          </a:xfrm>
          <a:prstGeom prst="line">
            <a:avLst/>
          </a:prstGeom>
          <a:noFill/>
          <a:ln w="12700">
            <a:solidFill>
              <a:srgbClr val="3FD0C0"/>
            </a:solidFill>
            <a:prstDash val="solid"/>
          </a:ln>
        </p:spPr>
      </p:sp>
      <p:sp>
        <p:nvSpPr>
          <p:cNvPr id="15" name="Shape 11"/>
          <p:cNvSpPr/>
          <p:nvPr/>
        </p:nvSpPr>
        <p:spPr>
          <a:xfrm>
            <a:off x="987552" y="5532120"/>
            <a:ext cx="0" cy="91440"/>
          </a:xfrm>
          <a:prstGeom prst="line">
            <a:avLst/>
          </a:prstGeom>
          <a:noFill/>
          <a:ln w="12700">
            <a:solidFill>
              <a:srgbClr val="3FD0C0"/>
            </a:solidFill>
            <a:prstDash val="solid"/>
          </a:ln>
        </p:spPr>
      </p:sp>
      <p:sp>
        <p:nvSpPr>
          <p:cNvPr id="16" name="Shape 12"/>
          <p:cNvSpPr/>
          <p:nvPr/>
        </p:nvSpPr>
        <p:spPr>
          <a:xfrm>
            <a:off x="987552" y="6190488"/>
            <a:ext cx="0" cy="91440"/>
          </a:xfrm>
          <a:prstGeom prst="line">
            <a:avLst/>
          </a:prstGeom>
          <a:noFill/>
          <a:ln w="12700">
            <a:solidFill>
              <a:srgbClr val="3FD0C0"/>
            </a:solidFill>
            <a:prstDash val="solid"/>
          </a:ln>
        </p:spPr>
      </p:sp>
      <p:sp>
        <p:nvSpPr>
          <p:cNvPr id="17" name="Shape 13"/>
          <p:cNvSpPr/>
          <p:nvPr/>
        </p:nvSpPr>
        <p:spPr>
          <a:xfrm>
            <a:off x="1152144" y="5532120"/>
            <a:ext cx="0" cy="91440"/>
          </a:xfrm>
          <a:prstGeom prst="line">
            <a:avLst/>
          </a:prstGeom>
          <a:noFill/>
          <a:ln w="12700">
            <a:solidFill>
              <a:srgbClr val="3FD0C0"/>
            </a:solidFill>
            <a:prstDash val="solid"/>
          </a:ln>
        </p:spPr>
      </p:sp>
      <p:sp>
        <p:nvSpPr>
          <p:cNvPr id="18" name="Shape 14"/>
          <p:cNvSpPr/>
          <p:nvPr/>
        </p:nvSpPr>
        <p:spPr>
          <a:xfrm>
            <a:off x="1152144" y="6190488"/>
            <a:ext cx="0" cy="91440"/>
          </a:xfrm>
          <a:prstGeom prst="line">
            <a:avLst/>
          </a:prstGeom>
          <a:noFill/>
          <a:ln w="12700">
            <a:solidFill>
              <a:srgbClr val="3FD0C0"/>
            </a:solidFill>
            <a:prstDash val="solid"/>
          </a:ln>
        </p:spPr>
      </p:sp>
      <p:sp>
        <p:nvSpPr>
          <p:cNvPr id="19" name="Shape 15"/>
          <p:cNvSpPr/>
          <p:nvPr/>
        </p:nvSpPr>
        <p:spPr>
          <a:xfrm>
            <a:off x="1316736" y="5532120"/>
            <a:ext cx="0" cy="91440"/>
          </a:xfrm>
          <a:prstGeom prst="line">
            <a:avLst/>
          </a:prstGeom>
          <a:noFill/>
          <a:ln w="12700">
            <a:solidFill>
              <a:srgbClr val="3FD0C0"/>
            </a:solidFill>
            <a:prstDash val="solid"/>
          </a:ln>
        </p:spPr>
      </p:sp>
      <p:sp>
        <p:nvSpPr>
          <p:cNvPr id="20" name="Shape 16"/>
          <p:cNvSpPr/>
          <p:nvPr/>
        </p:nvSpPr>
        <p:spPr>
          <a:xfrm>
            <a:off x="1316736" y="6190488"/>
            <a:ext cx="0" cy="91440"/>
          </a:xfrm>
          <a:prstGeom prst="line">
            <a:avLst/>
          </a:prstGeom>
          <a:noFill/>
          <a:ln w="12700">
            <a:solidFill>
              <a:srgbClr val="3FD0C0"/>
            </a:solidFill>
            <a:prstDash val="solid"/>
          </a:ln>
        </p:spPr>
      </p:sp>
      <p:sp>
        <p:nvSpPr>
          <p:cNvPr id="21" name="Shape 17"/>
          <p:cNvSpPr/>
          <p:nvPr/>
        </p:nvSpPr>
        <p:spPr>
          <a:xfrm>
            <a:off x="1481328" y="5532120"/>
            <a:ext cx="0" cy="91440"/>
          </a:xfrm>
          <a:prstGeom prst="line">
            <a:avLst/>
          </a:prstGeom>
          <a:noFill/>
          <a:ln w="12700">
            <a:solidFill>
              <a:srgbClr val="3FD0C0"/>
            </a:solidFill>
            <a:prstDash val="solid"/>
          </a:ln>
        </p:spPr>
      </p:sp>
      <p:sp>
        <p:nvSpPr>
          <p:cNvPr id="22" name="Shape 18"/>
          <p:cNvSpPr/>
          <p:nvPr/>
        </p:nvSpPr>
        <p:spPr>
          <a:xfrm>
            <a:off x="1481328" y="6190488"/>
            <a:ext cx="0" cy="91440"/>
          </a:xfrm>
          <a:prstGeom prst="line">
            <a:avLst/>
          </a:prstGeom>
          <a:noFill/>
          <a:ln w="12700">
            <a:solidFill>
              <a:srgbClr val="3FD0C0"/>
            </a:solidFill>
            <a:prstDash val="solid"/>
          </a:ln>
        </p:spPr>
      </p:sp>
      <p:sp>
        <p:nvSpPr>
          <p:cNvPr id="23" name="Text 19"/>
          <p:cNvSpPr txBox="1"/>
          <p:nvPr/>
        </p:nvSpPr>
        <p:spPr>
          <a:xfrm>
            <a:off x="548640" y="5806440"/>
            <a:ext cx="1051560" cy="228600"/>
          </a:xfrm>
          <a:prstGeom prst="rect">
            <a:avLst/>
          </a:prstGeom>
          <a:noFill/>
          <a:ln/>
        </p:spPr>
        <p:txBody>
          <a:bodyPr wrap="square" lIns="0" tIns="0" rIns="0" bIns="0" rtlCol="0" anchor="t"/>
          <a:lstStyle/>
          <a:p>
            <a:pPr algn="ctr" indent="0" marL="0">
              <a:buNone/>
            </a:pPr>
            <a:r>
              <a:rPr lang="en-US" sz="1300" b="1" dirty="0">
                <a:solidFill>
                  <a:srgbClr val="3FD0C0"/>
                </a:solidFill>
                <a:latin typeface="Consolas" pitchFamily="34" charset="0"/>
                <a:ea typeface="Consolas" pitchFamily="34" charset="-122"/>
                <a:cs typeface="Consolas" pitchFamily="34" charset="-120"/>
              </a:rPr>
              <a:t>ESP32</a:t>
            </a:r>
            <a:endParaRPr lang="en-US" sz="1300" dirty="0"/>
          </a:p>
        </p:txBody>
      </p:sp>
      <p:sp>
        <p:nvSpPr>
          <p:cNvPr id="24" name="Text 20"/>
          <p:cNvSpPr txBox="1"/>
          <p:nvPr/>
        </p:nvSpPr>
        <p:spPr>
          <a:xfrm>
            <a:off x="1828800" y="5806440"/>
            <a:ext cx="4572000" cy="274320"/>
          </a:xfrm>
          <a:prstGeom prst="rect">
            <a:avLst/>
          </a:prstGeom>
          <a:noFill/>
          <a:ln/>
        </p:spPr>
        <p:txBody>
          <a:bodyPr wrap="square" lIns="0" tIns="0" rIns="0" bIns="0" rtlCol="0" anchor="t"/>
          <a:lstStyle/>
          <a:p>
            <a:pPr indent="0" marL="0">
              <a:buNone/>
            </a:pPr>
            <a:r>
              <a:rPr lang="en-US" sz="1300" dirty="0">
                <a:solidFill>
                  <a:srgbClr val="8E9BAA"/>
                </a:solidFill>
                <a:latin typeface="Consolas" pitchFamily="34" charset="0"/>
                <a:ea typeface="Consolas" pitchFamily="34" charset="-122"/>
                <a:cs typeface="Consolas" pitchFamily="34" charset="-120"/>
              </a:rPr>
              <a:t>240 MHz  ·  100,000 samples  ·  4096 B state</a:t>
            </a:r>
            <a:endParaRPr lang="en-US" sz="13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01 / THE ENGINEERING CHALLENGE</a:t>
            </a:r>
            <a:endParaRPr lang="en-US" sz="1200" dirty="0"/>
          </a:p>
        </p:txBody>
      </p:sp>
      <p:sp>
        <p:nvSpPr>
          <p:cNvPr id="3" name="Text 1"/>
          <p:cNvSpPr txBox="1"/>
          <p:nvPr/>
        </p:nvSpPr>
        <p:spPr>
          <a:xfrm>
            <a:off x="548640" y="640080"/>
            <a:ext cx="11064240" cy="137160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100,000 READINGS.</a:t>
            </a:r>
            <a:endParaRPr lang="en-US" sz="3400" dirty="0"/>
          </a:p>
          <a:p>
            <a:pPr indent="0" marL="0">
              <a:buNone/>
            </a:pPr>
            <a:r>
              <a:rPr lang="en-US" sz="3400" b="1" dirty="0">
                <a:solidFill>
                  <a:srgbClr val="E8ECEF"/>
                </a:solidFill>
                <a:latin typeface="Calibri" pitchFamily="34" charset="0"/>
                <a:ea typeface="Calibri" pitchFamily="34" charset="-122"/>
                <a:cs typeface="Calibri" pitchFamily="34" charset="-120"/>
              </a:rPr>
              <a:t>4 KB OF STATE.</a:t>
            </a:r>
            <a:endParaRPr lang="en-US" sz="3400" dirty="0"/>
          </a:p>
          <a:p>
            <a:pPr indent="0" marL="0">
              <a:buNone/>
            </a:pPr>
            <a:r>
              <a:rPr lang="en-US" sz="3400" b="1" dirty="0">
                <a:solidFill>
                  <a:srgbClr val="E8ECEF"/>
                </a:solidFill>
                <a:latin typeface="Calibri" pitchFamily="34" charset="0"/>
                <a:ea typeface="Calibri" pitchFamily="34" charset="-122"/>
                <a:cs typeface="Calibri" pitchFamily="34" charset="-120"/>
              </a:rPr>
              <a:t>12,000 CYCLES PER SAMPLE.</a:t>
            </a:r>
            <a:endParaRPr lang="en-US" sz="3400" dirty="0"/>
          </a:p>
        </p:txBody>
      </p:sp>
      <p:sp>
        <p:nvSpPr>
          <p:cNvPr id="5" name="Shape 2"/>
          <p:cNvSpPr/>
          <p:nvPr/>
        </p:nvSpPr>
        <p:spPr>
          <a:xfrm>
            <a:off x="548640" y="2331720"/>
            <a:ext cx="11064240" cy="0"/>
          </a:xfrm>
          <a:prstGeom prst="line">
            <a:avLst/>
          </a:prstGeom>
          <a:noFill/>
          <a:ln w="9525">
            <a:solidFill>
              <a:srgbClr val="263241"/>
            </a:solidFill>
            <a:prstDash val="solid"/>
          </a:ln>
        </p:spPr>
      </p:sp>
      <p:sp>
        <p:nvSpPr>
          <p:cNvPr id="6" name="Text 3"/>
          <p:cNvSpPr txBox="1"/>
          <p:nvPr/>
        </p:nvSpPr>
        <p:spPr>
          <a:xfrm>
            <a:off x="548640" y="2468880"/>
            <a:ext cx="2029968" cy="548640"/>
          </a:xfrm>
          <a:prstGeom prst="rect">
            <a:avLst/>
          </a:prstGeom>
          <a:noFill/>
          <a:ln/>
        </p:spPr>
        <p:txBody>
          <a:bodyPr wrap="square" lIns="0" tIns="0" rIns="0" bIns="0" rtlCol="0" anchor="t"/>
          <a:lstStyle/>
          <a:p>
            <a:pPr indent="0" marL="0">
              <a:buNone/>
            </a:pPr>
            <a:r>
              <a:rPr lang="en-US" sz="3200" b="1" dirty="0">
                <a:solidFill>
                  <a:srgbClr val="3FD0C0"/>
                </a:solidFill>
                <a:latin typeface="Consolas" pitchFamily="34" charset="0"/>
                <a:ea typeface="Consolas" pitchFamily="34" charset="-122"/>
                <a:cs typeface="Consolas" pitchFamily="34" charset="-120"/>
              </a:rPr>
              <a:t>100,000</a:t>
            </a:r>
            <a:endParaRPr lang="en-US" sz="3200" dirty="0"/>
          </a:p>
        </p:txBody>
      </p:sp>
      <p:sp>
        <p:nvSpPr>
          <p:cNvPr id="7" name="Text 4"/>
          <p:cNvSpPr txBox="1"/>
          <p:nvPr/>
        </p:nvSpPr>
        <p:spPr>
          <a:xfrm>
            <a:off x="548640" y="3063240"/>
            <a:ext cx="2029968" cy="365760"/>
          </a:xfrm>
          <a:prstGeom prst="rect">
            <a:avLst/>
          </a:prstGeom>
          <a:noFill/>
          <a:ln/>
        </p:spPr>
        <p:txBody>
          <a:bodyPr wrap="square" lIns="0" tIns="0" rIns="0" bIns="0" rtlCol="0" anchor="t"/>
          <a:lstStyle/>
          <a:p>
            <a:pPr indent="0" marL="0">
              <a:buNone/>
            </a:pPr>
            <a:r>
              <a:rPr lang="en-US" sz="1300" dirty="0">
                <a:solidFill>
                  <a:srgbClr val="8E9BAA"/>
                </a:solidFill>
                <a:latin typeface="Calibri" pitchFamily="34" charset="0"/>
                <a:ea typeface="Calibri" pitchFamily="34" charset="-122"/>
                <a:cs typeface="Calibri" pitchFamily="34" charset="-120"/>
              </a:rPr>
              <a:t>telemetry samples</a:t>
            </a:r>
            <a:endParaRPr lang="en-US" sz="1300" dirty="0"/>
          </a:p>
        </p:txBody>
      </p:sp>
      <p:sp>
        <p:nvSpPr>
          <p:cNvPr id="8" name="Shape 5"/>
          <p:cNvSpPr/>
          <p:nvPr/>
        </p:nvSpPr>
        <p:spPr>
          <a:xfrm>
            <a:off x="2651760" y="2468880"/>
            <a:ext cx="0" cy="1005840"/>
          </a:xfrm>
          <a:prstGeom prst="line">
            <a:avLst/>
          </a:prstGeom>
          <a:noFill/>
          <a:ln w="9525">
            <a:solidFill>
              <a:srgbClr val="263241"/>
            </a:solidFill>
            <a:prstDash val="solid"/>
          </a:ln>
        </p:spPr>
      </p:sp>
      <p:sp>
        <p:nvSpPr>
          <p:cNvPr id="9" name="Text 6"/>
          <p:cNvSpPr txBox="1"/>
          <p:nvPr/>
        </p:nvSpPr>
        <p:spPr>
          <a:xfrm>
            <a:off x="2761488" y="2468880"/>
            <a:ext cx="2029968" cy="548640"/>
          </a:xfrm>
          <a:prstGeom prst="rect">
            <a:avLst/>
          </a:prstGeom>
          <a:noFill/>
          <a:ln/>
        </p:spPr>
        <p:txBody>
          <a:bodyPr wrap="square" lIns="0" tIns="0" rIns="0" bIns="0" rtlCol="0" anchor="t"/>
          <a:lstStyle/>
          <a:p>
            <a:pPr indent="0" marL="0">
              <a:buNone/>
            </a:pPr>
            <a:r>
              <a:rPr lang="en-US" sz="3200" b="1" dirty="0">
                <a:solidFill>
                  <a:srgbClr val="E8ECEF"/>
                </a:solidFill>
                <a:latin typeface="Consolas" pitchFamily="34" charset="0"/>
                <a:ea typeface="Consolas" pitchFamily="34" charset="-122"/>
                <a:cs typeface="Consolas" pitchFamily="34" charset="-120"/>
              </a:rPr>
              <a:t>20,000</a:t>
            </a:r>
            <a:endParaRPr lang="en-US" sz="3200" dirty="0"/>
          </a:p>
        </p:txBody>
      </p:sp>
      <p:sp>
        <p:nvSpPr>
          <p:cNvPr id="10" name="Text 7"/>
          <p:cNvSpPr txBox="1"/>
          <p:nvPr/>
        </p:nvSpPr>
        <p:spPr>
          <a:xfrm>
            <a:off x="2761488" y="3063240"/>
            <a:ext cx="2029968" cy="365760"/>
          </a:xfrm>
          <a:prstGeom prst="rect">
            <a:avLst/>
          </a:prstGeom>
          <a:noFill/>
          <a:ln/>
        </p:spPr>
        <p:txBody>
          <a:bodyPr wrap="square" lIns="0" tIns="0" rIns="0" bIns="0" rtlCol="0" anchor="t"/>
          <a:lstStyle/>
          <a:p>
            <a:pPr indent="0" marL="0">
              <a:buNone/>
            </a:pPr>
            <a:r>
              <a:rPr lang="en-US" sz="1300" dirty="0">
                <a:solidFill>
                  <a:srgbClr val="8E9BAA"/>
                </a:solidFill>
                <a:latin typeface="Calibri" pitchFamily="34" charset="0"/>
                <a:ea typeface="Calibri" pitchFamily="34" charset="-122"/>
                <a:cs typeface="Calibri" pitchFamily="34" charset="-120"/>
              </a:rPr>
              <a:t>readings / sec (spec)</a:t>
            </a:r>
            <a:endParaRPr lang="en-US" sz="1300" dirty="0"/>
          </a:p>
        </p:txBody>
      </p:sp>
      <p:sp>
        <p:nvSpPr>
          <p:cNvPr id="11" name="Shape 8"/>
          <p:cNvSpPr/>
          <p:nvPr/>
        </p:nvSpPr>
        <p:spPr>
          <a:xfrm>
            <a:off x="4864608" y="2468880"/>
            <a:ext cx="0" cy="1005840"/>
          </a:xfrm>
          <a:prstGeom prst="line">
            <a:avLst/>
          </a:prstGeom>
          <a:noFill/>
          <a:ln w="9525">
            <a:solidFill>
              <a:srgbClr val="263241"/>
            </a:solidFill>
            <a:prstDash val="solid"/>
          </a:ln>
        </p:spPr>
      </p:sp>
      <p:sp>
        <p:nvSpPr>
          <p:cNvPr id="12" name="Text 9"/>
          <p:cNvSpPr txBox="1"/>
          <p:nvPr/>
        </p:nvSpPr>
        <p:spPr>
          <a:xfrm>
            <a:off x="4974336" y="2468880"/>
            <a:ext cx="2029968" cy="548640"/>
          </a:xfrm>
          <a:prstGeom prst="rect">
            <a:avLst/>
          </a:prstGeom>
          <a:noFill/>
          <a:ln/>
        </p:spPr>
        <p:txBody>
          <a:bodyPr wrap="square" lIns="0" tIns="0" rIns="0" bIns="0" rtlCol="0" anchor="t"/>
          <a:lstStyle/>
          <a:p>
            <a:pPr indent="0" marL="0">
              <a:buNone/>
            </a:pPr>
            <a:r>
              <a:rPr lang="en-US" sz="3200" b="1" dirty="0">
                <a:solidFill>
                  <a:srgbClr val="FFB23F"/>
                </a:solidFill>
                <a:latin typeface="Consolas" pitchFamily="34" charset="0"/>
                <a:ea typeface="Consolas" pitchFamily="34" charset="-122"/>
                <a:cs typeface="Consolas" pitchFamily="34" charset="-120"/>
              </a:rPr>
              <a:t>4096 B</a:t>
            </a:r>
            <a:endParaRPr lang="en-US" sz="3200" dirty="0"/>
          </a:p>
        </p:txBody>
      </p:sp>
      <p:sp>
        <p:nvSpPr>
          <p:cNvPr id="13" name="Text 10"/>
          <p:cNvSpPr txBox="1"/>
          <p:nvPr/>
        </p:nvSpPr>
        <p:spPr>
          <a:xfrm>
            <a:off x="4974336" y="3063240"/>
            <a:ext cx="2029968" cy="365760"/>
          </a:xfrm>
          <a:prstGeom prst="rect">
            <a:avLst/>
          </a:prstGeom>
          <a:noFill/>
          <a:ln/>
        </p:spPr>
        <p:txBody>
          <a:bodyPr wrap="square" lIns="0" tIns="0" rIns="0" bIns="0" rtlCol="0" anchor="t"/>
          <a:lstStyle/>
          <a:p>
            <a:pPr indent="0" marL="0">
              <a:buNone/>
            </a:pPr>
            <a:r>
              <a:rPr lang="en-US" sz="1300" dirty="0">
                <a:solidFill>
                  <a:srgbClr val="8E9BAA"/>
                </a:solidFill>
                <a:latin typeface="Calibri" pitchFamily="34" charset="0"/>
                <a:ea typeface="Calibri" pitchFamily="34" charset="-122"/>
                <a:cs typeface="Calibri" pitchFamily="34" charset="-120"/>
              </a:rPr>
              <a:t>max persistent state</a:t>
            </a:r>
            <a:endParaRPr lang="en-US" sz="1300" dirty="0"/>
          </a:p>
        </p:txBody>
      </p:sp>
      <p:sp>
        <p:nvSpPr>
          <p:cNvPr id="14" name="Shape 11"/>
          <p:cNvSpPr/>
          <p:nvPr/>
        </p:nvSpPr>
        <p:spPr>
          <a:xfrm>
            <a:off x="7077456" y="2468880"/>
            <a:ext cx="0" cy="1005840"/>
          </a:xfrm>
          <a:prstGeom prst="line">
            <a:avLst/>
          </a:prstGeom>
          <a:noFill/>
          <a:ln w="9525">
            <a:solidFill>
              <a:srgbClr val="263241"/>
            </a:solidFill>
            <a:prstDash val="solid"/>
          </a:ln>
        </p:spPr>
      </p:sp>
      <p:sp>
        <p:nvSpPr>
          <p:cNvPr id="15" name="Text 12"/>
          <p:cNvSpPr txBox="1"/>
          <p:nvPr/>
        </p:nvSpPr>
        <p:spPr>
          <a:xfrm>
            <a:off x="7187184" y="2468880"/>
            <a:ext cx="2029968" cy="548640"/>
          </a:xfrm>
          <a:prstGeom prst="rect">
            <a:avLst/>
          </a:prstGeom>
          <a:noFill/>
          <a:ln/>
        </p:spPr>
        <p:txBody>
          <a:bodyPr wrap="square" lIns="0" tIns="0" rIns="0" bIns="0" rtlCol="0" anchor="t"/>
          <a:lstStyle/>
          <a:p>
            <a:pPr indent="0" marL="0">
              <a:buNone/>
            </a:pPr>
            <a:r>
              <a:rPr lang="en-US" sz="3200" b="1" dirty="0">
                <a:solidFill>
                  <a:srgbClr val="FFB23F"/>
                </a:solidFill>
                <a:latin typeface="Consolas" pitchFamily="34" charset="0"/>
                <a:ea typeface="Consolas" pitchFamily="34" charset="-122"/>
                <a:cs typeface="Consolas" pitchFamily="34" charset="-120"/>
              </a:rPr>
              <a:t>12,000</a:t>
            </a:r>
            <a:endParaRPr lang="en-US" sz="3200" dirty="0"/>
          </a:p>
        </p:txBody>
      </p:sp>
      <p:sp>
        <p:nvSpPr>
          <p:cNvPr id="16" name="Text 13"/>
          <p:cNvSpPr txBox="1"/>
          <p:nvPr/>
        </p:nvSpPr>
        <p:spPr>
          <a:xfrm>
            <a:off x="7187184" y="3063240"/>
            <a:ext cx="2029968" cy="365760"/>
          </a:xfrm>
          <a:prstGeom prst="rect">
            <a:avLst/>
          </a:prstGeom>
          <a:noFill/>
          <a:ln/>
        </p:spPr>
        <p:txBody>
          <a:bodyPr wrap="square" lIns="0" tIns="0" rIns="0" bIns="0" rtlCol="0" anchor="t"/>
          <a:lstStyle/>
          <a:p>
            <a:pPr indent="0" marL="0">
              <a:buNone/>
            </a:pPr>
            <a:r>
              <a:rPr lang="en-US" sz="1300" dirty="0">
                <a:solidFill>
                  <a:srgbClr val="8E9BAA"/>
                </a:solidFill>
                <a:latin typeface="Calibri" pitchFamily="34" charset="0"/>
                <a:ea typeface="Calibri" pitchFamily="34" charset="-122"/>
                <a:cs typeface="Calibri" pitchFamily="34" charset="-120"/>
              </a:rPr>
              <a:t>cycles / sample</a:t>
            </a:r>
            <a:endParaRPr lang="en-US" sz="1300" dirty="0"/>
          </a:p>
        </p:txBody>
      </p:sp>
      <p:sp>
        <p:nvSpPr>
          <p:cNvPr id="17" name="Shape 14"/>
          <p:cNvSpPr/>
          <p:nvPr/>
        </p:nvSpPr>
        <p:spPr>
          <a:xfrm>
            <a:off x="9290304" y="2468880"/>
            <a:ext cx="0" cy="1005840"/>
          </a:xfrm>
          <a:prstGeom prst="line">
            <a:avLst/>
          </a:prstGeom>
          <a:noFill/>
          <a:ln w="9525">
            <a:solidFill>
              <a:srgbClr val="263241"/>
            </a:solidFill>
            <a:prstDash val="solid"/>
          </a:ln>
        </p:spPr>
      </p:sp>
      <p:sp>
        <p:nvSpPr>
          <p:cNvPr id="18" name="Text 15"/>
          <p:cNvSpPr txBox="1"/>
          <p:nvPr/>
        </p:nvSpPr>
        <p:spPr>
          <a:xfrm>
            <a:off x="9400032" y="2468880"/>
            <a:ext cx="2029968" cy="548640"/>
          </a:xfrm>
          <a:prstGeom prst="rect">
            <a:avLst/>
          </a:prstGeom>
          <a:noFill/>
          <a:ln/>
        </p:spPr>
        <p:txBody>
          <a:bodyPr wrap="square" lIns="0" tIns="0" rIns="0" bIns="0" rtlCol="0" anchor="t"/>
          <a:lstStyle/>
          <a:p>
            <a:pPr indent="0" marL="0">
              <a:buNone/>
            </a:pPr>
            <a:r>
              <a:rPr lang="en-US" sz="2800" b="1" dirty="0">
                <a:solidFill>
                  <a:srgbClr val="E8ECEF"/>
                </a:solidFill>
                <a:latin typeface="Consolas" pitchFamily="34" charset="0"/>
                <a:ea typeface="Consolas" pitchFamily="34" charset="-122"/>
                <a:cs typeface="Consolas" pitchFamily="34" charset="-120"/>
              </a:rPr>
              <a:t>240 MHz</a:t>
            </a:r>
            <a:endParaRPr lang="en-US" sz="2800" dirty="0"/>
          </a:p>
        </p:txBody>
      </p:sp>
      <p:sp>
        <p:nvSpPr>
          <p:cNvPr id="19" name="Text 16"/>
          <p:cNvSpPr txBox="1"/>
          <p:nvPr/>
        </p:nvSpPr>
        <p:spPr>
          <a:xfrm>
            <a:off x="9400032" y="3063240"/>
            <a:ext cx="2029968" cy="365760"/>
          </a:xfrm>
          <a:prstGeom prst="rect">
            <a:avLst/>
          </a:prstGeom>
          <a:noFill/>
          <a:ln/>
        </p:spPr>
        <p:txBody>
          <a:bodyPr wrap="square" lIns="0" tIns="0" rIns="0" bIns="0" rtlCol="0" anchor="t"/>
          <a:lstStyle/>
          <a:p>
            <a:pPr indent="0" marL="0">
              <a:buNone/>
            </a:pPr>
            <a:r>
              <a:rPr lang="en-US" sz="1300" dirty="0">
                <a:solidFill>
                  <a:srgbClr val="8E9BAA"/>
                </a:solidFill>
                <a:latin typeface="Calibri" pitchFamily="34" charset="0"/>
                <a:ea typeface="Calibri" pitchFamily="34" charset="-122"/>
                <a:cs typeface="Calibri" pitchFamily="34" charset="-120"/>
              </a:rPr>
              <a:t>ESP32 CPU</a:t>
            </a:r>
            <a:endParaRPr lang="en-US" sz="1300" dirty="0"/>
          </a:p>
        </p:txBody>
      </p:sp>
      <p:sp>
        <p:nvSpPr>
          <p:cNvPr id="20" name="Shape 17"/>
          <p:cNvSpPr/>
          <p:nvPr/>
        </p:nvSpPr>
        <p:spPr>
          <a:xfrm>
            <a:off x="548640" y="3611880"/>
            <a:ext cx="11064240" cy="0"/>
          </a:xfrm>
          <a:prstGeom prst="line">
            <a:avLst/>
          </a:prstGeom>
          <a:noFill/>
          <a:ln w="9525">
            <a:solidFill>
              <a:srgbClr val="263241"/>
            </a:solidFill>
            <a:prstDash val="solid"/>
          </a:ln>
        </p:spPr>
      </p:sp>
      <p:sp>
        <p:nvSpPr>
          <p:cNvPr id="21" name="Text 18"/>
          <p:cNvSpPr txBox="1"/>
          <p:nvPr/>
        </p:nvSpPr>
        <p:spPr>
          <a:xfrm>
            <a:off x="548640" y="3703320"/>
            <a:ext cx="11064240" cy="274320"/>
          </a:xfrm>
          <a:prstGeom prst="rect">
            <a:avLst/>
          </a:prstGeom>
          <a:noFill/>
          <a:ln/>
        </p:spPr>
        <p:txBody>
          <a:bodyPr wrap="square" lIns="0" tIns="0" rIns="0" bIns="0" rtlCol="0" anchor="t"/>
          <a:lstStyle/>
          <a:p>
            <a:pPr indent="0" marL="0">
              <a:buNone/>
            </a:pPr>
            <a:r>
              <a:rPr lang="en-US" sz="1200" dirty="0">
                <a:solidFill>
                  <a:srgbClr val="8E9BAA"/>
                </a:solidFill>
                <a:latin typeface="Consolas" pitchFamily="34" charset="0"/>
                <a:ea typeface="Consolas" pitchFamily="34" charset="-122"/>
                <a:cs typeface="Consolas" pitchFamily="34" charset="-120"/>
              </a:rPr>
              <a:t>100,000 calls = 100 s simulated flight (1 reading / simulated ms)  ·  240 MHz × 50 µs = 12,000 cycles</a:t>
            </a:r>
            <a:endParaRPr lang="en-US" sz="1200" dirty="0"/>
          </a:p>
        </p:txBody>
      </p:sp>
      <p:sp>
        <p:nvSpPr>
          <p:cNvPr id="22" name="Shape 19"/>
          <p:cNvSpPr/>
          <p:nvPr/>
        </p:nvSpPr>
        <p:spPr>
          <a:xfrm>
            <a:off x="548640" y="4160520"/>
            <a:ext cx="11064240" cy="502920"/>
          </a:xfrm>
          <a:prstGeom prst="rect">
            <a:avLst/>
          </a:prstGeom>
          <a:solidFill>
            <a:srgbClr val="3A2A12"/>
          </a:solidFill>
          <a:ln w="15875">
            <a:solidFill>
              <a:srgbClr val="FFB23F"/>
            </a:solidFill>
            <a:prstDash val="solid"/>
          </a:ln>
        </p:spPr>
      </p:sp>
      <p:sp>
        <p:nvSpPr>
          <p:cNvPr id="23" name="Text 20"/>
          <p:cNvSpPr txBox="1"/>
          <p:nvPr/>
        </p:nvSpPr>
        <p:spPr>
          <a:xfrm>
            <a:off x="731520" y="4160520"/>
            <a:ext cx="9144000" cy="502920"/>
          </a:xfrm>
          <a:prstGeom prst="rect">
            <a:avLst/>
          </a:prstGeom>
          <a:noFill/>
          <a:ln/>
        </p:spPr>
        <p:txBody>
          <a:bodyPr wrap="square" lIns="0" tIns="0" rIns="0" bIns="0" rtlCol="0" anchor="ctr"/>
          <a:lstStyle/>
          <a:p>
            <a:pPr indent="0" marL="0">
              <a:buNone/>
            </a:pPr>
            <a:r>
              <a:rPr lang="en-US" sz="1600" b="1" dirty="0">
                <a:solidFill>
                  <a:srgbClr val="FFB23F"/>
                </a:solidFill>
                <a:latin typeface="Consolas" pitchFamily="34" charset="0"/>
                <a:ea typeface="Consolas" pitchFamily="34" charset="-122"/>
                <a:cs typeface="Consolas" pitchFamily="34" charset="-120"/>
              </a:rPr>
              <a:t>full flight as floats:  100,000 × 4 B  ≈  400,000 bytes</a:t>
            </a:r>
            <a:endParaRPr lang="en-US" sz="1600" dirty="0"/>
          </a:p>
        </p:txBody>
      </p:sp>
      <p:sp>
        <p:nvSpPr>
          <p:cNvPr id="24" name="Shape 21"/>
          <p:cNvSpPr/>
          <p:nvPr/>
        </p:nvSpPr>
        <p:spPr>
          <a:xfrm>
            <a:off x="548640" y="4800600"/>
            <a:ext cx="113298" cy="502920"/>
          </a:xfrm>
          <a:prstGeom prst="rect">
            <a:avLst/>
          </a:prstGeom>
          <a:solidFill>
            <a:srgbClr val="3FD0C0"/>
          </a:solidFill>
          <a:ln w="6350">
            <a:solidFill>
              <a:srgbClr val="3FD0C0"/>
            </a:solidFill>
            <a:prstDash val="solid"/>
          </a:ln>
        </p:spPr>
      </p:sp>
      <p:sp>
        <p:nvSpPr>
          <p:cNvPr id="25" name="Text 22"/>
          <p:cNvSpPr txBox="1"/>
          <p:nvPr/>
        </p:nvSpPr>
        <p:spPr>
          <a:xfrm>
            <a:off x="1097280" y="4800600"/>
            <a:ext cx="7315200" cy="502920"/>
          </a:xfrm>
          <a:prstGeom prst="rect">
            <a:avLst/>
          </a:prstGeom>
          <a:noFill/>
          <a:ln/>
        </p:spPr>
        <p:txBody>
          <a:bodyPr wrap="square" lIns="0" tIns="0" rIns="0" bIns="0" rtlCol="0" anchor="ctr"/>
          <a:lstStyle/>
          <a:p>
            <a:pPr indent="0" marL="0">
              <a:buNone/>
            </a:pPr>
            <a:r>
              <a:rPr lang="en-US" sz="1600" b="1" dirty="0">
                <a:solidFill>
                  <a:srgbClr val="3FD0C0"/>
                </a:solidFill>
                <a:latin typeface="Consolas" pitchFamily="34" charset="0"/>
                <a:ea typeface="Consolas" pitchFamily="34" charset="-122"/>
                <a:cs typeface="Consolas" pitchFamily="34" charset="-120"/>
              </a:rPr>
              <a:t>allowed state:  4096 B  (≈ 1% of that, same scale)</a:t>
            </a:r>
            <a:endParaRPr lang="en-US" sz="1600" dirty="0"/>
          </a:p>
        </p:txBody>
      </p:sp>
      <p:sp>
        <p:nvSpPr>
          <p:cNvPr id="26" name="Text 23"/>
          <p:cNvSpPr txBox="1"/>
          <p:nvPr/>
        </p:nvSpPr>
        <p:spPr>
          <a:xfrm>
            <a:off x="548640" y="5623560"/>
            <a:ext cx="11064240" cy="457200"/>
          </a:xfrm>
          <a:prstGeom prst="rect">
            <a:avLst/>
          </a:prstGeom>
          <a:noFill/>
          <a:ln/>
        </p:spPr>
        <p:txBody>
          <a:bodyPr wrap="square" lIns="0" tIns="0" rIns="0" bIns="0" rtlCol="0" anchor="t"/>
          <a:lstStyle/>
          <a:p>
            <a:pPr indent="0" marL="0">
              <a:buNone/>
            </a:pPr>
            <a:r>
              <a:rPr lang="en-US" sz="2200" b="1" dirty="0">
                <a:solidFill>
                  <a:srgbClr val="E8ECEF"/>
                </a:solidFill>
                <a:latin typeface="Calibri" pitchFamily="34" charset="0"/>
                <a:ea typeface="Calibri" pitchFamily="34" charset="-122"/>
                <a:cs typeface="Calibri" pitchFamily="34" charset="-120"/>
              </a:rPr>
              <a:t>Don't store the history. Store the information extracted from the history.</a:t>
            </a:r>
            <a:endParaRPr lang="en-US" sz="22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02 / MISSION CONTROL ARCHITECTURE</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FROM SENSOR READING TO FLIGHT INTELLIGENCE</a:t>
            </a:r>
            <a:endParaRPr lang="en-US" sz="3400" dirty="0"/>
          </a:p>
        </p:txBody>
      </p:sp>
      <p:sp>
        <p:nvSpPr>
          <p:cNvPr id="5" name="Shape 2"/>
          <p:cNvSpPr/>
          <p:nvPr/>
        </p:nvSpPr>
        <p:spPr>
          <a:xfrm>
            <a:off x="1833372" y="2011680"/>
            <a:ext cx="8490204" cy="2606040"/>
          </a:xfrm>
          <a:prstGeom prst="rect">
            <a:avLst/>
          </a:prstGeom>
          <a:solidFill>
            <a:srgbClr val="0A0E13">
              <a:alpha val="0"/>
            </a:srgbClr>
          </a:solidFill>
          <a:ln w="15875">
            <a:solidFill>
              <a:srgbClr val="3FD0C0"/>
            </a:solidFill>
            <a:prstDash val="dash"/>
          </a:ln>
        </p:spPr>
      </p:sp>
      <p:sp>
        <p:nvSpPr>
          <p:cNvPr id="6" name="Text 3"/>
          <p:cNvSpPr txBox="1"/>
          <p:nvPr/>
        </p:nvSpPr>
        <p:spPr>
          <a:xfrm>
            <a:off x="1970532" y="2103120"/>
            <a:ext cx="6400800" cy="274320"/>
          </a:xfrm>
          <a:prstGeom prst="rect">
            <a:avLst/>
          </a:prstGeom>
          <a:noFill/>
          <a:ln/>
        </p:spPr>
        <p:txBody>
          <a:bodyPr wrap="square" lIns="0" tIns="0" rIns="0" bIns="0" rtlCol="0" anchor="t"/>
          <a:lstStyle/>
          <a:p>
            <a:pPr indent="0" marL="0">
              <a:buNone/>
            </a:pPr>
            <a:r>
              <a:rPr lang="en-US" sz="1200" b="1" dirty="0">
                <a:solidFill>
                  <a:srgbClr val="3FD0C0"/>
                </a:solidFill>
                <a:latin typeface="Consolas" pitchFamily="34" charset="0"/>
                <a:ea typeface="Consolas" pitchFamily="34" charset="-122"/>
                <a:cs typeface="Consolas" pitchFamily="34" charset="-120"/>
              </a:rPr>
              <a:t>ESP32  ·  240 MHz  ·  ONE STRUCT ≤ 4096 B</a:t>
            </a:r>
            <a:endParaRPr lang="en-US" sz="1200" dirty="0"/>
          </a:p>
        </p:txBody>
      </p:sp>
      <p:sp>
        <p:nvSpPr>
          <p:cNvPr id="7" name="Shape 4"/>
          <p:cNvSpPr/>
          <p:nvPr/>
        </p:nvSpPr>
        <p:spPr>
          <a:xfrm>
            <a:off x="548640" y="2697480"/>
            <a:ext cx="1170432" cy="1097280"/>
          </a:xfrm>
          <a:prstGeom prst="rect">
            <a:avLst/>
          </a:prstGeom>
          <a:solidFill>
            <a:srgbClr val="0F151D"/>
          </a:solidFill>
          <a:ln w="12700">
            <a:solidFill>
              <a:srgbClr val="263241"/>
            </a:solidFill>
            <a:prstDash val="solid"/>
          </a:ln>
        </p:spPr>
      </p:sp>
      <p:sp>
        <p:nvSpPr>
          <p:cNvPr id="8" name="Text 5"/>
          <p:cNvSpPr txBox="1"/>
          <p:nvPr/>
        </p:nvSpPr>
        <p:spPr>
          <a:xfrm>
            <a:off x="603504" y="2807208"/>
            <a:ext cx="1060704" cy="822960"/>
          </a:xfrm>
          <a:prstGeom prst="rect">
            <a:avLst/>
          </a:prstGeom>
          <a:noFill/>
          <a:ln/>
        </p:spPr>
        <p:txBody>
          <a:bodyPr wrap="square" lIns="0" tIns="0" rIns="0" bIns="0" rtlCol="0" anchor="ctr"/>
          <a:lstStyle/>
          <a:p>
            <a:pPr algn="ctr" indent="0" marL="0">
              <a:buNone/>
            </a:pPr>
            <a:r>
              <a:rPr lang="en-US" sz="1300" b="1" dirty="0">
                <a:solidFill>
                  <a:srgbClr val="E8ECEF"/>
                </a:solidFill>
                <a:latin typeface="Calibri" pitchFamily="34" charset="0"/>
                <a:ea typeface="Calibri" pitchFamily="34" charset="-122"/>
                <a:cs typeface="Calibri" pitchFamily="34" charset="-120"/>
              </a:rPr>
              <a:t>Incoming</a:t>
            </a:r>
            <a:endParaRPr lang="en-US" sz="1300" dirty="0"/>
          </a:p>
          <a:p>
            <a:pPr algn="ctr" indent="0" marL="0">
              <a:buNone/>
            </a:pPr>
            <a:r>
              <a:rPr lang="en-US" sz="1300" b="1" dirty="0">
                <a:solidFill>
                  <a:srgbClr val="E8ECEF"/>
                </a:solidFill>
                <a:latin typeface="Calibri" pitchFamily="34" charset="0"/>
                <a:ea typeface="Calibri" pitchFamily="34" charset="-122"/>
                <a:cs typeface="Calibri" pitchFamily="34" charset="-120"/>
              </a:rPr>
              <a:t>altitude</a:t>
            </a:r>
            <a:endParaRPr lang="en-US" sz="1300" dirty="0"/>
          </a:p>
        </p:txBody>
      </p:sp>
      <p:sp>
        <p:nvSpPr>
          <p:cNvPr id="9" name="Text 6"/>
          <p:cNvSpPr txBox="1"/>
          <p:nvPr/>
        </p:nvSpPr>
        <p:spPr>
          <a:xfrm>
            <a:off x="603504" y="2724912"/>
            <a:ext cx="274320" cy="228600"/>
          </a:xfrm>
          <a:prstGeom prst="rect">
            <a:avLst/>
          </a:prstGeom>
          <a:noFill/>
          <a:ln/>
        </p:spPr>
        <p:txBody>
          <a:bodyPr wrap="square" lIns="0" tIns="0" rIns="0" bIns="0" rtlCol="0" anchor="t"/>
          <a:lstStyle/>
          <a:p>
            <a:pPr indent="0" marL="0">
              <a:buNone/>
            </a:pPr>
            <a:r>
              <a:rPr lang="en-US" sz="1000" dirty="0">
                <a:solidFill>
                  <a:srgbClr val="8E9BAA"/>
                </a:solidFill>
                <a:latin typeface="Consolas" pitchFamily="34" charset="0"/>
                <a:ea typeface="Consolas" pitchFamily="34" charset="-122"/>
                <a:cs typeface="Consolas" pitchFamily="34" charset="-120"/>
              </a:rPr>
              <a:t>1</a:t>
            </a:r>
            <a:endParaRPr lang="en-US" sz="1000" dirty="0"/>
          </a:p>
        </p:txBody>
      </p:sp>
      <p:sp>
        <p:nvSpPr>
          <p:cNvPr id="10" name="Text 7"/>
          <p:cNvSpPr txBox="1"/>
          <p:nvPr/>
        </p:nvSpPr>
        <p:spPr>
          <a:xfrm>
            <a:off x="502920" y="3886200"/>
            <a:ext cx="1261872" cy="457200"/>
          </a:xfrm>
          <a:prstGeom prst="rect">
            <a:avLst/>
          </a:prstGeom>
          <a:noFill/>
          <a:ln/>
        </p:spPr>
        <p:txBody>
          <a:bodyPr wrap="square" lIns="0" tIns="0" rIns="0" bIns="0" rtlCol="0" anchor="t"/>
          <a:lstStyle/>
          <a:p>
            <a:pPr algn="ctr" indent="0" marL="0">
              <a:buNone/>
            </a:pPr>
            <a:r>
              <a:rPr lang="en-US" sz="1100" dirty="0">
                <a:solidFill>
                  <a:srgbClr val="8E9BAA"/>
                </a:solidFill>
                <a:latin typeface="Calibri" pitchFamily="34" charset="0"/>
                <a:ea typeface="Calibri" pitchFamily="34" charset="-122"/>
                <a:cs typeface="Calibri" pitchFamily="34" charset="-120"/>
              </a:rPr>
              <a:t>100,000 readings</a:t>
            </a:r>
            <a:endParaRPr lang="en-US" sz="1100" dirty="0"/>
          </a:p>
        </p:txBody>
      </p:sp>
      <p:sp>
        <p:nvSpPr>
          <p:cNvPr id="11" name="Shape 8"/>
          <p:cNvSpPr/>
          <p:nvPr/>
        </p:nvSpPr>
        <p:spPr>
          <a:xfrm>
            <a:off x="1737360" y="3246120"/>
            <a:ext cx="205740" cy="0"/>
          </a:xfrm>
          <a:prstGeom prst="line">
            <a:avLst/>
          </a:prstGeom>
          <a:noFill/>
          <a:ln w="19050">
            <a:solidFill>
              <a:srgbClr val="3FD0C0"/>
            </a:solidFill>
            <a:prstDash val="solid"/>
            <a:tailEnd type="triangle"/>
          </a:ln>
        </p:spPr>
      </p:sp>
      <p:sp>
        <p:nvSpPr>
          <p:cNvPr id="12" name="Shape 9"/>
          <p:cNvSpPr/>
          <p:nvPr/>
        </p:nvSpPr>
        <p:spPr>
          <a:xfrm>
            <a:off x="1961388" y="2697480"/>
            <a:ext cx="1170432" cy="1097280"/>
          </a:xfrm>
          <a:prstGeom prst="rect">
            <a:avLst/>
          </a:prstGeom>
          <a:solidFill>
            <a:srgbClr val="121923"/>
          </a:solidFill>
          <a:ln w="12700">
            <a:solidFill>
              <a:srgbClr val="3FD0C0"/>
            </a:solidFill>
            <a:prstDash val="solid"/>
          </a:ln>
        </p:spPr>
      </p:sp>
      <p:sp>
        <p:nvSpPr>
          <p:cNvPr id="13" name="Text 10"/>
          <p:cNvSpPr txBox="1"/>
          <p:nvPr/>
        </p:nvSpPr>
        <p:spPr>
          <a:xfrm>
            <a:off x="2016252" y="2807208"/>
            <a:ext cx="1060704" cy="822960"/>
          </a:xfrm>
          <a:prstGeom prst="rect">
            <a:avLst/>
          </a:prstGeom>
          <a:noFill/>
          <a:ln/>
        </p:spPr>
        <p:txBody>
          <a:bodyPr wrap="square" lIns="0" tIns="0" rIns="0" bIns="0" rtlCol="0" anchor="ctr"/>
          <a:lstStyle/>
          <a:p>
            <a:pPr algn="ctr" indent="0" marL="0">
              <a:buNone/>
            </a:pPr>
            <a:r>
              <a:rPr lang="en-US" sz="1300" b="1" dirty="0">
                <a:solidFill>
                  <a:srgbClr val="E8ECEF"/>
                </a:solidFill>
                <a:latin typeface="Calibri" pitchFamily="34" charset="0"/>
                <a:ea typeface="Calibri" pitchFamily="34" charset="-122"/>
                <a:cs typeface="Calibri" pitchFamily="34" charset="-120"/>
              </a:rPr>
              <a:t>5-point causal</a:t>
            </a:r>
            <a:endParaRPr lang="en-US" sz="1300" dirty="0"/>
          </a:p>
          <a:p>
            <a:pPr algn="ctr" indent="0" marL="0">
              <a:buNone/>
            </a:pPr>
            <a:r>
              <a:rPr lang="en-US" sz="1300" b="1" dirty="0">
                <a:solidFill>
                  <a:srgbClr val="E8ECEF"/>
                </a:solidFill>
                <a:latin typeface="Calibri" pitchFamily="34" charset="0"/>
                <a:ea typeface="Calibri" pitchFamily="34" charset="-122"/>
                <a:cs typeface="Calibri" pitchFamily="34" charset="-120"/>
              </a:rPr>
              <a:t>median</a:t>
            </a:r>
            <a:endParaRPr lang="en-US" sz="1300" dirty="0"/>
          </a:p>
        </p:txBody>
      </p:sp>
      <p:sp>
        <p:nvSpPr>
          <p:cNvPr id="14" name="Text 11"/>
          <p:cNvSpPr txBox="1"/>
          <p:nvPr/>
        </p:nvSpPr>
        <p:spPr>
          <a:xfrm>
            <a:off x="2016252" y="2724912"/>
            <a:ext cx="274320" cy="228600"/>
          </a:xfrm>
          <a:prstGeom prst="rect">
            <a:avLst/>
          </a:prstGeom>
          <a:noFill/>
          <a:ln/>
        </p:spPr>
        <p:txBody>
          <a:bodyPr wrap="square" lIns="0" tIns="0" rIns="0" bIns="0" rtlCol="0" anchor="t"/>
          <a:lstStyle/>
          <a:p>
            <a:pPr indent="0" marL="0">
              <a:buNone/>
            </a:pPr>
            <a:r>
              <a:rPr lang="en-US" sz="1000" dirty="0">
                <a:solidFill>
                  <a:srgbClr val="8E9BAA"/>
                </a:solidFill>
                <a:latin typeface="Consolas" pitchFamily="34" charset="0"/>
                <a:ea typeface="Consolas" pitchFamily="34" charset="-122"/>
                <a:cs typeface="Consolas" pitchFamily="34" charset="-120"/>
              </a:rPr>
              <a:t>2</a:t>
            </a:r>
            <a:endParaRPr lang="en-US" sz="1000" dirty="0"/>
          </a:p>
        </p:txBody>
      </p:sp>
      <p:sp>
        <p:nvSpPr>
          <p:cNvPr id="15" name="Text 12"/>
          <p:cNvSpPr txBox="1"/>
          <p:nvPr/>
        </p:nvSpPr>
        <p:spPr>
          <a:xfrm>
            <a:off x="1915668" y="3886200"/>
            <a:ext cx="1261872" cy="457200"/>
          </a:xfrm>
          <a:prstGeom prst="rect">
            <a:avLst/>
          </a:prstGeom>
          <a:noFill/>
          <a:ln/>
        </p:spPr>
        <p:txBody>
          <a:bodyPr wrap="square" lIns="0" tIns="0" rIns="0" bIns="0" rtlCol="0" anchor="t"/>
          <a:lstStyle/>
          <a:p>
            <a:pPr algn="ctr" indent="0" marL="0">
              <a:buNone/>
            </a:pPr>
            <a:r>
              <a:rPr lang="en-US" sz="1100" dirty="0">
                <a:solidFill>
                  <a:srgbClr val="8E9BAA"/>
                </a:solidFill>
                <a:latin typeface="Calibri" pitchFamily="34" charset="0"/>
                <a:ea typeface="Calibri" pitchFamily="34" charset="-122"/>
                <a:cs typeface="Calibri" pitchFamily="34" charset="-120"/>
              </a:rPr>
              <a:t>10 B window</a:t>
            </a:r>
            <a:endParaRPr lang="en-US" sz="1100" dirty="0"/>
          </a:p>
        </p:txBody>
      </p:sp>
      <p:sp>
        <p:nvSpPr>
          <p:cNvPr id="16" name="Shape 13"/>
          <p:cNvSpPr/>
          <p:nvPr/>
        </p:nvSpPr>
        <p:spPr>
          <a:xfrm>
            <a:off x="3150108" y="3246120"/>
            <a:ext cx="205740" cy="0"/>
          </a:xfrm>
          <a:prstGeom prst="line">
            <a:avLst/>
          </a:prstGeom>
          <a:noFill/>
          <a:ln w="19050">
            <a:solidFill>
              <a:srgbClr val="3FD0C0"/>
            </a:solidFill>
            <a:prstDash val="solid"/>
            <a:tailEnd type="triangle"/>
          </a:ln>
        </p:spPr>
      </p:sp>
      <p:sp>
        <p:nvSpPr>
          <p:cNvPr id="17" name="Shape 14"/>
          <p:cNvSpPr/>
          <p:nvPr/>
        </p:nvSpPr>
        <p:spPr>
          <a:xfrm>
            <a:off x="3374136" y="2697480"/>
            <a:ext cx="1170432" cy="1097280"/>
          </a:xfrm>
          <a:prstGeom prst="rect">
            <a:avLst/>
          </a:prstGeom>
          <a:solidFill>
            <a:srgbClr val="121923"/>
          </a:solidFill>
          <a:ln w="12700">
            <a:solidFill>
              <a:srgbClr val="3FD0C0"/>
            </a:solidFill>
            <a:prstDash val="solid"/>
          </a:ln>
        </p:spPr>
      </p:sp>
      <p:sp>
        <p:nvSpPr>
          <p:cNvPr id="18" name="Text 15"/>
          <p:cNvSpPr txBox="1"/>
          <p:nvPr/>
        </p:nvSpPr>
        <p:spPr>
          <a:xfrm>
            <a:off x="3429000" y="2807208"/>
            <a:ext cx="1060704" cy="822960"/>
          </a:xfrm>
          <a:prstGeom prst="rect">
            <a:avLst/>
          </a:prstGeom>
          <a:noFill/>
          <a:ln/>
        </p:spPr>
        <p:txBody>
          <a:bodyPr wrap="square" lIns="0" tIns="0" rIns="0" bIns="0" rtlCol="0" anchor="ctr"/>
          <a:lstStyle/>
          <a:p>
            <a:pPr algn="ctr" indent="0" marL="0">
              <a:buNone/>
            </a:pPr>
            <a:r>
              <a:rPr lang="en-US" sz="1300" b="1" dirty="0">
                <a:solidFill>
                  <a:srgbClr val="E8ECEF"/>
                </a:solidFill>
                <a:latin typeface="Calibri" pitchFamily="34" charset="0"/>
                <a:ea typeface="Calibri" pitchFamily="34" charset="-122"/>
                <a:cs typeface="Calibri" pitchFamily="34" charset="-120"/>
              </a:rPr>
              <a:t>Glitch</a:t>
            </a:r>
            <a:endParaRPr lang="en-US" sz="1300" dirty="0"/>
          </a:p>
          <a:p>
            <a:pPr algn="ctr" indent="0" marL="0">
              <a:buNone/>
            </a:pPr>
            <a:r>
              <a:rPr lang="en-US" sz="1300" b="1" dirty="0">
                <a:solidFill>
                  <a:srgbClr val="E8ECEF"/>
                </a:solidFill>
                <a:latin typeface="Calibri" pitchFamily="34" charset="0"/>
                <a:ea typeface="Calibri" pitchFamily="34" charset="-122"/>
                <a:cs typeface="Calibri" pitchFamily="34" charset="-120"/>
              </a:rPr>
              <a:t>detection</a:t>
            </a:r>
            <a:endParaRPr lang="en-US" sz="1300" dirty="0"/>
          </a:p>
        </p:txBody>
      </p:sp>
      <p:sp>
        <p:nvSpPr>
          <p:cNvPr id="19" name="Text 16"/>
          <p:cNvSpPr txBox="1"/>
          <p:nvPr/>
        </p:nvSpPr>
        <p:spPr>
          <a:xfrm>
            <a:off x="3429000" y="2724912"/>
            <a:ext cx="274320" cy="228600"/>
          </a:xfrm>
          <a:prstGeom prst="rect">
            <a:avLst/>
          </a:prstGeom>
          <a:noFill/>
          <a:ln/>
        </p:spPr>
        <p:txBody>
          <a:bodyPr wrap="square" lIns="0" tIns="0" rIns="0" bIns="0" rtlCol="0" anchor="t"/>
          <a:lstStyle/>
          <a:p>
            <a:pPr indent="0" marL="0">
              <a:buNone/>
            </a:pPr>
            <a:r>
              <a:rPr lang="en-US" sz="1000" dirty="0">
                <a:solidFill>
                  <a:srgbClr val="8E9BAA"/>
                </a:solidFill>
                <a:latin typeface="Consolas" pitchFamily="34" charset="0"/>
                <a:ea typeface="Consolas" pitchFamily="34" charset="-122"/>
                <a:cs typeface="Consolas" pitchFamily="34" charset="-120"/>
              </a:rPr>
              <a:t>3</a:t>
            </a:r>
            <a:endParaRPr lang="en-US" sz="1000" dirty="0"/>
          </a:p>
        </p:txBody>
      </p:sp>
      <p:sp>
        <p:nvSpPr>
          <p:cNvPr id="20" name="Text 17"/>
          <p:cNvSpPr txBox="1"/>
          <p:nvPr/>
        </p:nvSpPr>
        <p:spPr>
          <a:xfrm>
            <a:off x="3328416" y="3886200"/>
            <a:ext cx="1261872" cy="457200"/>
          </a:xfrm>
          <a:prstGeom prst="rect">
            <a:avLst/>
          </a:prstGeom>
          <a:noFill/>
          <a:ln/>
        </p:spPr>
        <p:txBody>
          <a:bodyPr wrap="square" lIns="0" tIns="0" rIns="0" bIns="0" rtlCol="0" anchor="t"/>
          <a:lstStyle/>
          <a:p>
            <a:pPr algn="ctr" indent="0" marL="0">
              <a:buNone/>
            </a:pPr>
            <a:r>
              <a:rPr lang="en-US" sz="1100" dirty="0">
                <a:solidFill>
                  <a:srgbClr val="8E9BAA"/>
                </a:solidFill>
                <a:latin typeface="Calibri" pitchFamily="34" charset="0"/>
                <a:ea typeface="Calibri" pitchFamily="34" charset="-122"/>
                <a:cs typeface="Calibri" pitchFamily="34" charset="-120"/>
              </a:rPr>
              <a:t>&gt;20 m → replace</a:t>
            </a:r>
            <a:endParaRPr lang="en-US" sz="1100" dirty="0"/>
          </a:p>
        </p:txBody>
      </p:sp>
      <p:sp>
        <p:nvSpPr>
          <p:cNvPr id="21" name="Shape 18"/>
          <p:cNvSpPr/>
          <p:nvPr/>
        </p:nvSpPr>
        <p:spPr>
          <a:xfrm>
            <a:off x="4562856" y="3246120"/>
            <a:ext cx="205740" cy="0"/>
          </a:xfrm>
          <a:prstGeom prst="line">
            <a:avLst/>
          </a:prstGeom>
          <a:noFill/>
          <a:ln w="19050">
            <a:solidFill>
              <a:srgbClr val="3FD0C0"/>
            </a:solidFill>
            <a:prstDash val="solid"/>
            <a:tailEnd type="triangle"/>
          </a:ln>
        </p:spPr>
      </p:sp>
      <p:sp>
        <p:nvSpPr>
          <p:cNvPr id="22" name="Shape 19"/>
          <p:cNvSpPr/>
          <p:nvPr/>
        </p:nvSpPr>
        <p:spPr>
          <a:xfrm>
            <a:off x="4786884" y="2697480"/>
            <a:ext cx="1170432" cy="1097280"/>
          </a:xfrm>
          <a:prstGeom prst="rect">
            <a:avLst/>
          </a:prstGeom>
          <a:solidFill>
            <a:srgbClr val="121923"/>
          </a:solidFill>
          <a:ln w="12700">
            <a:solidFill>
              <a:srgbClr val="3FD0C0"/>
            </a:solidFill>
            <a:prstDash val="solid"/>
          </a:ln>
        </p:spPr>
      </p:sp>
      <p:sp>
        <p:nvSpPr>
          <p:cNvPr id="23" name="Text 20"/>
          <p:cNvSpPr txBox="1"/>
          <p:nvPr/>
        </p:nvSpPr>
        <p:spPr>
          <a:xfrm>
            <a:off x="4841748" y="2807208"/>
            <a:ext cx="1060704" cy="822960"/>
          </a:xfrm>
          <a:prstGeom prst="rect">
            <a:avLst/>
          </a:prstGeom>
          <a:noFill/>
          <a:ln/>
        </p:spPr>
        <p:txBody>
          <a:bodyPr wrap="square" lIns="0" tIns="0" rIns="0" bIns="0" rtlCol="0" anchor="ctr"/>
          <a:lstStyle/>
          <a:p>
            <a:pPr algn="ctr" indent="0" marL="0">
              <a:buNone/>
            </a:pPr>
            <a:r>
              <a:rPr lang="en-US" sz="1300" b="1" dirty="0">
                <a:solidFill>
                  <a:srgbClr val="E8ECEF"/>
                </a:solidFill>
                <a:latin typeface="Calibri" pitchFamily="34" charset="0"/>
                <a:ea typeface="Calibri" pitchFamily="34" charset="-122"/>
                <a:cs typeface="Calibri" pitchFamily="34" charset="-120"/>
              </a:rPr>
              <a:t>Compressed state /</a:t>
            </a:r>
            <a:endParaRPr lang="en-US" sz="1300" dirty="0"/>
          </a:p>
          <a:p>
            <a:pPr algn="ctr" indent="0" marL="0">
              <a:buNone/>
            </a:pPr>
            <a:r>
              <a:rPr lang="en-US" sz="1300" b="1" dirty="0">
                <a:solidFill>
                  <a:srgbClr val="E8ECEF"/>
                </a:solidFill>
                <a:latin typeface="Calibri" pitchFamily="34" charset="0"/>
                <a:ea typeface="Calibri" pitchFamily="34" charset="-122"/>
                <a:cs typeface="Calibri" pitchFamily="34" charset="-120"/>
              </a:rPr>
              <a:t>accumulators</a:t>
            </a:r>
            <a:endParaRPr lang="en-US" sz="1300" dirty="0"/>
          </a:p>
        </p:txBody>
      </p:sp>
      <p:sp>
        <p:nvSpPr>
          <p:cNvPr id="24" name="Text 21"/>
          <p:cNvSpPr txBox="1"/>
          <p:nvPr/>
        </p:nvSpPr>
        <p:spPr>
          <a:xfrm>
            <a:off x="4841748" y="2724912"/>
            <a:ext cx="274320" cy="228600"/>
          </a:xfrm>
          <a:prstGeom prst="rect">
            <a:avLst/>
          </a:prstGeom>
          <a:noFill/>
          <a:ln/>
        </p:spPr>
        <p:txBody>
          <a:bodyPr wrap="square" lIns="0" tIns="0" rIns="0" bIns="0" rtlCol="0" anchor="t"/>
          <a:lstStyle/>
          <a:p>
            <a:pPr indent="0" marL="0">
              <a:buNone/>
            </a:pPr>
            <a:r>
              <a:rPr lang="en-US" sz="1000" dirty="0">
                <a:solidFill>
                  <a:srgbClr val="8E9BAA"/>
                </a:solidFill>
                <a:latin typeface="Consolas" pitchFamily="34" charset="0"/>
                <a:ea typeface="Consolas" pitchFamily="34" charset="-122"/>
                <a:cs typeface="Consolas" pitchFamily="34" charset="-120"/>
              </a:rPr>
              <a:t>4</a:t>
            </a:r>
            <a:endParaRPr lang="en-US" sz="1000" dirty="0"/>
          </a:p>
        </p:txBody>
      </p:sp>
      <p:sp>
        <p:nvSpPr>
          <p:cNvPr id="25" name="Text 22"/>
          <p:cNvSpPr txBox="1"/>
          <p:nvPr/>
        </p:nvSpPr>
        <p:spPr>
          <a:xfrm>
            <a:off x="4741164" y="3886200"/>
            <a:ext cx="1261872" cy="457200"/>
          </a:xfrm>
          <a:prstGeom prst="rect">
            <a:avLst/>
          </a:prstGeom>
          <a:noFill/>
          <a:ln/>
        </p:spPr>
        <p:txBody>
          <a:bodyPr wrap="square" lIns="0" tIns="0" rIns="0" bIns="0" rtlCol="0" anchor="t"/>
          <a:lstStyle/>
          <a:p>
            <a:pPr algn="ctr" indent="0" marL="0">
              <a:buNone/>
            </a:pPr>
            <a:r>
              <a:rPr lang="en-US" sz="1100" dirty="0">
                <a:solidFill>
                  <a:srgbClr val="8E9BAA"/>
                </a:solidFill>
                <a:latin typeface="Calibri" pitchFamily="34" charset="0"/>
                <a:ea typeface="Calibri" pitchFamily="34" charset="-122"/>
                <a:cs typeface="Calibri" pitchFamily="34" charset="-120"/>
              </a:rPr>
              <a:t>running sums</a:t>
            </a:r>
            <a:endParaRPr lang="en-US" sz="1100" dirty="0"/>
          </a:p>
        </p:txBody>
      </p:sp>
      <p:sp>
        <p:nvSpPr>
          <p:cNvPr id="26" name="Shape 23"/>
          <p:cNvSpPr/>
          <p:nvPr/>
        </p:nvSpPr>
        <p:spPr>
          <a:xfrm>
            <a:off x="5975604" y="3246120"/>
            <a:ext cx="205740" cy="0"/>
          </a:xfrm>
          <a:prstGeom prst="line">
            <a:avLst/>
          </a:prstGeom>
          <a:noFill/>
          <a:ln w="19050">
            <a:solidFill>
              <a:srgbClr val="3FD0C0"/>
            </a:solidFill>
            <a:prstDash val="solid"/>
            <a:tailEnd type="triangle"/>
          </a:ln>
        </p:spPr>
      </p:sp>
      <p:sp>
        <p:nvSpPr>
          <p:cNvPr id="27" name="Shape 24"/>
          <p:cNvSpPr/>
          <p:nvPr/>
        </p:nvSpPr>
        <p:spPr>
          <a:xfrm>
            <a:off x="6199632" y="2697480"/>
            <a:ext cx="1170432" cy="1097280"/>
          </a:xfrm>
          <a:prstGeom prst="rect">
            <a:avLst/>
          </a:prstGeom>
          <a:solidFill>
            <a:srgbClr val="121923"/>
          </a:solidFill>
          <a:ln w="12700">
            <a:solidFill>
              <a:srgbClr val="3FD0C0"/>
            </a:solidFill>
            <a:prstDash val="solid"/>
          </a:ln>
        </p:spPr>
      </p:sp>
      <p:sp>
        <p:nvSpPr>
          <p:cNvPr id="28" name="Text 25"/>
          <p:cNvSpPr txBox="1"/>
          <p:nvPr/>
        </p:nvSpPr>
        <p:spPr>
          <a:xfrm>
            <a:off x="6254496" y="2807208"/>
            <a:ext cx="1060704" cy="822960"/>
          </a:xfrm>
          <a:prstGeom prst="rect">
            <a:avLst/>
          </a:prstGeom>
          <a:noFill/>
          <a:ln/>
        </p:spPr>
        <p:txBody>
          <a:bodyPr wrap="square" lIns="0" tIns="0" rIns="0" bIns="0" rtlCol="0" anchor="ctr"/>
          <a:lstStyle/>
          <a:p>
            <a:pPr algn="ctr" indent="0" marL="0">
              <a:buNone/>
            </a:pPr>
            <a:r>
              <a:rPr lang="en-US" sz="1300" b="1" dirty="0">
                <a:solidFill>
                  <a:srgbClr val="E8ECEF"/>
                </a:solidFill>
                <a:latin typeface="Calibri" pitchFamily="34" charset="0"/>
                <a:ea typeface="Calibri" pitchFamily="34" charset="-122"/>
                <a:cs typeface="Calibri" pitchFamily="34" charset="-120"/>
              </a:rPr>
              <a:t>Trajectory</a:t>
            </a:r>
            <a:endParaRPr lang="en-US" sz="1300" dirty="0"/>
          </a:p>
          <a:p>
            <a:pPr algn="ctr" indent="0" marL="0">
              <a:buNone/>
            </a:pPr>
            <a:r>
              <a:rPr lang="en-US" sz="1300" b="1" dirty="0">
                <a:solidFill>
                  <a:srgbClr val="E8ECEF"/>
                </a:solidFill>
                <a:latin typeface="Calibri" pitchFamily="34" charset="0"/>
                <a:ea typeface="Calibri" pitchFamily="34" charset="-122"/>
                <a:cs typeface="Calibri" pitchFamily="34" charset="-120"/>
              </a:rPr>
              <a:t>models</a:t>
            </a:r>
            <a:endParaRPr lang="en-US" sz="1300" dirty="0"/>
          </a:p>
        </p:txBody>
      </p:sp>
      <p:sp>
        <p:nvSpPr>
          <p:cNvPr id="29" name="Text 26"/>
          <p:cNvSpPr txBox="1"/>
          <p:nvPr/>
        </p:nvSpPr>
        <p:spPr>
          <a:xfrm>
            <a:off x="6254496" y="2724912"/>
            <a:ext cx="274320" cy="228600"/>
          </a:xfrm>
          <a:prstGeom prst="rect">
            <a:avLst/>
          </a:prstGeom>
          <a:noFill/>
          <a:ln/>
        </p:spPr>
        <p:txBody>
          <a:bodyPr wrap="square" lIns="0" tIns="0" rIns="0" bIns="0" rtlCol="0" anchor="t"/>
          <a:lstStyle/>
          <a:p>
            <a:pPr indent="0" marL="0">
              <a:buNone/>
            </a:pPr>
            <a:r>
              <a:rPr lang="en-US" sz="1000" dirty="0">
                <a:solidFill>
                  <a:srgbClr val="8E9BAA"/>
                </a:solidFill>
                <a:latin typeface="Consolas" pitchFamily="34" charset="0"/>
                <a:ea typeface="Consolas" pitchFamily="34" charset="-122"/>
                <a:cs typeface="Consolas" pitchFamily="34" charset="-120"/>
              </a:rPr>
              <a:t>5</a:t>
            </a:r>
            <a:endParaRPr lang="en-US" sz="1000" dirty="0"/>
          </a:p>
        </p:txBody>
      </p:sp>
      <p:sp>
        <p:nvSpPr>
          <p:cNvPr id="30" name="Text 27"/>
          <p:cNvSpPr txBox="1"/>
          <p:nvPr/>
        </p:nvSpPr>
        <p:spPr>
          <a:xfrm>
            <a:off x="6153912" y="3886200"/>
            <a:ext cx="1261872" cy="457200"/>
          </a:xfrm>
          <a:prstGeom prst="rect">
            <a:avLst/>
          </a:prstGeom>
          <a:noFill/>
          <a:ln/>
        </p:spPr>
        <p:txBody>
          <a:bodyPr wrap="square" lIns="0" tIns="0" rIns="0" bIns="0" rtlCol="0" anchor="t"/>
          <a:lstStyle/>
          <a:p>
            <a:pPr algn="ctr" indent="0" marL="0">
              <a:buNone/>
            </a:pPr>
            <a:r>
              <a:rPr lang="en-US" sz="1100" dirty="0">
                <a:solidFill>
                  <a:srgbClr val="8E9BAA"/>
                </a:solidFill>
                <a:latin typeface="Calibri" pitchFamily="34" charset="0"/>
                <a:ea typeface="Calibri" pitchFamily="34" charset="-122"/>
                <a:cs typeface="Calibri" pitchFamily="34" charset="-120"/>
              </a:rPr>
              <a:t>line + parabola</a:t>
            </a:r>
            <a:endParaRPr lang="en-US" sz="1100" dirty="0"/>
          </a:p>
        </p:txBody>
      </p:sp>
      <p:sp>
        <p:nvSpPr>
          <p:cNvPr id="31" name="Shape 28"/>
          <p:cNvSpPr/>
          <p:nvPr/>
        </p:nvSpPr>
        <p:spPr>
          <a:xfrm>
            <a:off x="7388352" y="3246120"/>
            <a:ext cx="205740" cy="0"/>
          </a:xfrm>
          <a:prstGeom prst="line">
            <a:avLst/>
          </a:prstGeom>
          <a:noFill/>
          <a:ln w="19050">
            <a:solidFill>
              <a:srgbClr val="3FD0C0"/>
            </a:solidFill>
            <a:prstDash val="solid"/>
            <a:tailEnd type="triangle"/>
          </a:ln>
        </p:spPr>
      </p:sp>
      <p:sp>
        <p:nvSpPr>
          <p:cNvPr id="32" name="Shape 29"/>
          <p:cNvSpPr/>
          <p:nvPr/>
        </p:nvSpPr>
        <p:spPr>
          <a:xfrm>
            <a:off x="7612380" y="2697480"/>
            <a:ext cx="1170432" cy="1097280"/>
          </a:xfrm>
          <a:prstGeom prst="rect">
            <a:avLst/>
          </a:prstGeom>
          <a:solidFill>
            <a:srgbClr val="121923"/>
          </a:solidFill>
          <a:ln w="12700">
            <a:solidFill>
              <a:srgbClr val="3FD0C0"/>
            </a:solidFill>
            <a:prstDash val="solid"/>
          </a:ln>
        </p:spPr>
      </p:sp>
      <p:sp>
        <p:nvSpPr>
          <p:cNvPr id="33" name="Text 30"/>
          <p:cNvSpPr txBox="1"/>
          <p:nvPr/>
        </p:nvSpPr>
        <p:spPr>
          <a:xfrm>
            <a:off x="7667244" y="2807208"/>
            <a:ext cx="1060704" cy="822960"/>
          </a:xfrm>
          <a:prstGeom prst="rect">
            <a:avLst/>
          </a:prstGeom>
          <a:noFill/>
          <a:ln/>
        </p:spPr>
        <p:txBody>
          <a:bodyPr wrap="square" lIns="0" tIns="0" rIns="0" bIns="0" rtlCol="0" anchor="ctr"/>
          <a:lstStyle/>
          <a:p>
            <a:pPr algn="ctr" indent="0" marL="0">
              <a:buNone/>
            </a:pPr>
            <a:r>
              <a:rPr lang="en-US" sz="1300" b="1" dirty="0">
                <a:solidFill>
                  <a:srgbClr val="E8ECEF"/>
                </a:solidFill>
                <a:latin typeface="Calibri" pitchFamily="34" charset="0"/>
                <a:ea typeface="Calibri" pitchFamily="34" charset="-122"/>
                <a:cs typeface="Calibri" pitchFamily="34" charset="-120"/>
              </a:rPr>
              <a:t>Deployment</a:t>
            </a:r>
            <a:endParaRPr lang="en-US" sz="1300" dirty="0"/>
          </a:p>
          <a:p>
            <a:pPr algn="ctr" indent="0" marL="0">
              <a:buNone/>
            </a:pPr>
            <a:r>
              <a:rPr lang="en-US" sz="1300" b="1" dirty="0">
                <a:solidFill>
                  <a:srgbClr val="E8ECEF"/>
                </a:solidFill>
                <a:latin typeface="Calibri" pitchFamily="34" charset="0"/>
                <a:ea typeface="Calibri" pitchFamily="34" charset="-122"/>
                <a:cs typeface="Calibri" pitchFamily="34" charset="-120"/>
              </a:rPr>
              <a:t>detection</a:t>
            </a:r>
            <a:endParaRPr lang="en-US" sz="1300" dirty="0"/>
          </a:p>
        </p:txBody>
      </p:sp>
      <p:sp>
        <p:nvSpPr>
          <p:cNvPr id="34" name="Text 31"/>
          <p:cNvSpPr txBox="1"/>
          <p:nvPr/>
        </p:nvSpPr>
        <p:spPr>
          <a:xfrm>
            <a:off x="7667244" y="2724912"/>
            <a:ext cx="274320" cy="228600"/>
          </a:xfrm>
          <a:prstGeom prst="rect">
            <a:avLst/>
          </a:prstGeom>
          <a:noFill/>
          <a:ln/>
        </p:spPr>
        <p:txBody>
          <a:bodyPr wrap="square" lIns="0" tIns="0" rIns="0" bIns="0" rtlCol="0" anchor="t"/>
          <a:lstStyle/>
          <a:p>
            <a:pPr indent="0" marL="0">
              <a:buNone/>
            </a:pPr>
            <a:r>
              <a:rPr lang="en-US" sz="1000" dirty="0">
                <a:solidFill>
                  <a:srgbClr val="8E9BAA"/>
                </a:solidFill>
                <a:latin typeface="Consolas" pitchFamily="34" charset="0"/>
                <a:ea typeface="Consolas" pitchFamily="34" charset="-122"/>
                <a:cs typeface="Consolas" pitchFamily="34" charset="-120"/>
              </a:rPr>
              <a:t>6</a:t>
            </a:r>
            <a:endParaRPr lang="en-US" sz="1000" dirty="0"/>
          </a:p>
        </p:txBody>
      </p:sp>
      <p:sp>
        <p:nvSpPr>
          <p:cNvPr id="35" name="Text 32"/>
          <p:cNvSpPr txBox="1"/>
          <p:nvPr/>
        </p:nvSpPr>
        <p:spPr>
          <a:xfrm>
            <a:off x="7566660" y="3886200"/>
            <a:ext cx="1261872" cy="457200"/>
          </a:xfrm>
          <a:prstGeom prst="rect">
            <a:avLst/>
          </a:prstGeom>
          <a:noFill/>
          <a:ln/>
        </p:spPr>
        <p:txBody>
          <a:bodyPr wrap="square" lIns="0" tIns="0" rIns="0" bIns="0" rtlCol="0" anchor="t"/>
          <a:lstStyle/>
          <a:p>
            <a:pPr algn="ctr" indent="0" marL="0">
              <a:buNone/>
            </a:pPr>
            <a:r>
              <a:rPr lang="en-US" sz="1100" dirty="0">
                <a:solidFill>
                  <a:srgbClr val="8E9BAA"/>
                </a:solidFill>
                <a:latin typeface="Calibri" pitchFamily="34" charset="0"/>
                <a:ea typeface="Calibri" pitchFamily="34" charset="-122"/>
                <a:cs typeface="Calibri" pitchFamily="34" charset="-120"/>
              </a:rPr>
              <a:t>actual vs ballistic</a:t>
            </a:r>
            <a:endParaRPr lang="en-US" sz="1100" dirty="0"/>
          </a:p>
        </p:txBody>
      </p:sp>
      <p:sp>
        <p:nvSpPr>
          <p:cNvPr id="36" name="Shape 33"/>
          <p:cNvSpPr/>
          <p:nvPr/>
        </p:nvSpPr>
        <p:spPr>
          <a:xfrm>
            <a:off x="8801100" y="3246120"/>
            <a:ext cx="205740" cy="0"/>
          </a:xfrm>
          <a:prstGeom prst="line">
            <a:avLst/>
          </a:prstGeom>
          <a:noFill/>
          <a:ln w="19050">
            <a:solidFill>
              <a:srgbClr val="3FD0C0"/>
            </a:solidFill>
            <a:prstDash val="solid"/>
            <a:tailEnd type="triangle"/>
          </a:ln>
        </p:spPr>
      </p:sp>
      <p:sp>
        <p:nvSpPr>
          <p:cNvPr id="37" name="Shape 34"/>
          <p:cNvSpPr/>
          <p:nvPr/>
        </p:nvSpPr>
        <p:spPr>
          <a:xfrm>
            <a:off x="9025128" y="2697480"/>
            <a:ext cx="1170432" cy="1097280"/>
          </a:xfrm>
          <a:prstGeom prst="rect">
            <a:avLst/>
          </a:prstGeom>
          <a:solidFill>
            <a:srgbClr val="121923"/>
          </a:solidFill>
          <a:ln w="12700">
            <a:solidFill>
              <a:srgbClr val="3FD0C0"/>
            </a:solidFill>
            <a:prstDash val="solid"/>
          </a:ln>
        </p:spPr>
      </p:sp>
      <p:sp>
        <p:nvSpPr>
          <p:cNvPr id="38" name="Text 35"/>
          <p:cNvSpPr txBox="1"/>
          <p:nvPr/>
        </p:nvSpPr>
        <p:spPr>
          <a:xfrm>
            <a:off x="9079992" y="2807208"/>
            <a:ext cx="1060704" cy="822960"/>
          </a:xfrm>
          <a:prstGeom prst="rect">
            <a:avLst/>
          </a:prstGeom>
          <a:noFill/>
          <a:ln/>
        </p:spPr>
        <p:txBody>
          <a:bodyPr wrap="square" lIns="0" tIns="0" rIns="0" bIns="0" rtlCol="0" anchor="ctr"/>
          <a:lstStyle/>
          <a:p>
            <a:pPr algn="ctr" indent="0" marL="0">
              <a:buNone/>
            </a:pPr>
            <a:r>
              <a:rPr lang="en-US" sz="1300" b="1" dirty="0">
                <a:solidFill>
                  <a:srgbClr val="E8ECEF"/>
                </a:solidFill>
                <a:latin typeface="Calibri" pitchFamily="34" charset="0"/>
                <a:ea typeface="Calibri" pitchFamily="34" charset="-122"/>
                <a:cs typeface="Calibri" pitchFamily="34" charset="-120"/>
              </a:rPr>
              <a:t>Cached</a:t>
            </a:r>
            <a:endParaRPr lang="en-US" sz="1300" dirty="0"/>
          </a:p>
          <a:p>
            <a:pPr algn="ctr" indent="0" marL="0">
              <a:buNone/>
            </a:pPr>
            <a:r>
              <a:rPr lang="en-US" sz="1300" b="1" dirty="0">
                <a:solidFill>
                  <a:srgbClr val="E8ECEF"/>
                </a:solidFill>
                <a:latin typeface="Calibri" pitchFamily="34" charset="0"/>
                <a:ea typeface="Calibri" pitchFamily="34" charset="-122"/>
                <a:cs typeface="Calibri" pitchFamily="34" charset="-120"/>
              </a:rPr>
              <a:t>coefficients</a:t>
            </a:r>
            <a:endParaRPr lang="en-US" sz="1300" dirty="0"/>
          </a:p>
        </p:txBody>
      </p:sp>
      <p:sp>
        <p:nvSpPr>
          <p:cNvPr id="39" name="Text 36"/>
          <p:cNvSpPr txBox="1"/>
          <p:nvPr/>
        </p:nvSpPr>
        <p:spPr>
          <a:xfrm>
            <a:off x="9079992" y="2724912"/>
            <a:ext cx="274320" cy="228600"/>
          </a:xfrm>
          <a:prstGeom prst="rect">
            <a:avLst/>
          </a:prstGeom>
          <a:noFill/>
          <a:ln/>
        </p:spPr>
        <p:txBody>
          <a:bodyPr wrap="square" lIns="0" tIns="0" rIns="0" bIns="0" rtlCol="0" anchor="t"/>
          <a:lstStyle/>
          <a:p>
            <a:pPr indent="0" marL="0">
              <a:buNone/>
            </a:pPr>
            <a:r>
              <a:rPr lang="en-US" sz="1000" dirty="0">
                <a:solidFill>
                  <a:srgbClr val="8E9BAA"/>
                </a:solidFill>
                <a:latin typeface="Consolas" pitchFamily="34" charset="0"/>
                <a:ea typeface="Consolas" pitchFamily="34" charset="-122"/>
                <a:cs typeface="Consolas" pitchFamily="34" charset="-120"/>
              </a:rPr>
              <a:t>7</a:t>
            </a:r>
            <a:endParaRPr lang="en-US" sz="1000" dirty="0"/>
          </a:p>
        </p:txBody>
      </p:sp>
      <p:sp>
        <p:nvSpPr>
          <p:cNvPr id="40" name="Text 37"/>
          <p:cNvSpPr txBox="1"/>
          <p:nvPr/>
        </p:nvSpPr>
        <p:spPr>
          <a:xfrm>
            <a:off x="8979408" y="3886200"/>
            <a:ext cx="1261872" cy="457200"/>
          </a:xfrm>
          <a:prstGeom prst="rect">
            <a:avLst/>
          </a:prstGeom>
          <a:noFill/>
          <a:ln/>
        </p:spPr>
        <p:txBody>
          <a:bodyPr wrap="square" lIns="0" tIns="0" rIns="0" bIns="0" rtlCol="0" anchor="t"/>
          <a:lstStyle/>
          <a:p>
            <a:pPr algn="ctr" indent="0" marL="0">
              <a:buNone/>
            </a:pPr>
            <a:r>
              <a:rPr lang="en-US" sz="1100" dirty="0">
                <a:solidFill>
                  <a:srgbClr val="8E9BAA"/>
                </a:solidFill>
                <a:latin typeface="Calibri" pitchFamily="34" charset="0"/>
                <a:ea typeface="Calibri" pitchFamily="34" charset="-122"/>
                <a:cs typeface="Calibri" pitchFamily="34" charset="-120"/>
              </a:rPr>
              <a:t>fit once</a:t>
            </a:r>
            <a:endParaRPr lang="en-US" sz="1100" dirty="0"/>
          </a:p>
        </p:txBody>
      </p:sp>
      <p:sp>
        <p:nvSpPr>
          <p:cNvPr id="41" name="Shape 38"/>
          <p:cNvSpPr/>
          <p:nvPr/>
        </p:nvSpPr>
        <p:spPr>
          <a:xfrm>
            <a:off x="10213848" y="3246120"/>
            <a:ext cx="205740" cy="0"/>
          </a:xfrm>
          <a:prstGeom prst="line">
            <a:avLst/>
          </a:prstGeom>
          <a:noFill/>
          <a:ln w="19050">
            <a:solidFill>
              <a:srgbClr val="3FD0C0"/>
            </a:solidFill>
            <a:prstDash val="solid"/>
            <a:tailEnd type="triangle"/>
          </a:ln>
        </p:spPr>
      </p:sp>
      <p:sp>
        <p:nvSpPr>
          <p:cNvPr id="42" name="Shape 39"/>
          <p:cNvSpPr/>
          <p:nvPr/>
        </p:nvSpPr>
        <p:spPr>
          <a:xfrm>
            <a:off x="10437876" y="2697480"/>
            <a:ext cx="1170432" cy="1097280"/>
          </a:xfrm>
          <a:prstGeom prst="rect">
            <a:avLst/>
          </a:prstGeom>
          <a:solidFill>
            <a:srgbClr val="0F151D"/>
          </a:solidFill>
          <a:ln w="12700">
            <a:solidFill>
              <a:srgbClr val="263241"/>
            </a:solidFill>
            <a:prstDash val="solid"/>
          </a:ln>
        </p:spPr>
      </p:sp>
      <p:sp>
        <p:nvSpPr>
          <p:cNvPr id="43" name="Text 40"/>
          <p:cNvSpPr txBox="1"/>
          <p:nvPr/>
        </p:nvSpPr>
        <p:spPr>
          <a:xfrm>
            <a:off x="10492740" y="2807208"/>
            <a:ext cx="1060704" cy="822960"/>
          </a:xfrm>
          <a:prstGeom prst="rect">
            <a:avLst/>
          </a:prstGeom>
          <a:noFill/>
          <a:ln/>
        </p:spPr>
        <p:txBody>
          <a:bodyPr wrap="square" lIns="0" tIns="0" rIns="0" bIns="0" rtlCol="0" anchor="ctr"/>
          <a:lstStyle/>
          <a:p>
            <a:pPr algn="ctr" indent="0" marL="0">
              <a:buNone/>
            </a:pPr>
            <a:r>
              <a:rPr lang="en-US" sz="1300" b="1" dirty="0">
                <a:solidFill>
                  <a:srgbClr val="E8ECEF"/>
                </a:solidFill>
                <a:latin typeface="Calibri" pitchFamily="34" charset="0"/>
                <a:ea typeface="Calibri" pitchFamily="34" charset="-122"/>
                <a:cs typeface="Calibri" pitchFamily="34" charset="-120"/>
              </a:rPr>
              <a:t>Serial</a:t>
            </a:r>
            <a:endParaRPr lang="en-US" sz="1300" dirty="0"/>
          </a:p>
          <a:p>
            <a:pPr algn="ctr" indent="0" marL="0">
              <a:buNone/>
            </a:pPr>
            <a:r>
              <a:rPr lang="en-US" sz="1300" b="1" dirty="0">
                <a:solidFill>
                  <a:srgbClr val="E8ECEF"/>
                </a:solidFill>
                <a:latin typeface="Calibri" pitchFamily="34" charset="0"/>
                <a:ea typeface="Calibri" pitchFamily="34" charset="-122"/>
                <a:cs typeface="Calibri" pitchFamily="34" charset="-120"/>
              </a:rPr>
              <a:t>commands</a:t>
            </a:r>
            <a:endParaRPr lang="en-US" sz="1300" dirty="0"/>
          </a:p>
        </p:txBody>
      </p:sp>
      <p:sp>
        <p:nvSpPr>
          <p:cNvPr id="44" name="Text 41"/>
          <p:cNvSpPr txBox="1"/>
          <p:nvPr/>
        </p:nvSpPr>
        <p:spPr>
          <a:xfrm>
            <a:off x="10492740" y="2724912"/>
            <a:ext cx="274320" cy="228600"/>
          </a:xfrm>
          <a:prstGeom prst="rect">
            <a:avLst/>
          </a:prstGeom>
          <a:noFill/>
          <a:ln/>
        </p:spPr>
        <p:txBody>
          <a:bodyPr wrap="square" lIns="0" tIns="0" rIns="0" bIns="0" rtlCol="0" anchor="t"/>
          <a:lstStyle/>
          <a:p>
            <a:pPr indent="0" marL="0">
              <a:buNone/>
            </a:pPr>
            <a:r>
              <a:rPr lang="en-US" sz="1000" dirty="0">
                <a:solidFill>
                  <a:srgbClr val="8E9BAA"/>
                </a:solidFill>
                <a:latin typeface="Consolas" pitchFamily="34" charset="0"/>
                <a:ea typeface="Consolas" pitchFamily="34" charset="-122"/>
                <a:cs typeface="Consolas" pitchFamily="34" charset="-120"/>
              </a:rPr>
              <a:t>8</a:t>
            </a:r>
            <a:endParaRPr lang="en-US" sz="1000" dirty="0"/>
          </a:p>
        </p:txBody>
      </p:sp>
      <p:sp>
        <p:nvSpPr>
          <p:cNvPr id="45" name="Text 42"/>
          <p:cNvSpPr txBox="1"/>
          <p:nvPr/>
        </p:nvSpPr>
        <p:spPr>
          <a:xfrm>
            <a:off x="10392156" y="3886200"/>
            <a:ext cx="1261872" cy="457200"/>
          </a:xfrm>
          <a:prstGeom prst="rect">
            <a:avLst/>
          </a:prstGeom>
          <a:noFill/>
          <a:ln/>
        </p:spPr>
        <p:txBody>
          <a:bodyPr wrap="square" lIns="0" tIns="0" rIns="0" bIns="0" rtlCol="0" anchor="t"/>
          <a:lstStyle/>
          <a:p>
            <a:pPr algn="ctr" indent="0" marL="0">
              <a:buNone/>
            </a:pPr>
            <a:r>
              <a:rPr lang="en-US" sz="1100" dirty="0">
                <a:solidFill>
                  <a:srgbClr val="8E9BAA"/>
                </a:solidFill>
                <a:latin typeface="Calibri" pitchFamily="34" charset="0"/>
                <a:ea typeface="Calibri" pitchFamily="34" charset="-122"/>
                <a:cs typeface="Calibri" pitchFamily="34" charset="-120"/>
              </a:rPr>
              <a:t>G · ALT t · …</a:t>
            </a:r>
            <a:endParaRPr lang="en-US" sz="1100" dirty="0"/>
          </a:p>
        </p:txBody>
      </p:sp>
      <p:sp>
        <p:nvSpPr>
          <p:cNvPr id="46" name="Text 43"/>
          <p:cNvSpPr txBox="1"/>
          <p:nvPr/>
        </p:nvSpPr>
        <p:spPr>
          <a:xfrm>
            <a:off x="548640" y="5029200"/>
            <a:ext cx="3657600" cy="274320"/>
          </a:xfrm>
          <a:prstGeom prst="rect">
            <a:avLst/>
          </a:prstGeom>
          <a:noFill/>
          <a:ln/>
        </p:spPr>
        <p:txBody>
          <a:bodyPr wrap="square" lIns="0" tIns="0" rIns="0" bIns="0" rtlCol="0" anchor="t"/>
          <a:lstStyle/>
          <a:p>
            <a:pPr indent="0" marL="0">
              <a:buNone/>
            </a:pPr>
            <a:r>
              <a:rPr lang="en-US" sz="1200" b="1" spc="200" kern="0" dirty="0">
                <a:solidFill>
                  <a:srgbClr val="3FD0C0"/>
                </a:solidFill>
                <a:latin typeface="Calibri" pitchFamily="34" charset="0"/>
                <a:ea typeface="Calibri" pitchFamily="34" charset="-122"/>
                <a:cs typeface="Calibri" pitchFamily="34" charset="-120"/>
              </a:rPr>
              <a:t>EVERY SAMPLE</a:t>
            </a:r>
            <a:endParaRPr lang="en-US" sz="1200" dirty="0"/>
          </a:p>
        </p:txBody>
      </p:sp>
      <p:sp>
        <p:nvSpPr>
          <p:cNvPr id="47" name="Text 44"/>
          <p:cNvSpPr txBox="1"/>
          <p:nvPr/>
        </p:nvSpPr>
        <p:spPr>
          <a:xfrm>
            <a:off x="548640" y="5303520"/>
            <a:ext cx="5303520" cy="731520"/>
          </a:xfrm>
          <a:prstGeom prst="rect">
            <a:avLst/>
          </a:prstGeom>
          <a:noFill/>
          <a:ln/>
        </p:spPr>
        <p:txBody>
          <a:bodyPr wrap="square" lIns="0" tIns="0" rIns="0" bIns="0" rtlCol="0" anchor="t"/>
          <a:lstStyle/>
          <a:p>
            <a:pPr indent="0" marL="0">
              <a:buNone/>
            </a:pPr>
            <a:r>
              <a:rPr lang="en-US" sz="1400" dirty="0">
                <a:solidFill>
                  <a:srgbClr val="8E9BAA"/>
                </a:solidFill>
                <a:latin typeface="Calibri" pitchFamily="34" charset="0"/>
                <a:ea typeface="Calibri" pitchFamily="34" charset="-122"/>
                <a:cs typeface="Calibri" pitchFamily="34" charset="-120"/>
              </a:rPr>
              <a:t>filter → accumulate → watch for deployment.</a:t>
            </a:r>
            <a:endParaRPr lang="en-US" sz="1400" dirty="0"/>
          </a:p>
          <a:p>
            <a:pPr indent="0" marL="0">
              <a:buNone/>
            </a:pPr>
            <a:r>
              <a:rPr lang="en-US" sz="1400" dirty="0">
                <a:solidFill>
                  <a:srgbClr val="8E9BAA"/>
                </a:solidFill>
                <a:latin typeface="Calibri" pitchFamily="34" charset="0"/>
                <a:ea typeface="Calibri" pitchFamily="34" charset="-122"/>
                <a:cs typeface="Calibri" pitchFamily="34" charset="-120"/>
              </a:rPr>
              <a:t>Peak cost observed: 6502 cycles (budget 12,000).</a:t>
            </a:r>
            <a:endParaRPr lang="en-US" sz="1400" dirty="0"/>
          </a:p>
        </p:txBody>
      </p:sp>
      <p:sp>
        <p:nvSpPr>
          <p:cNvPr id="48" name="Text 45"/>
          <p:cNvSpPr txBox="1"/>
          <p:nvPr/>
        </p:nvSpPr>
        <p:spPr>
          <a:xfrm>
            <a:off x="6309360" y="5029200"/>
            <a:ext cx="3657600" cy="274320"/>
          </a:xfrm>
          <a:prstGeom prst="rect">
            <a:avLst/>
          </a:prstGeom>
          <a:noFill/>
          <a:ln/>
        </p:spPr>
        <p:txBody>
          <a:bodyPr wrap="square" lIns="0" tIns="0" rIns="0" bIns="0" rtlCol="0" anchor="t"/>
          <a:lstStyle/>
          <a:p>
            <a:pPr indent="0" marL="0">
              <a:buNone/>
            </a:pPr>
            <a:r>
              <a:rPr lang="en-US" sz="1200" b="1" spc="200" kern="0" dirty="0">
                <a:solidFill>
                  <a:srgbClr val="FFB23F"/>
                </a:solidFill>
                <a:latin typeface="Calibri" pitchFamily="34" charset="0"/>
                <a:ea typeface="Calibri" pitchFamily="34" charset="-122"/>
                <a:cs typeface="Calibri" pitchFamily="34" charset="-120"/>
              </a:rPr>
              <a:t>AFTER THE FLIGHT</a:t>
            </a:r>
            <a:endParaRPr lang="en-US" sz="1200" dirty="0"/>
          </a:p>
        </p:txBody>
      </p:sp>
      <p:sp>
        <p:nvSpPr>
          <p:cNvPr id="49" name="Text 46"/>
          <p:cNvSpPr txBox="1"/>
          <p:nvPr/>
        </p:nvSpPr>
        <p:spPr>
          <a:xfrm>
            <a:off x="6309360" y="5303520"/>
            <a:ext cx="5303520" cy="731520"/>
          </a:xfrm>
          <a:prstGeom prst="rect">
            <a:avLst/>
          </a:prstGeom>
          <a:noFill/>
          <a:ln/>
        </p:spPr>
        <p:txBody>
          <a:bodyPr wrap="square" lIns="0" tIns="0" rIns="0" bIns="0" rtlCol="0" anchor="t"/>
          <a:lstStyle/>
          <a:p>
            <a:pPr indent="0" marL="0">
              <a:buNone/>
            </a:pPr>
            <a:r>
              <a:rPr lang="en-US" sz="1400" dirty="0">
                <a:solidFill>
                  <a:srgbClr val="8E9BAA"/>
                </a:solidFill>
                <a:latin typeface="Calibri" pitchFamily="34" charset="0"/>
                <a:ea typeface="Calibri" pitchFamily="34" charset="-122"/>
                <a:cs typeface="Calibri" pitchFamily="34" charset="-120"/>
              </a:rPr>
              <a:t>fit once → cache coefficients → answer queries</a:t>
            </a:r>
            <a:endParaRPr lang="en-US" sz="1400" dirty="0"/>
          </a:p>
          <a:p>
            <a:pPr indent="0" marL="0">
              <a:buNone/>
            </a:pPr>
            <a:r>
              <a:rPr lang="en-US" sz="1400" dirty="0">
                <a:solidFill>
                  <a:srgbClr val="8E9BAA"/>
                </a:solidFill>
                <a:latin typeface="Calibri" pitchFamily="34" charset="0"/>
                <a:ea typeface="Calibri" pitchFamily="34" charset="-122"/>
                <a:cs typeface="Calibri" pitchFamily="34" charset="-120"/>
              </a:rPr>
              <a:t>from cached results.</a:t>
            </a:r>
            <a:endParaRPr lang="en-US" sz="14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03 / BUILT INCREMENTALLY</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LEVEL 0 → LEVEL 5</a:t>
            </a:r>
            <a:endParaRPr lang="en-US" sz="3400" dirty="0"/>
          </a:p>
        </p:txBody>
      </p:sp>
      <p:sp>
        <p:nvSpPr>
          <p:cNvPr id="5" name="Shape 2"/>
          <p:cNvSpPr/>
          <p:nvPr/>
        </p:nvSpPr>
        <p:spPr>
          <a:xfrm>
            <a:off x="548640" y="3657600"/>
            <a:ext cx="1755648" cy="2514600"/>
          </a:xfrm>
          <a:prstGeom prst="rect">
            <a:avLst/>
          </a:prstGeom>
          <a:solidFill>
            <a:srgbClr val="121923"/>
          </a:solidFill>
          <a:ln w="9525">
            <a:solidFill>
              <a:srgbClr val="263241"/>
            </a:solidFill>
            <a:prstDash val="solid"/>
          </a:ln>
        </p:spPr>
      </p:sp>
      <p:sp>
        <p:nvSpPr>
          <p:cNvPr id="6" name="Text 3"/>
          <p:cNvSpPr txBox="1"/>
          <p:nvPr/>
        </p:nvSpPr>
        <p:spPr>
          <a:xfrm>
            <a:off x="685800" y="3767328"/>
            <a:ext cx="1481328" cy="274320"/>
          </a:xfrm>
          <a:prstGeom prst="rect">
            <a:avLst/>
          </a:prstGeom>
          <a:noFill/>
          <a:ln/>
        </p:spPr>
        <p:txBody>
          <a:bodyPr wrap="square" lIns="0" tIns="0" rIns="0" bIns="0" rtlCol="0" anchor="t"/>
          <a:lstStyle/>
          <a:p>
            <a:pPr indent="0" marL="0">
              <a:buNone/>
            </a:pPr>
            <a:r>
              <a:rPr lang="en-US" sz="1200" b="1" dirty="0">
                <a:solidFill>
                  <a:srgbClr val="3FD0C0"/>
                </a:solidFill>
                <a:latin typeface="Consolas" pitchFamily="34" charset="0"/>
                <a:ea typeface="Consolas" pitchFamily="34" charset="-122"/>
                <a:cs typeface="Consolas" pitchFamily="34" charset="-120"/>
              </a:rPr>
              <a:t>LEVEL 0</a:t>
            </a:r>
            <a:endParaRPr lang="en-US" sz="1200" dirty="0"/>
          </a:p>
        </p:txBody>
      </p:sp>
      <p:sp>
        <p:nvSpPr>
          <p:cNvPr id="7" name="Text 4"/>
          <p:cNvSpPr txBox="1"/>
          <p:nvPr/>
        </p:nvSpPr>
        <p:spPr>
          <a:xfrm>
            <a:off x="685800" y="4041648"/>
            <a:ext cx="1481328" cy="548640"/>
          </a:xfrm>
          <a:prstGeom prst="rect">
            <a:avLst/>
          </a:prstGeom>
          <a:noFill/>
          <a:ln/>
        </p:spPr>
        <p:txBody>
          <a:bodyPr wrap="square" lIns="0" tIns="0" rIns="0" bIns="0" rtlCol="0" anchor="t"/>
          <a:lstStyle/>
          <a:p>
            <a:pPr indent="0" marL="0">
              <a:buNone/>
            </a:pPr>
            <a:r>
              <a:rPr lang="en-US" sz="1500" b="1" dirty="0">
                <a:solidFill>
                  <a:srgbClr val="E8ECEF"/>
                </a:solidFill>
                <a:latin typeface="Calibri" pitchFamily="34" charset="0"/>
                <a:ea typeface="Calibri" pitchFamily="34" charset="-122"/>
                <a:cs typeface="Calibri" pitchFamily="34" charset="-120"/>
              </a:rPr>
              <a:t>Bring-up</a:t>
            </a:r>
            <a:endParaRPr lang="en-US" sz="1500" dirty="0"/>
          </a:p>
        </p:txBody>
      </p:sp>
      <p:sp>
        <p:nvSpPr>
          <p:cNvPr id="8" name="Text 5"/>
          <p:cNvSpPr txBox="1"/>
          <p:nvPr/>
        </p:nvSpPr>
        <p:spPr>
          <a:xfrm>
            <a:off x="685800" y="4663440"/>
            <a:ext cx="1481328" cy="502920"/>
          </a:xfrm>
          <a:prstGeom prst="rect">
            <a:avLst/>
          </a:prstGeom>
          <a:noFill/>
          <a:ln/>
        </p:spPr>
        <p:txBody>
          <a:bodyPr wrap="square" lIns="0" tIns="0" rIns="0" bIns="0" rtlCol="0" anchor="t"/>
          <a:lstStyle/>
          <a:p>
            <a:pPr indent="0" marL="0">
              <a:buNone/>
            </a:pPr>
            <a:r>
              <a:rPr lang="en-US" sz="1200" dirty="0">
                <a:solidFill>
                  <a:srgbClr val="8E9BAA"/>
                </a:solidFill>
                <a:latin typeface="Calibri" pitchFamily="34" charset="0"/>
                <a:ea typeface="Calibri" pitchFamily="34" charset="-122"/>
                <a:cs typeface="Calibri" pitchFamily="34" charset="-120"/>
              </a:rPr>
              <a:t>serial parser · cycle counter</a:t>
            </a:r>
            <a:endParaRPr lang="en-US" sz="1200" dirty="0"/>
          </a:p>
        </p:txBody>
      </p:sp>
      <p:sp>
        <p:nvSpPr>
          <p:cNvPr id="9" name="Text 6"/>
          <p:cNvSpPr txBox="1"/>
          <p:nvPr/>
        </p:nvSpPr>
        <p:spPr>
          <a:xfrm>
            <a:off x="685800" y="5532120"/>
            <a:ext cx="1481328" cy="256032"/>
          </a:xfrm>
          <a:prstGeom prst="rect">
            <a:avLst/>
          </a:prstGeom>
          <a:noFill/>
          <a:ln/>
        </p:spPr>
        <p:txBody>
          <a:bodyPr wrap="square" lIns="0" tIns="0" rIns="0" bIns="0" rtlCol="0" anchor="t"/>
          <a:lstStyle/>
          <a:p>
            <a:pPr indent="0" marL="0">
              <a:buNone/>
            </a:pPr>
            <a:r>
              <a:rPr lang="en-US" sz="1300" b="1" dirty="0">
                <a:solidFill>
                  <a:srgbClr val="E8ECEF"/>
                </a:solidFill>
                <a:latin typeface="Consolas" pitchFamily="34" charset="0"/>
                <a:ea typeface="Consolas" pitchFamily="34" charset="-122"/>
                <a:cs typeface="Consolas" pitchFamily="34" charset="-120"/>
              </a:rPr>
              <a:t>RAM  44 B</a:t>
            </a:r>
            <a:endParaRPr lang="en-US" sz="1300" dirty="0"/>
          </a:p>
        </p:txBody>
      </p:sp>
      <p:sp>
        <p:nvSpPr>
          <p:cNvPr id="10" name="Text 7"/>
          <p:cNvSpPr txBox="1"/>
          <p:nvPr/>
        </p:nvSpPr>
        <p:spPr>
          <a:xfrm>
            <a:off x="685800" y="5824728"/>
            <a:ext cx="1481328" cy="256032"/>
          </a:xfrm>
          <a:prstGeom prst="rect">
            <a:avLst/>
          </a:prstGeom>
          <a:noFill/>
          <a:ln/>
        </p:spPr>
        <p:txBody>
          <a:bodyPr wrap="square" lIns="0" tIns="0" rIns="0" bIns="0" rtlCol="0" anchor="t"/>
          <a:lstStyle/>
          <a:p>
            <a:pPr indent="0" marL="0">
              <a:buNone/>
            </a:pPr>
            <a:r>
              <a:rPr lang="en-US" sz="1200" b="1" dirty="0">
                <a:solidFill>
                  <a:srgbClr val="FFB23F"/>
                </a:solidFill>
                <a:latin typeface="Consolas" pitchFamily="34" charset="0"/>
                <a:ea typeface="Consolas" pitchFamily="34" charset="-122"/>
                <a:cs typeface="Consolas" pitchFamily="34" charset="-120"/>
              </a:rPr>
              <a:t>cyc  903</a:t>
            </a:r>
            <a:endParaRPr lang="en-US" sz="1200" dirty="0"/>
          </a:p>
        </p:txBody>
      </p:sp>
      <p:sp>
        <p:nvSpPr>
          <p:cNvPr id="11" name="Shape 8"/>
          <p:cNvSpPr/>
          <p:nvPr/>
        </p:nvSpPr>
        <p:spPr>
          <a:xfrm>
            <a:off x="2410358" y="3291840"/>
            <a:ext cx="1755648" cy="2880360"/>
          </a:xfrm>
          <a:prstGeom prst="rect">
            <a:avLst/>
          </a:prstGeom>
          <a:solidFill>
            <a:srgbClr val="121923"/>
          </a:solidFill>
          <a:ln w="9525">
            <a:solidFill>
              <a:srgbClr val="263241"/>
            </a:solidFill>
            <a:prstDash val="solid"/>
          </a:ln>
        </p:spPr>
      </p:sp>
      <p:sp>
        <p:nvSpPr>
          <p:cNvPr id="12" name="Text 9"/>
          <p:cNvSpPr txBox="1"/>
          <p:nvPr/>
        </p:nvSpPr>
        <p:spPr>
          <a:xfrm>
            <a:off x="2547518" y="3401568"/>
            <a:ext cx="1481328" cy="274320"/>
          </a:xfrm>
          <a:prstGeom prst="rect">
            <a:avLst/>
          </a:prstGeom>
          <a:noFill/>
          <a:ln/>
        </p:spPr>
        <p:txBody>
          <a:bodyPr wrap="square" lIns="0" tIns="0" rIns="0" bIns="0" rtlCol="0" anchor="t"/>
          <a:lstStyle/>
          <a:p>
            <a:pPr indent="0" marL="0">
              <a:buNone/>
            </a:pPr>
            <a:r>
              <a:rPr lang="en-US" sz="1200" b="1" dirty="0">
                <a:solidFill>
                  <a:srgbClr val="3FD0C0"/>
                </a:solidFill>
                <a:latin typeface="Consolas" pitchFamily="34" charset="0"/>
                <a:ea typeface="Consolas" pitchFamily="34" charset="-122"/>
                <a:cs typeface="Consolas" pitchFamily="34" charset="-120"/>
              </a:rPr>
              <a:t>LEVEL 1</a:t>
            </a:r>
            <a:endParaRPr lang="en-US" sz="1200" dirty="0"/>
          </a:p>
        </p:txBody>
      </p:sp>
      <p:sp>
        <p:nvSpPr>
          <p:cNvPr id="13" name="Text 10"/>
          <p:cNvSpPr txBox="1"/>
          <p:nvPr/>
        </p:nvSpPr>
        <p:spPr>
          <a:xfrm>
            <a:off x="2547518" y="3675888"/>
            <a:ext cx="1481328" cy="548640"/>
          </a:xfrm>
          <a:prstGeom prst="rect">
            <a:avLst/>
          </a:prstGeom>
          <a:noFill/>
          <a:ln/>
        </p:spPr>
        <p:txBody>
          <a:bodyPr wrap="square" lIns="0" tIns="0" rIns="0" bIns="0" rtlCol="0" anchor="t"/>
          <a:lstStyle/>
          <a:p>
            <a:pPr indent="0" marL="0">
              <a:buNone/>
            </a:pPr>
            <a:r>
              <a:rPr lang="en-US" sz="1500" b="1" dirty="0">
                <a:solidFill>
                  <a:srgbClr val="E8ECEF"/>
                </a:solidFill>
                <a:latin typeface="Calibri" pitchFamily="34" charset="0"/>
                <a:ea typeface="Calibri" pitchFamily="34" charset="-122"/>
                <a:cs typeface="Calibri" pitchFamily="34" charset="-120"/>
              </a:rPr>
              <a:t>Descent +</a:t>
            </a:r>
            <a:endParaRPr lang="en-US" sz="1500" dirty="0"/>
          </a:p>
          <a:p>
            <a:pPr indent="0" marL="0">
              <a:buNone/>
            </a:pPr>
            <a:r>
              <a:rPr lang="en-US" sz="1500" b="1" dirty="0">
                <a:solidFill>
                  <a:srgbClr val="E8ECEF"/>
                </a:solidFill>
                <a:latin typeface="Calibri" pitchFamily="34" charset="0"/>
                <a:ea typeface="Calibri" pitchFamily="34" charset="-122"/>
                <a:cs typeface="Calibri" pitchFamily="34" charset="-120"/>
              </a:rPr>
              <a:t>Landing</a:t>
            </a:r>
            <a:endParaRPr lang="en-US" sz="1500" dirty="0"/>
          </a:p>
        </p:txBody>
      </p:sp>
      <p:sp>
        <p:nvSpPr>
          <p:cNvPr id="14" name="Text 11"/>
          <p:cNvSpPr txBox="1"/>
          <p:nvPr/>
        </p:nvSpPr>
        <p:spPr>
          <a:xfrm>
            <a:off x="2547518" y="4297680"/>
            <a:ext cx="1481328" cy="502920"/>
          </a:xfrm>
          <a:prstGeom prst="rect">
            <a:avLst/>
          </a:prstGeom>
          <a:noFill/>
          <a:ln/>
        </p:spPr>
        <p:txBody>
          <a:bodyPr wrap="square" lIns="0" tIns="0" rIns="0" bIns="0" rtlCol="0" anchor="t"/>
          <a:lstStyle/>
          <a:p>
            <a:pPr indent="0" marL="0">
              <a:buNone/>
            </a:pPr>
            <a:r>
              <a:rPr lang="en-US" sz="1200" dirty="0">
                <a:solidFill>
                  <a:srgbClr val="8E9BAA"/>
                </a:solidFill>
                <a:latin typeface="Calibri" pitchFamily="34" charset="0"/>
                <a:ea typeface="Calibri" pitchFamily="34" charset="-122"/>
                <a:cs typeface="Calibri" pitchFamily="34" charset="-120"/>
              </a:rPr>
              <a:t>online linear regression</a:t>
            </a:r>
            <a:endParaRPr lang="en-US" sz="1200" dirty="0"/>
          </a:p>
        </p:txBody>
      </p:sp>
      <p:sp>
        <p:nvSpPr>
          <p:cNvPr id="15" name="Text 12"/>
          <p:cNvSpPr txBox="1"/>
          <p:nvPr/>
        </p:nvSpPr>
        <p:spPr>
          <a:xfrm>
            <a:off x="2547518" y="5532120"/>
            <a:ext cx="1481328" cy="256032"/>
          </a:xfrm>
          <a:prstGeom prst="rect">
            <a:avLst/>
          </a:prstGeom>
          <a:noFill/>
          <a:ln/>
        </p:spPr>
        <p:txBody>
          <a:bodyPr wrap="square" lIns="0" tIns="0" rIns="0" bIns="0" rtlCol="0" anchor="t"/>
          <a:lstStyle/>
          <a:p>
            <a:pPr indent="0" marL="0">
              <a:buNone/>
            </a:pPr>
            <a:r>
              <a:rPr lang="en-US" sz="1300" b="1" dirty="0">
                <a:solidFill>
                  <a:srgbClr val="E8ECEF"/>
                </a:solidFill>
                <a:latin typeface="Consolas" pitchFamily="34" charset="0"/>
                <a:ea typeface="Consolas" pitchFamily="34" charset="-122"/>
                <a:cs typeface="Consolas" pitchFamily="34" charset="-120"/>
              </a:rPr>
              <a:t>RAM  88 B</a:t>
            </a:r>
            <a:endParaRPr lang="en-US" sz="1300" dirty="0"/>
          </a:p>
        </p:txBody>
      </p:sp>
      <p:sp>
        <p:nvSpPr>
          <p:cNvPr id="16" name="Text 13"/>
          <p:cNvSpPr txBox="1"/>
          <p:nvPr/>
        </p:nvSpPr>
        <p:spPr>
          <a:xfrm>
            <a:off x="2547518" y="5824728"/>
            <a:ext cx="1481328" cy="256032"/>
          </a:xfrm>
          <a:prstGeom prst="rect">
            <a:avLst/>
          </a:prstGeom>
          <a:noFill/>
          <a:ln/>
        </p:spPr>
        <p:txBody>
          <a:bodyPr wrap="square" lIns="0" tIns="0" rIns="0" bIns="0" rtlCol="0" anchor="t"/>
          <a:lstStyle/>
          <a:p>
            <a:pPr indent="0" marL="0">
              <a:buNone/>
            </a:pPr>
            <a:r>
              <a:rPr lang="en-US" sz="1200" b="1" dirty="0">
                <a:solidFill>
                  <a:srgbClr val="FFB23F"/>
                </a:solidFill>
                <a:latin typeface="Consolas" pitchFamily="34" charset="0"/>
                <a:ea typeface="Consolas" pitchFamily="34" charset="-122"/>
                <a:cs typeface="Consolas" pitchFamily="34" charset="-120"/>
              </a:rPr>
              <a:t>cyc  992</a:t>
            </a:r>
            <a:endParaRPr lang="en-US" sz="1200" dirty="0"/>
          </a:p>
        </p:txBody>
      </p:sp>
      <p:sp>
        <p:nvSpPr>
          <p:cNvPr id="17" name="Shape 14"/>
          <p:cNvSpPr/>
          <p:nvPr/>
        </p:nvSpPr>
        <p:spPr>
          <a:xfrm>
            <a:off x="4272077" y="2926080"/>
            <a:ext cx="1755648" cy="3246120"/>
          </a:xfrm>
          <a:prstGeom prst="rect">
            <a:avLst/>
          </a:prstGeom>
          <a:solidFill>
            <a:srgbClr val="121923"/>
          </a:solidFill>
          <a:ln w="9525">
            <a:solidFill>
              <a:srgbClr val="263241"/>
            </a:solidFill>
            <a:prstDash val="solid"/>
          </a:ln>
        </p:spPr>
      </p:sp>
      <p:sp>
        <p:nvSpPr>
          <p:cNvPr id="18" name="Text 15"/>
          <p:cNvSpPr txBox="1"/>
          <p:nvPr/>
        </p:nvSpPr>
        <p:spPr>
          <a:xfrm>
            <a:off x="4409237" y="3035808"/>
            <a:ext cx="1481328" cy="274320"/>
          </a:xfrm>
          <a:prstGeom prst="rect">
            <a:avLst/>
          </a:prstGeom>
          <a:noFill/>
          <a:ln/>
        </p:spPr>
        <p:txBody>
          <a:bodyPr wrap="square" lIns="0" tIns="0" rIns="0" bIns="0" rtlCol="0" anchor="t"/>
          <a:lstStyle/>
          <a:p>
            <a:pPr indent="0" marL="0">
              <a:buNone/>
            </a:pPr>
            <a:r>
              <a:rPr lang="en-US" sz="1200" b="1" dirty="0">
                <a:solidFill>
                  <a:srgbClr val="3FD0C0"/>
                </a:solidFill>
                <a:latin typeface="Consolas" pitchFamily="34" charset="0"/>
                <a:ea typeface="Consolas" pitchFamily="34" charset="-122"/>
                <a:cs typeface="Consolas" pitchFamily="34" charset="-120"/>
              </a:rPr>
              <a:t>LEVEL 2</a:t>
            </a:r>
            <a:endParaRPr lang="en-US" sz="1200" dirty="0"/>
          </a:p>
        </p:txBody>
      </p:sp>
      <p:sp>
        <p:nvSpPr>
          <p:cNvPr id="19" name="Text 16"/>
          <p:cNvSpPr txBox="1"/>
          <p:nvPr/>
        </p:nvSpPr>
        <p:spPr>
          <a:xfrm>
            <a:off x="4409237" y="3310128"/>
            <a:ext cx="1481328" cy="548640"/>
          </a:xfrm>
          <a:prstGeom prst="rect">
            <a:avLst/>
          </a:prstGeom>
          <a:noFill/>
          <a:ln/>
        </p:spPr>
        <p:txBody>
          <a:bodyPr wrap="square" lIns="0" tIns="0" rIns="0" bIns="0" rtlCol="0" anchor="t"/>
          <a:lstStyle/>
          <a:p>
            <a:pPr indent="0" marL="0">
              <a:buNone/>
            </a:pPr>
            <a:r>
              <a:rPr lang="en-US" sz="1500" b="1" dirty="0">
                <a:solidFill>
                  <a:srgbClr val="E8ECEF"/>
                </a:solidFill>
                <a:latin typeface="Calibri" pitchFamily="34" charset="0"/>
                <a:ea typeface="Calibri" pitchFamily="34" charset="-122"/>
                <a:cs typeface="Calibri" pitchFamily="34" charset="-120"/>
              </a:rPr>
              <a:t>Gravity +</a:t>
            </a:r>
            <a:endParaRPr lang="en-US" sz="1500" dirty="0"/>
          </a:p>
          <a:p>
            <a:pPr indent="0" marL="0">
              <a:buNone/>
            </a:pPr>
            <a:r>
              <a:rPr lang="en-US" sz="1500" b="1" dirty="0">
                <a:solidFill>
                  <a:srgbClr val="E8ECEF"/>
                </a:solidFill>
                <a:latin typeface="Calibri" pitchFamily="34" charset="0"/>
                <a:ea typeface="Calibri" pitchFamily="34" charset="-122"/>
                <a:cs typeface="Calibri" pitchFamily="34" charset="-120"/>
              </a:rPr>
              <a:t>Apogee</a:t>
            </a:r>
            <a:endParaRPr lang="en-US" sz="1500" dirty="0"/>
          </a:p>
        </p:txBody>
      </p:sp>
      <p:sp>
        <p:nvSpPr>
          <p:cNvPr id="20" name="Text 17"/>
          <p:cNvSpPr txBox="1"/>
          <p:nvPr/>
        </p:nvSpPr>
        <p:spPr>
          <a:xfrm>
            <a:off x="4409237" y="3931920"/>
            <a:ext cx="1481328" cy="502920"/>
          </a:xfrm>
          <a:prstGeom prst="rect">
            <a:avLst/>
          </a:prstGeom>
          <a:noFill/>
          <a:ln/>
        </p:spPr>
        <p:txBody>
          <a:bodyPr wrap="square" lIns="0" tIns="0" rIns="0" bIns="0" rtlCol="0" anchor="t"/>
          <a:lstStyle/>
          <a:p>
            <a:pPr indent="0" marL="0">
              <a:buNone/>
            </a:pPr>
            <a:r>
              <a:rPr lang="en-US" sz="1200" dirty="0">
                <a:solidFill>
                  <a:srgbClr val="8E9BAA"/>
                </a:solidFill>
                <a:latin typeface="Calibri" pitchFamily="34" charset="0"/>
                <a:ea typeface="Calibri" pitchFamily="34" charset="-122"/>
                <a:cs typeface="Calibri" pitchFamily="34" charset="-120"/>
              </a:rPr>
              <a:t>parabolic fit · int64 sums</a:t>
            </a:r>
            <a:endParaRPr lang="en-US" sz="1200" dirty="0"/>
          </a:p>
        </p:txBody>
      </p:sp>
      <p:sp>
        <p:nvSpPr>
          <p:cNvPr id="21" name="Text 18"/>
          <p:cNvSpPr txBox="1"/>
          <p:nvPr/>
        </p:nvSpPr>
        <p:spPr>
          <a:xfrm>
            <a:off x="4409237" y="5532120"/>
            <a:ext cx="1481328" cy="256032"/>
          </a:xfrm>
          <a:prstGeom prst="rect">
            <a:avLst/>
          </a:prstGeom>
          <a:noFill/>
          <a:ln/>
        </p:spPr>
        <p:txBody>
          <a:bodyPr wrap="square" lIns="0" tIns="0" rIns="0" bIns="0" rtlCol="0" anchor="t"/>
          <a:lstStyle/>
          <a:p>
            <a:pPr indent="0" marL="0">
              <a:buNone/>
            </a:pPr>
            <a:r>
              <a:rPr lang="en-US" sz="1300" b="1" dirty="0">
                <a:solidFill>
                  <a:srgbClr val="E8ECEF"/>
                </a:solidFill>
                <a:latin typeface="Consolas" pitchFamily="34" charset="0"/>
                <a:ea typeface="Consolas" pitchFamily="34" charset="-122"/>
                <a:cs typeface="Consolas" pitchFamily="34" charset="-120"/>
              </a:rPr>
              <a:t>RAM  136 B</a:t>
            </a:r>
            <a:endParaRPr lang="en-US" sz="1300" dirty="0"/>
          </a:p>
        </p:txBody>
      </p:sp>
      <p:sp>
        <p:nvSpPr>
          <p:cNvPr id="22" name="Text 19"/>
          <p:cNvSpPr txBox="1"/>
          <p:nvPr/>
        </p:nvSpPr>
        <p:spPr>
          <a:xfrm>
            <a:off x="4409237" y="5824728"/>
            <a:ext cx="1481328" cy="256032"/>
          </a:xfrm>
          <a:prstGeom prst="rect">
            <a:avLst/>
          </a:prstGeom>
          <a:noFill/>
          <a:ln/>
        </p:spPr>
        <p:txBody>
          <a:bodyPr wrap="square" lIns="0" tIns="0" rIns="0" bIns="0" rtlCol="0" anchor="t"/>
          <a:lstStyle/>
          <a:p>
            <a:pPr indent="0" marL="0">
              <a:buNone/>
            </a:pPr>
            <a:r>
              <a:rPr lang="en-US" sz="1200" b="1" dirty="0">
                <a:solidFill>
                  <a:srgbClr val="FFB23F"/>
                </a:solidFill>
                <a:latin typeface="Consolas" pitchFamily="34" charset="0"/>
                <a:ea typeface="Consolas" pitchFamily="34" charset="-122"/>
                <a:cs typeface="Consolas" pitchFamily="34" charset="-120"/>
              </a:rPr>
              <a:t>cyc  2404 / 3343</a:t>
            </a:r>
            <a:endParaRPr lang="en-US" sz="1200" dirty="0"/>
          </a:p>
        </p:txBody>
      </p:sp>
      <p:sp>
        <p:nvSpPr>
          <p:cNvPr id="23" name="Shape 20"/>
          <p:cNvSpPr/>
          <p:nvPr/>
        </p:nvSpPr>
        <p:spPr>
          <a:xfrm>
            <a:off x="6133795" y="2560320"/>
            <a:ext cx="1755648" cy="3611880"/>
          </a:xfrm>
          <a:prstGeom prst="rect">
            <a:avLst/>
          </a:prstGeom>
          <a:solidFill>
            <a:srgbClr val="121923"/>
          </a:solidFill>
          <a:ln w="9525">
            <a:solidFill>
              <a:srgbClr val="263241"/>
            </a:solidFill>
            <a:prstDash val="solid"/>
          </a:ln>
        </p:spPr>
      </p:sp>
      <p:sp>
        <p:nvSpPr>
          <p:cNvPr id="24" name="Text 21"/>
          <p:cNvSpPr txBox="1"/>
          <p:nvPr/>
        </p:nvSpPr>
        <p:spPr>
          <a:xfrm>
            <a:off x="6270955" y="2670048"/>
            <a:ext cx="1481328" cy="274320"/>
          </a:xfrm>
          <a:prstGeom prst="rect">
            <a:avLst/>
          </a:prstGeom>
          <a:noFill/>
          <a:ln/>
        </p:spPr>
        <p:txBody>
          <a:bodyPr wrap="square" lIns="0" tIns="0" rIns="0" bIns="0" rtlCol="0" anchor="t"/>
          <a:lstStyle/>
          <a:p>
            <a:pPr indent="0" marL="0">
              <a:buNone/>
            </a:pPr>
            <a:r>
              <a:rPr lang="en-US" sz="1200" b="1" dirty="0">
                <a:solidFill>
                  <a:srgbClr val="3FD0C0"/>
                </a:solidFill>
                <a:latin typeface="Consolas" pitchFamily="34" charset="0"/>
                <a:ea typeface="Consolas" pitchFamily="34" charset="-122"/>
                <a:cs typeface="Consolas" pitchFamily="34" charset="-120"/>
              </a:rPr>
              <a:t>LEVEL 3</a:t>
            </a:r>
            <a:endParaRPr lang="en-US" sz="1200" dirty="0"/>
          </a:p>
        </p:txBody>
      </p:sp>
      <p:sp>
        <p:nvSpPr>
          <p:cNvPr id="25" name="Text 22"/>
          <p:cNvSpPr txBox="1"/>
          <p:nvPr/>
        </p:nvSpPr>
        <p:spPr>
          <a:xfrm>
            <a:off x="6270955" y="2944368"/>
            <a:ext cx="1481328" cy="548640"/>
          </a:xfrm>
          <a:prstGeom prst="rect">
            <a:avLst/>
          </a:prstGeom>
          <a:noFill/>
          <a:ln/>
        </p:spPr>
        <p:txBody>
          <a:bodyPr wrap="square" lIns="0" tIns="0" rIns="0" bIns="0" rtlCol="0" anchor="t"/>
          <a:lstStyle/>
          <a:p>
            <a:pPr indent="0" marL="0">
              <a:buNone/>
            </a:pPr>
            <a:r>
              <a:rPr lang="en-US" sz="1500" b="1" dirty="0">
                <a:solidFill>
                  <a:srgbClr val="E8ECEF"/>
                </a:solidFill>
                <a:latin typeface="Calibri" pitchFamily="34" charset="0"/>
                <a:ea typeface="Calibri" pitchFamily="34" charset="-122"/>
                <a:cs typeface="Calibri" pitchFamily="34" charset="-120"/>
              </a:rPr>
              <a:t>Compression +</a:t>
            </a:r>
            <a:endParaRPr lang="en-US" sz="1500" dirty="0"/>
          </a:p>
          <a:p>
            <a:pPr indent="0" marL="0">
              <a:buNone/>
            </a:pPr>
            <a:r>
              <a:rPr lang="en-US" sz="1500" b="1" dirty="0">
                <a:solidFill>
                  <a:srgbClr val="E8ECEF"/>
                </a:solidFill>
                <a:latin typeface="Calibri" pitchFamily="34" charset="0"/>
                <a:ea typeface="Calibri" pitchFamily="34" charset="-122"/>
                <a:cs typeface="Calibri" pitchFamily="34" charset="-120"/>
              </a:rPr>
              <a:t>Deployment</a:t>
            </a:r>
            <a:endParaRPr lang="en-US" sz="1500" dirty="0"/>
          </a:p>
        </p:txBody>
      </p:sp>
      <p:sp>
        <p:nvSpPr>
          <p:cNvPr id="26" name="Text 23"/>
          <p:cNvSpPr txBox="1"/>
          <p:nvPr/>
        </p:nvSpPr>
        <p:spPr>
          <a:xfrm>
            <a:off x="6270955" y="3566160"/>
            <a:ext cx="1481328" cy="502920"/>
          </a:xfrm>
          <a:prstGeom prst="rect">
            <a:avLst/>
          </a:prstGeom>
          <a:noFill/>
          <a:ln/>
        </p:spPr>
        <p:txBody>
          <a:bodyPr wrap="square" lIns="0" tIns="0" rIns="0" bIns="0" rtlCol="0" anchor="t"/>
          <a:lstStyle/>
          <a:p>
            <a:pPr indent="0" marL="0">
              <a:buNone/>
            </a:pPr>
            <a:r>
              <a:rPr lang="en-US" sz="1200" dirty="0">
                <a:solidFill>
                  <a:srgbClr val="8E9BAA"/>
                </a:solidFill>
                <a:latin typeface="Calibri" pitchFamily="34" charset="0"/>
                <a:ea typeface="Calibri" pitchFamily="34" charset="-122"/>
                <a:cs typeface="Calibri" pitchFamily="34" charset="-120"/>
              </a:rPr>
              <a:t>100 blocks · curve intersection</a:t>
            </a:r>
            <a:endParaRPr lang="en-US" sz="1200" dirty="0"/>
          </a:p>
        </p:txBody>
      </p:sp>
      <p:sp>
        <p:nvSpPr>
          <p:cNvPr id="27" name="Text 24"/>
          <p:cNvSpPr txBox="1"/>
          <p:nvPr/>
        </p:nvSpPr>
        <p:spPr>
          <a:xfrm>
            <a:off x="6270955" y="5532120"/>
            <a:ext cx="1481328" cy="256032"/>
          </a:xfrm>
          <a:prstGeom prst="rect">
            <a:avLst/>
          </a:prstGeom>
          <a:noFill/>
          <a:ln/>
        </p:spPr>
        <p:txBody>
          <a:bodyPr wrap="square" lIns="0" tIns="0" rIns="0" bIns="0" rtlCol="0" anchor="t"/>
          <a:lstStyle/>
          <a:p>
            <a:pPr indent="0" marL="0">
              <a:buNone/>
            </a:pPr>
            <a:r>
              <a:rPr lang="en-US" sz="1300" b="1" dirty="0">
                <a:solidFill>
                  <a:srgbClr val="E8ECEF"/>
                </a:solidFill>
                <a:latin typeface="Consolas" pitchFamily="34" charset="0"/>
                <a:ea typeface="Consolas" pitchFamily="34" charset="-122"/>
                <a:cs typeface="Consolas" pitchFamily="34" charset="-120"/>
              </a:rPr>
              <a:t>RAM  2096 B</a:t>
            </a:r>
            <a:endParaRPr lang="en-US" sz="1300" dirty="0"/>
          </a:p>
        </p:txBody>
      </p:sp>
      <p:sp>
        <p:nvSpPr>
          <p:cNvPr id="28" name="Text 25"/>
          <p:cNvSpPr txBox="1"/>
          <p:nvPr/>
        </p:nvSpPr>
        <p:spPr>
          <a:xfrm>
            <a:off x="6270955" y="5824728"/>
            <a:ext cx="1481328" cy="256032"/>
          </a:xfrm>
          <a:prstGeom prst="rect">
            <a:avLst/>
          </a:prstGeom>
          <a:noFill/>
          <a:ln/>
        </p:spPr>
        <p:txBody>
          <a:bodyPr wrap="square" lIns="0" tIns="0" rIns="0" bIns="0" rtlCol="0" anchor="t"/>
          <a:lstStyle/>
          <a:p>
            <a:pPr indent="0" marL="0">
              <a:buNone/>
            </a:pPr>
            <a:r>
              <a:rPr lang="en-US" sz="1200" b="1" dirty="0">
                <a:solidFill>
                  <a:srgbClr val="FFB23F"/>
                </a:solidFill>
                <a:latin typeface="Consolas" pitchFamily="34" charset="0"/>
                <a:ea typeface="Consolas" pitchFamily="34" charset="-122"/>
                <a:cs typeface="Consolas" pitchFamily="34" charset="-120"/>
              </a:rPr>
              <a:t>cyc  2662</a:t>
            </a:r>
            <a:endParaRPr lang="en-US" sz="1200" dirty="0"/>
          </a:p>
        </p:txBody>
      </p:sp>
      <p:sp>
        <p:nvSpPr>
          <p:cNvPr id="29" name="Shape 26"/>
          <p:cNvSpPr/>
          <p:nvPr/>
        </p:nvSpPr>
        <p:spPr>
          <a:xfrm>
            <a:off x="7995514" y="2194560"/>
            <a:ext cx="1755648" cy="3977640"/>
          </a:xfrm>
          <a:prstGeom prst="rect">
            <a:avLst/>
          </a:prstGeom>
          <a:solidFill>
            <a:srgbClr val="121923"/>
          </a:solidFill>
          <a:ln w="9525">
            <a:solidFill>
              <a:srgbClr val="263241"/>
            </a:solidFill>
            <a:prstDash val="solid"/>
          </a:ln>
        </p:spPr>
      </p:sp>
      <p:sp>
        <p:nvSpPr>
          <p:cNvPr id="30" name="Text 27"/>
          <p:cNvSpPr txBox="1"/>
          <p:nvPr/>
        </p:nvSpPr>
        <p:spPr>
          <a:xfrm>
            <a:off x="8132674" y="2304288"/>
            <a:ext cx="1481328" cy="274320"/>
          </a:xfrm>
          <a:prstGeom prst="rect">
            <a:avLst/>
          </a:prstGeom>
          <a:noFill/>
          <a:ln/>
        </p:spPr>
        <p:txBody>
          <a:bodyPr wrap="square" lIns="0" tIns="0" rIns="0" bIns="0" rtlCol="0" anchor="t"/>
          <a:lstStyle/>
          <a:p>
            <a:pPr indent="0" marL="0">
              <a:buNone/>
            </a:pPr>
            <a:r>
              <a:rPr lang="en-US" sz="1200" b="1" dirty="0">
                <a:solidFill>
                  <a:srgbClr val="3FD0C0"/>
                </a:solidFill>
                <a:latin typeface="Consolas" pitchFamily="34" charset="0"/>
                <a:ea typeface="Consolas" pitchFamily="34" charset="-122"/>
                <a:cs typeface="Consolas" pitchFamily="34" charset="-120"/>
              </a:rPr>
              <a:t>LEVEL 4</a:t>
            </a:r>
            <a:endParaRPr lang="en-US" sz="1200" dirty="0"/>
          </a:p>
        </p:txBody>
      </p:sp>
      <p:sp>
        <p:nvSpPr>
          <p:cNvPr id="31" name="Text 28"/>
          <p:cNvSpPr txBox="1"/>
          <p:nvPr/>
        </p:nvSpPr>
        <p:spPr>
          <a:xfrm>
            <a:off x="8132674" y="2578608"/>
            <a:ext cx="1481328" cy="548640"/>
          </a:xfrm>
          <a:prstGeom prst="rect">
            <a:avLst/>
          </a:prstGeom>
          <a:noFill/>
          <a:ln/>
        </p:spPr>
        <p:txBody>
          <a:bodyPr wrap="square" lIns="0" tIns="0" rIns="0" bIns="0" rtlCol="0" anchor="t"/>
          <a:lstStyle/>
          <a:p>
            <a:pPr indent="0" marL="0">
              <a:buNone/>
            </a:pPr>
            <a:r>
              <a:rPr lang="en-US" sz="1500" b="1" dirty="0">
                <a:solidFill>
                  <a:srgbClr val="E8ECEF"/>
                </a:solidFill>
                <a:latin typeface="Calibri" pitchFamily="34" charset="0"/>
                <a:ea typeface="Calibri" pitchFamily="34" charset="-122"/>
                <a:cs typeface="Calibri" pitchFamily="34" charset="-120"/>
              </a:rPr>
              <a:t>Glitch</a:t>
            </a:r>
            <a:endParaRPr lang="en-US" sz="1500" dirty="0"/>
          </a:p>
          <a:p>
            <a:pPr indent="0" marL="0">
              <a:buNone/>
            </a:pPr>
            <a:r>
              <a:rPr lang="en-US" sz="1500" b="1" dirty="0">
                <a:solidFill>
                  <a:srgbClr val="E8ECEF"/>
                </a:solidFill>
                <a:latin typeface="Calibri" pitchFamily="34" charset="0"/>
                <a:ea typeface="Calibri" pitchFamily="34" charset="-122"/>
                <a:cs typeface="Calibri" pitchFamily="34" charset="-120"/>
              </a:rPr>
              <a:t>Rejection</a:t>
            </a:r>
            <a:endParaRPr lang="en-US" sz="1500" dirty="0"/>
          </a:p>
        </p:txBody>
      </p:sp>
      <p:sp>
        <p:nvSpPr>
          <p:cNvPr id="32" name="Text 29"/>
          <p:cNvSpPr txBox="1"/>
          <p:nvPr/>
        </p:nvSpPr>
        <p:spPr>
          <a:xfrm>
            <a:off x="8132674" y="3200400"/>
            <a:ext cx="1481328" cy="502920"/>
          </a:xfrm>
          <a:prstGeom prst="rect">
            <a:avLst/>
          </a:prstGeom>
          <a:noFill/>
          <a:ln/>
        </p:spPr>
        <p:txBody>
          <a:bodyPr wrap="square" lIns="0" tIns="0" rIns="0" bIns="0" rtlCol="0" anchor="t"/>
          <a:lstStyle/>
          <a:p>
            <a:pPr indent="0" marL="0">
              <a:buNone/>
            </a:pPr>
            <a:r>
              <a:rPr lang="en-US" sz="1200" dirty="0">
                <a:solidFill>
                  <a:srgbClr val="8E9BAA"/>
                </a:solidFill>
                <a:latin typeface="Calibri" pitchFamily="34" charset="0"/>
                <a:ea typeface="Calibri" pitchFamily="34" charset="-122"/>
                <a:cs typeface="Calibri" pitchFamily="34" charset="-120"/>
              </a:rPr>
              <a:t>median-5 · 2048 B ring buffer</a:t>
            </a:r>
            <a:endParaRPr lang="en-US" sz="1200" dirty="0"/>
          </a:p>
        </p:txBody>
      </p:sp>
      <p:sp>
        <p:nvSpPr>
          <p:cNvPr id="33" name="Text 30"/>
          <p:cNvSpPr txBox="1"/>
          <p:nvPr/>
        </p:nvSpPr>
        <p:spPr>
          <a:xfrm>
            <a:off x="8132674" y="5532120"/>
            <a:ext cx="1481328" cy="256032"/>
          </a:xfrm>
          <a:prstGeom prst="rect">
            <a:avLst/>
          </a:prstGeom>
          <a:noFill/>
          <a:ln/>
        </p:spPr>
        <p:txBody>
          <a:bodyPr wrap="square" lIns="0" tIns="0" rIns="0" bIns="0" rtlCol="0" anchor="t"/>
          <a:lstStyle/>
          <a:p>
            <a:pPr indent="0" marL="0">
              <a:buNone/>
            </a:pPr>
            <a:r>
              <a:rPr lang="en-US" sz="1300" b="1" dirty="0">
                <a:solidFill>
                  <a:srgbClr val="E8ECEF"/>
                </a:solidFill>
                <a:latin typeface="Consolas" pitchFamily="34" charset="0"/>
                <a:ea typeface="Consolas" pitchFamily="34" charset="-122"/>
                <a:cs typeface="Consolas" pitchFamily="34" charset="-120"/>
              </a:rPr>
              <a:t>RAM  2336 B</a:t>
            </a:r>
            <a:endParaRPr lang="en-US" sz="1300" dirty="0"/>
          </a:p>
        </p:txBody>
      </p:sp>
      <p:sp>
        <p:nvSpPr>
          <p:cNvPr id="34" name="Text 31"/>
          <p:cNvSpPr txBox="1"/>
          <p:nvPr/>
        </p:nvSpPr>
        <p:spPr>
          <a:xfrm>
            <a:off x="8132674" y="5824728"/>
            <a:ext cx="1481328" cy="256032"/>
          </a:xfrm>
          <a:prstGeom prst="rect">
            <a:avLst/>
          </a:prstGeom>
          <a:noFill/>
          <a:ln/>
        </p:spPr>
        <p:txBody>
          <a:bodyPr wrap="square" lIns="0" tIns="0" rIns="0" bIns="0" rtlCol="0" anchor="t"/>
          <a:lstStyle/>
          <a:p>
            <a:pPr indent="0" marL="0">
              <a:buNone/>
            </a:pPr>
            <a:r>
              <a:rPr lang="en-US" sz="1200" b="1" dirty="0">
                <a:solidFill>
                  <a:srgbClr val="FFB23F"/>
                </a:solidFill>
                <a:latin typeface="Consolas" pitchFamily="34" charset="0"/>
                <a:ea typeface="Consolas" pitchFamily="34" charset="-122"/>
                <a:cs typeface="Consolas" pitchFamily="34" charset="-120"/>
              </a:rPr>
              <a:t>cyc  6416 / 6501</a:t>
            </a:r>
            <a:endParaRPr lang="en-US" sz="1200" dirty="0"/>
          </a:p>
        </p:txBody>
      </p:sp>
      <p:sp>
        <p:nvSpPr>
          <p:cNvPr id="35" name="Shape 32"/>
          <p:cNvSpPr/>
          <p:nvPr/>
        </p:nvSpPr>
        <p:spPr>
          <a:xfrm>
            <a:off x="9857232" y="1828800"/>
            <a:ext cx="1755648" cy="4343400"/>
          </a:xfrm>
          <a:prstGeom prst="rect">
            <a:avLst/>
          </a:prstGeom>
          <a:solidFill>
            <a:srgbClr val="10312F"/>
          </a:solidFill>
          <a:ln w="15875">
            <a:solidFill>
              <a:srgbClr val="3FD0C0"/>
            </a:solidFill>
            <a:prstDash val="solid"/>
          </a:ln>
        </p:spPr>
      </p:sp>
      <p:sp>
        <p:nvSpPr>
          <p:cNvPr id="36" name="Text 33"/>
          <p:cNvSpPr txBox="1"/>
          <p:nvPr/>
        </p:nvSpPr>
        <p:spPr>
          <a:xfrm>
            <a:off x="9994392" y="1938528"/>
            <a:ext cx="1481328" cy="274320"/>
          </a:xfrm>
          <a:prstGeom prst="rect">
            <a:avLst/>
          </a:prstGeom>
          <a:noFill/>
          <a:ln/>
        </p:spPr>
        <p:txBody>
          <a:bodyPr wrap="square" lIns="0" tIns="0" rIns="0" bIns="0" rtlCol="0" anchor="t"/>
          <a:lstStyle/>
          <a:p>
            <a:pPr indent="0" marL="0">
              <a:buNone/>
            </a:pPr>
            <a:r>
              <a:rPr lang="en-US" sz="1200" b="1" dirty="0">
                <a:solidFill>
                  <a:srgbClr val="3FD0C0"/>
                </a:solidFill>
                <a:latin typeface="Consolas" pitchFamily="34" charset="0"/>
                <a:ea typeface="Consolas" pitchFamily="34" charset="-122"/>
                <a:cs typeface="Consolas" pitchFamily="34" charset="-120"/>
              </a:rPr>
              <a:t>LEVEL 5</a:t>
            </a:r>
            <a:endParaRPr lang="en-US" sz="1200" dirty="0"/>
          </a:p>
        </p:txBody>
      </p:sp>
      <p:sp>
        <p:nvSpPr>
          <p:cNvPr id="37" name="Text 34"/>
          <p:cNvSpPr txBox="1"/>
          <p:nvPr/>
        </p:nvSpPr>
        <p:spPr>
          <a:xfrm>
            <a:off x="9994392" y="2212848"/>
            <a:ext cx="1481328" cy="548640"/>
          </a:xfrm>
          <a:prstGeom prst="rect">
            <a:avLst/>
          </a:prstGeom>
          <a:noFill/>
          <a:ln/>
        </p:spPr>
        <p:txBody>
          <a:bodyPr wrap="square" lIns="0" tIns="0" rIns="0" bIns="0" rtlCol="0" anchor="t"/>
          <a:lstStyle/>
          <a:p>
            <a:pPr indent="0" marL="0">
              <a:buNone/>
            </a:pPr>
            <a:r>
              <a:rPr lang="en-US" sz="1500" b="1" dirty="0">
                <a:solidFill>
                  <a:srgbClr val="E8ECEF"/>
                </a:solidFill>
                <a:latin typeface="Calibri" pitchFamily="34" charset="0"/>
                <a:ea typeface="Calibri" pitchFamily="34" charset="-122"/>
                <a:cs typeface="Calibri" pitchFamily="34" charset="-120"/>
              </a:rPr>
              <a:t>Optimization +</a:t>
            </a:r>
            <a:endParaRPr lang="en-US" sz="1500" dirty="0"/>
          </a:p>
          <a:p>
            <a:pPr indent="0" marL="0">
              <a:buNone/>
            </a:pPr>
            <a:r>
              <a:rPr lang="en-US" sz="1500" b="1" dirty="0">
                <a:solidFill>
                  <a:srgbClr val="E8ECEF"/>
                </a:solidFill>
                <a:latin typeface="Calibri" pitchFamily="34" charset="0"/>
                <a:ea typeface="Calibri" pitchFamily="34" charset="-122"/>
                <a:cs typeface="Calibri" pitchFamily="34" charset="-120"/>
              </a:rPr>
              <a:t>Code Freeze</a:t>
            </a:r>
            <a:endParaRPr lang="en-US" sz="1500" dirty="0"/>
          </a:p>
        </p:txBody>
      </p:sp>
      <p:sp>
        <p:nvSpPr>
          <p:cNvPr id="38" name="Text 35"/>
          <p:cNvSpPr txBox="1"/>
          <p:nvPr/>
        </p:nvSpPr>
        <p:spPr>
          <a:xfrm>
            <a:off x="9994392" y="2834640"/>
            <a:ext cx="1481328" cy="502920"/>
          </a:xfrm>
          <a:prstGeom prst="rect">
            <a:avLst/>
          </a:prstGeom>
          <a:noFill/>
          <a:ln/>
        </p:spPr>
        <p:txBody>
          <a:bodyPr wrap="square" lIns="0" tIns="0" rIns="0" bIns="0" rtlCol="0" anchor="t"/>
          <a:lstStyle/>
          <a:p>
            <a:pPr indent="0" marL="0">
              <a:buNone/>
            </a:pPr>
            <a:r>
              <a:rPr lang="en-US" sz="1200" dirty="0">
                <a:solidFill>
                  <a:srgbClr val="8E9BAA"/>
                </a:solidFill>
                <a:latin typeface="Calibri" pitchFamily="34" charset="0"/>
                <a:ea typeface="Calibri" pitchFamily="34" charset="-122"/>
                <a:cs typeface="Calibri" pitchFamily="34" charset="-120"/>
              </a:rPr>
              <a:t>closed-form sums · cached fit</a:t>
            </a:r>
            <a:endParaRPr lang="en-US" sz="1200" dirty="0"/>
          </a:p>
        </p:txBody>
      </p:sp>
      <p:sp>
        <p:nvSpPr>
          <p:cNvPr id="39" name="Text 36"/>
          <p:cNvSpPr txBox="1"/>
          <p:nvPr/>
        </p:nvSpPr>
        <p:spPr>
          <a:xfrm>
            <a:off x="9994392" y="5532120"/>
            <a:ext cx="1481328" cy="256032"/>
          </a:xfrm>
          <a:prstGeom prst="rect">
            <a:avLst/>
          </a:prstGeom>
          <a:noFill/>
          <a:ln/>
        </p:spPr>
        <p:txBody>
          <a:bodyPr wrap="square" lIns="0" tIns="0" rIns="0" bIns="0" rtlCol="0" anchor="t"/>
          <a:lstStyle/>
          <a:p>
            <a:pPr indent="0" marL="0">
              <a:buNone/>
            </a:pPr>
            <a:r>
              <a:rPr lang="en-US" sz="1300" b="1" dirty="0">
                <a:solidFill>
                  <a:srgbClr val="E8ECEF"/>
                </a:solidFill>
                <a:latin typeface="Consolas" pitchFamily="34" charset="0"/>
                <a:ea typeface="Consolas" pitchFamily="34" charset="-122"/>
                <a:cs typeface="Consolas" pitchFamily="34" charset="-120"/>
              </a:rPr>
              <a:t>RAM  2336 B</a:t>
            </a:r>
            <a:endParaRPr lang="en-US" sz="1300" dirty="0"/>
          </a:p>
        </p:txBody>
      </p:sp>
      <p:sp>
        <p:nvSpPr>
          <p:cNvPr id="40" name="Text 37"/>
          <p:cNvSpPr txBox="1"/>
          <p:nvPr/>
        </p:nvSpPr>
        <p:spPr>
          <a:xfrm>
            <a:off x="9994392" y="5824728"/>
            <a:ext cx="1481328" cy="256032"/>
          </a:xfrm>
          <a:prstGeom prst="rect">
            <a:avLst/>
          </a:prstGeom>
          <a:noFill/>
          <a:ln/>
        </p:spPr>
        <p:txBody>
          <a:bodyPr wrap="square" lIns="0" tIns="0" rIns="0" bIns="0" rtlCol="0" anchor="t"/>
          <a:lstStyle/>
          <a:p>
            <a:pPr indent="0" marL="0">
              <a:buNone/>
            </a:pPr>
            <a:r>
              <a:rPr lang="en-US" sz="1200" b="1" dirty="0">
                <a:solidFill>
                  <a:srgbClr val="FFB23F"/>
                </a:solidFill>
                <a:latin typeface="Consolas" pitchFamily="34" charset="0"/>
                <a:ea typeface="Consolas" pitchFamily="34" charset="-122"/>
                <a:cs typeface="Consolas" pitchFamily="34" charset="-120"/>
              </a:rPr>
              <a:t>cyc  6418 / 6502</a:t>
            </a:r>
            <a:endParaRPr lang="en-US" sz="1200" dirty="0"/>
          </a:p>
        </p:txBody>
      </p:sp>
      <p:sp>
        <p:nvSpPr>
          <p:cNvPr id="41" name="Text 38"/>
          <p:cNvSpPr txBox="1"/>
          <p:nvPr/>
        </p:nvSpPr>
        <p:spPr>
          <a:xfrm>
            <a:off x="548640" y="1325880"/>
            <a:ext cx="5486400" cy="274320"/>
          </a:xfrm>
          <a:prstGeom prst="rect">
            <a:avLst/>
          </a:prstGeom>
          <a:noFill/>
          <a:ln/>
        </p:spPr>
        <p:txBody>
          <a:bodyPr wrap="square" lIns="0" tIns="0" rIns="0" bIns="0" rtlCol="0" anchor="t"/>
          <a:lstStyle/>
          <a:p>
            <a:pPr indent="0" marL="0">
              <a:buNone/>
            </a:pPr>
            <a:r>
              <a:rPr lang="en-US" sz="1200" dirty="0">
                <a:solidFill>
                  <a:srgbClr val="8E9BAA"/>
                </a:solidFill>
                <a:latin typeface="Calibri" pitchFamily="34" charset="0"/>
                <a:ea typeface="Calibri" pitchFamily="34" charset="-122"/>
                <a:cs typeface="Calibri" pitchFamily="34" charset="-120"/>
              </a:rPr>
              <a:t>worst reading cycles: Official / Practice B</a:t>
            </a:r>
            <a:endParaRPr lang="en-US" sz="1200" dirty="0"/>
          </a:p>
        </p:txBody>
      </p:sp>
      <p:sp>
        <p:nvSpPr>
          <p:cNvPr id="42" name="Text 39"/>
          <p:cNvSpPr txBox="1"/>
          <p:nvPr/>
        </p:nvSpPr>
        <p:spPr>
          <a:xfrm>
            <a:off x="5760720" y="1325880"/>
            <a:ext cx="5852160" cy="274320"/>
          </a:xfrm>
          <a:prstGeom prst="rect">
            <a:avLst/>
          </a:prstGeom>
          <a:noFill/>
          <a:ln/>
        </p:spPr>
        <p:txBody>
          <a:bodyPr wrap="square" lIns="0" tIns="0" rIns="0" bIns="0" rtlCol="0" anchor="t"/>
          <a:lstStyle/>
          <a:p>
            <a:pPr algn="r" indent="0" marL="0">
              <a:buNone/>
            </a:pPr>
            <a:r>
              <a:rPr lang="en-US" sz="1300" b="1" dirty="0">
                <a:solidFill>
                  <a:srgbClr val="3FD0C0"/>
                </a:solidFill>
                <a:latin typeface="Consolas" pitchFamily="34" charset="0"/>
                <a:ea typeface="Consolas" pitchFamily="34" charset="-122"/>
                <a:cs typeface="Consolas" pitchFamily="34" charset="-120"/>
              </a:rPr>
              <a:t>FINAL LEVEL REACHED: 5  ·  verified on Official + Practice B</a:t>
            </a:r>
            <a:endParaRPr lang="en-US" sz="13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04 / THE MATH: ONE LINE, ONE PARABOLA</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TURNING A STREAM INTO TWO MODELS</a:t>
            </a:r>
            <a:endParaRPr lang="en-US" sz="3400" dirty="0"/>
          </a:p>
        </p:txBody>
      </p:sp>
      <p:sp>
        <p:nvSpPr>
          <p:cNvPr id="5" name="Text 2"/>
          <p:cNvSpPr txBox="1"/>
          <p:nvPr/>
        </p:nvSpPr>
        <p:spPr>
          <a:xfrm>
            <a:off x="548640" y="1371600"/>
            <a:ext cx="5303520" cy="274320"/>
          </a:xfrm>
          <a:prstGeom prst="rect">
            <a:avLst/>
          </a:prstGeom>
          <a:noFill/>
          <a:ln/>
        </p:spPr>
        <p:txBody>
          <a:bodyPr wrap="square" lIns="0" tIns="0" rIns="0" bIns="0" rtlCol="0" anchor="t"/>
          <a:lstStyle/>
          <a:p>
            <a:pPr indent="0" marL="0">
              <a:buNone/>
            </a:pPr>
            <a:r>
              <a:rPr lang="en-US" sz="1200" b="1" spc="200" kern="0" dirty="0">
                <a:solidFill>
                  <a:srgbClr val="3FD0C0"/>
                </a:solidFill>
                <a:latin typeface="Calibri" pitchFamily="34" charset="0"/>
                <a:ea typeface="Calibri" pitchFamily="34" charset="-122"/>
                <a:cs typeface="Calibri" pitchFamily="34" charset="-120"/>
              </a:rPr>
              <a:t>LEVEL 1 · DESCENT = LINE</a:t>
            </a:r>
            <a:endParaRPr lang="en-US" sz="1200" dirty="0"/>
          </a:p>
        </p:txBody>
      </p:sp>
      <p:pic>
        <p:nvPicPr>
          <p:cNvPr id="6" name="Image 0" descr="D:\FCA_Deck\assets\descent.png">    </p:cNvPr>
          <p:cNvPicPr>
            <a:picLocks noChangeAspect="1"/>
          </p:cNvPicPr>
          <p:nvPr/>
        </p:nvPicPr>
        <p:blipFill>
          <a:blip r:embed="rId1"/>
          <a:stretch>
            <a:fillRect/>
          </a:stretch>
        </p:blipFill>
        <p:spPr>
          <a:xfrm>
            <a:off x="548640" y="1691640"/>
            <a:ext cx="2969623" cy="2011680"/>
          </a:xfrm>
          <a:prstGeom prst="rect">
            <a:avLst/>
          </a:prstGeom>
        </p:spPr>
      </p:pic>
      <p:sp>
        <p:nvSpPr>
          <p:cNvPr id="7" name="Text 3"/>
          <p:cNvSpPr txBox="1"/>
          <p:nvPr/>
        </p:nvSpPr>
        <p:spPr>
          <a:xfrm>
            <a:off x="3657600" y="1737360"/>
            <a:ext cx="2286000" cy="457200"/>
          </a:xfrm>
          <a:prstGeom prst="rect">
            <a:avLst/>
          </a:prstGeom>
          <a:noFill/>
          <a:ln/>
        </p:spPr>
        <p:txBody>
          <a:bodyPr wrap="square" lIns="0" tIns="0" rIns="0" bIns="0" rtlCol="0" anchor="t"/>
          <a:lstStyle/>
          <a:p>
            <a:pPr indent="0" marL="0">
              <a:buNone/>
            </a:pPr>
            <a:r>
              <a:rPr lang="en-US" sz="2400" b="1" dirty="0">
                <a:solidFill>
                  <a:srgbClr val="3FD0C0"/>
                </a:solidFill>
                <a:latin typeface="Consolas" pitchFamily="34" charset="0"/>
                <a:ea typeface="Consolas" pitchFamily="34" charset="-122"/>
                <a:cs typeface="Consolas" pitchFamily="34" charset="-120"/>
              </a:rPr>
              <a:t>y = A + Bk</a:t>
            </a:r>
            <a:endParaRPr lang="en-US" sz="2400" dirty="0"/>
          </a:p>
        </p:txBody>
      </p:sp>
      <p:sp>
        <p:nvSpPr>
          <p:cNvPr id="8" name="Text 4"/>
          <p:cNvSpPr txBox="1"/>
          <p:nvPr/>
        </p:nvSpPr>
        <p:spPr>
          <a:xfrm>
            <a:off x="3657600" y="2240280"/>
            <a:ext cx="2286000" cy="274320"/>
          </a:xfrm>
          <a:prstGeom prst="rect">
            <a:avLst/>
          </a:prstGeom>
          <a:noFill/>
          <a:ln/>
        </p:spPr>
        <p:txBody>
          <a:bodyPr wrap="square" lIns="0" tIns="0" rIns="0" bIns="0" rtlCol="0" anchor="t"/>
          <a:lstStyle/>
          <a:p>
            <a:pPr indent="0" marL="0">
              <a:buNone/>
            </a:pPr>
            <a:r>
              <a:rPr lang="en-US" sz="1300" dirty="0">
                <a:solidFill>
                  <a:srgbClr val="8E9BAA"/>
                </a:solidFill>
                <a:latin typeface="Consolas" pitchFamily="34" charset="0"/>
                <a:ea typeface="Consolas" pitchFamily="34" charset="-122"/>
                <a:cs typeface="Consolas" pitchFamily="34" charset="-120"/>
              </a:rPr>
              <a:t>k = i − 72500 ms</a:t>
            </a:r>
            <a:endParaRPr lang="en-US" sz="1300" dirty="0"/>
          </a:p>
        </p:txBody>
      </p:sp>
      <p:sp>
        <p:nvSpPr>
          <p:cNvPr id="9" name="Text 5"/>
          <p:cNvSpPr txBox="1"/>
          <p:nvPr/>
        </p:nvSpPr>
        <p:spPr>
          <a:xfrm>
            <a:off x="3657600" y="2651760"/>
            <a:ext cx="2377440" cy="274320"/>
          </a:xfrm>
          <a:prstGeom prst="rect">
            <a:avLst/>
          </a:prstGeom>
          <a:noFill/>
          <a:ln/>
        </p:spPr>
        <p:txBody>
          <a:bodyPr wrap="square" lIns="0" tIns="0" rIns="0" bIns="0" rtlCol="0" anchor="t"/>
          <a:lstStyle/>
          <a:p>
            <a:pPr indent="0" marL="0">
              <a:buNone/>
            </a:pPr>
            <a:r>
              <a:rPr lang="en-US" sz="1300" dirty="0">
                <a:solidFill>
                  <a:srgbClr val="E8ECEF"/>
                </a:solidFill>
                <a:latin typeface="Consolas" pitchFamily="34" charset="0"/>
                <a:ea typeface="Consolas" pitchFamily="34" charset="-122"/>
                <a:cs typeface="Consolas" pitchFamily="34" charset="-120"/>
              </a:rPr>
              <a:t>slope B → v_D = 10 B</a:t>
            </a:r>
            <a:endParaRPr lang="en-US" sz="1300" dirty="0"/>
          </a:p>
        </p:txBody>
      </p:sp>
      <p:sp>
        <p:nvSpPr>
          <p:cNvPr id="10" name="Text 6"/>
          <p:cNvSpPr txBox="1"/>
          <p:nvPr/>
        </p:nvSpPr>
        <p:spPr>
          <a:xfrm>
            <a:off x="3657600" y="3017520"/>
            <a:ext cx="2468880" cy="274320"/>
          </a:xfrm>
          <a:prstGeom prst="rect">
            <a:avLst/>
          </a:prstGeom>
          <a:noFill/>
          <a:ln/>
        </p:spPr>
        <p:txBody>
          <a:bodyPr wrap="square" lIns="0" tIns="0" rIns="0" bIns="0" rtlCol="0" anchor="t"/>
          <a:lstStyle/>
          <a:p>
            <a:pPr indent="0" marL="0">
              <a:buNone/>
            </a:pPr>
            <a:r>
              <a:rPr lang="en-US" sz="1200" dirty="0">
                <a:solidFill>
                  <a:srgbClr val="E8ECEF"/>
                </a:solidFill>
                <a:latin typeface="Consolas" pitchFamily="34" charset="0"/>
                <a:ea typeface="Consolas" pitchFamily="34" charset="-122"/>
                <a:cs typeface="Consolas" pitchFamily="34" charset="-120"/>
              </a:rPr>
              <a:t>y = 0 → k = −A / B → landing</a:t>
            </a:r>
            <a:endParaRPr lang="en-US" sz="1200" dirty="0"/>
          </a:p>
        </p:txBody>
      </p:sp>
      <p:sp>
        <p:nvSpPr>
          <p:cNvPr id="11" name="Text 7"/>
          <p:cNvSpPr txBox="1"/>
          <p:nvPr/>
        </p:nvSpPr>
        <p:spPr>
          <a:xfrm>
            <a:off x="548640" y="3840480"/>
            <a:ext cx="5394960" cy="274320"/>
          </a:xfrm>
          <a:prstGeom prst="rect">
            <a:avLst/>
          </a:prstGeom>
          <a:noFill/>
          <a:ln/>
        </p:spPr>
        <p:txBody>
          <a:bodyPr wrap="square" lIns="0" tIns="0" rIns="0" bIns="0" rtlCol="0" anchor="t"/>
          <a:lstStyle/>
          <a:p>
            <a:pPr indent="0" marL="0">
              <a:buNone/>
            </a:pPr>
            <a:r>
              <a:rPr lang="en-US" sz="1200" b="1" dirty="0">
                <a:solidFill>
                  <a:srgbClr val="3FD0C0"/>
                </a:solidFill>
                <a:latin typeface="Consolas" pitchFamily="34" charset="0"/>
                <a:ea typeface="Consolas" pitchFamily="34" charset="-122"/>
                <a:cs typeface="Consolas" pitchFamily="34" charset="-120"/>
              </a:rPr>
              <a:t>5 sums: N, Σk, Σy, Σk², Σky</a:t>
            </a:r>
            <a:endParaRPr lang="en-US" sz="1200" dirty="0"/>
          </a:p>
        </p:txBody>
      </p:sp>
      <p:sp>
        <p:nvSpPr>
          <p:cNvPr id="12" name="Shape 8"/>
          <p:cNvSpPr/>
          <p:nvPr/>
        </p:nvSpPr>
        <p:spPr>
          <a:xfrm>
            <a:off x="6172200" y="1371600"/>
            <a:ext cx="0" cy="2926080"/>
          </a:xfrm>
          <a:prstGeom prst="line">
            <a:avLst/>
          </a:prstGeom>
          <a:noFill/>
          <a:ln w="9525">
            <a:solidFill>
              <a:srgbClr val="263241"/>
            </a:solidFill>
            <a:prstDash val="solid"/>
          </a:ln>
        </p:spPr>
      </p:sp>
      <p:sp>
        <p:nvSpPr>
          <p:cNvPr id="13" name="Text 9"/>
          <p:cNvSpPr txBox="1"/>
          <p:nvPr/>
        </p:nvSpPr>
        <p:spPr>
          <a:xfrm>
            <a:off x="6400800" y="1371600"/>
            <a:ext cx="5212080" cy="274320"/>
          </a:xfrm>
          <a:prstGeom prst="rect">
            <a:avLst/>
          </a:prstGeom>
          <a:noFill/>
          <a:ln/>
        </p:spPr>
        <p:txBody>
          <a:bodyPr wrap="square" lIns="0" tIns="0" rIns="0" bIns="0" rtlCol="0" anchor="t"/>
          <a:lstStyle/>
          <a:p>
            <a:pPr indent="0" marL="0">
              <a:buNone/>
            </a:pPr>
            <a:r>
              <a:rPr lang="en-US" sz="1200" b="1" spc="200" kern="0" dirty="0">
                <a:solidFill>
                  <a:srgbClr val="3FD0C0"/>
                </a:solidFill>
                <a:latin typeface="Calibri" pitchFamily="34" charset="0"/>
                <a:ea typeface="Calibri" pitchFamily="34" charset="-122"/>
                <a:cs typeface="Calibri" pitchFamily="34" charset="-120"/>
              </a:rPr>
              <a:t>LEVEL 2 · COAST = PARABOLA</a:t>
            </a:r>
            <a:endParaRPr lang="en-US" sz="1200" dirty="0"/>
          </a:p>
        </p:txBody>
      </p:sp>
      <p:pic>
        <p:nvPicPr>
          <p:cNvPr id="14" name="Image 1" descr="D:\FCA_Deck\assets\coast.png">    </p:cNvPr>
          <p:cNvPicPr>
            <a:picLocks noChangeAspect="1"/>
          </p:cNvPicPr>
          <p:nvPr/>
        </p:nvPicPr>
        <p:blipFill>
          <a:blip r:embed="rId2"/>
          <a:stretch>
            <a:fillRect/>
          </a:stretch>
        </p:blipFill>
        <p:spPr>
          <a:xfrm>
            <a:off x="6400800" y="1691640"/>
            <a:ext cx="3291840" cy="2046279"/>
          </a:xfrm>
          <a:prstGeom prst="rect">
            <a:avLst/>
          </a:prstGeom>
        </p:spPr>
      </p:pic>
      <p:sp>
        <p:nvSpPr>
          <p:cNvPr id="15" name="Text 10"/>
          <p:cNvSpPr txBox="1"/>
          <p:nvPr/>
        </p:nvSpPr>
        <p:spPr>
          <a:xfrm>
            <a:off x="9784080" y="1737360"/>
            <a:ext cx="1920240" cy="457200"/>
          </a:xfrm>
          <a:prstGeom prst="rect">
            <a:avLst/>
          </a:prstGeom>
          <a:noFill/>
          <a:ln/>
        </p:spPr>
        <p:txBody>
          <a:bodyPr wrap="square" lIns="0" tIns="0" rIns="0" bIns="0" rtlCol="0" anchor="t"/>
          <a:lstStyle/>
          <a:p>
            <a:pPr indent="0" marL="0">
              <a:buNone/>
            </a:pPr>
            <a:r>
              <a:rPr lang="en-US" sz="1700" b="1" dirty="0">
                <a:solidFill>
                  <a:srgbClr val="3FD0C0"/>
                </a:solidFill>
                <a:latin typeface="Consolas" pitchFamily="34" charset="0"/>
                <a:ea typeface="Consolas" pitchFamily="34" charset="-122"/>
                <a:cs typeface="Consolas" pitchFamily="34" charset="-120"/>
              </a:rPr>
              <a:t>y = A + Bq + Cq²</a:t>
            </a:r>
            <a:endParaRPr lang="en-US" sz="1700" dirty="0"/>
          </a:p>
        </p:txBody>
      </p:sp>
      <p:sp>
        <p:nvSpPr>
          <p:cNvPr id="16" name="Text 11"/>
          <p:cNvSpPr txBox="1"/>
          <p:nvPr/>
        </p:nvSpPr>
        <p:spPr>
          <a:xfrm>
            <a:off x="9784080" y="2194560"/>
            <a:ext cx="1920240" cy="274320"/>
          </a:xfrm>
          <a:prstGeom prst="rect">
            <a:avLst/>
          </a:prstGeom>
          <a:noFill/>
          <a:ln/>
        </p:spPr>
        <p:txBody>
          <a:bodyPr wrap="square" lIns="0" tIns="0" rIns="0" bIns="0" rtlCol="0" anchor="t"/>
          <a:lstStyle/>
          <a:p>
            <a:pPr indent="0" marL="0">
              <a:buNone/>
            </a:pPr>
            <a:r>
              <a:rPr lang="en-US" sz="1300" dirty="0">
                <a:solidFill>
                  <a:srgbClr val="8E9BAA"/>
                </a:solidFill>
                <a:latin typeface="Consolas" pitchFamily="34" charset="0"/>
                <a:ea typeface="Consolas" pitchFamily="34" charset="-122"/>
                <a:cs typeface="Consolas" pitchFamily="34" charset="-120"/>
              </a:rPr>
              <a:t>q = 2i − 7999</a:t>
            </a:r>
            <a:endParaRPr lang="en-US" sz="1300" dirty="0"/>
          </a:p>
        </p:txBody>
      </p:sp>
      <p:sp>
        <p:nvSpPr>
          <p:cNvPr id="17" name="Text 12"/>
          <p:cNvSpPr txBox="1"/>
          <p:nvPr/>
        </p:nvSpPr>
        <p:spPr>
          <a:xfrm>
            <a:off x="9784080" y="2606040"/>
            <a:ext cx="1920240" cy="502920"/>
          </a:xfrm>
          <a:prstGeom prst="rect">
            <a:avLst/>
          </a:prstGeom>
          <a:noFill/>
          <a:ln/>
        </p:spPr>
        <p:txBody>
          <a:bodyPr wrap="square" lIns="0" tIns="0" rIns="0" bIns="0" rtlCol="0" anchor="t"/>
          <a:lstStyle/>
          <a:p>
            <a:pPr indent="0" marL="0">
              <a:buNone/>
            </a:pPr>
            <a:r>
              <a:rPr lang="en-US" sz="1100" dirty="0">
                <a:solidFill>
                  <a:srgbClr val="E8ECEF"/>
                </a:solidFill>
                <a:latin typeface="Consolas" pitchFamily="34" charset="0"/>
                <a:ea typeface="Consolas" pitchFamily="34" charset="-122"/>
                <a:cs typeface="Consolas" pitchFamily="34" charset="-120"/>
              </a:rPr>
              <a:t>C → accel → g = −80000 C</a:t>
            </a:r>
            <a:endParaRPr lang="en-US" sz="1100" dirty="0"/>
          </a:p>
        </p:txBody>
      </p:sp>
      <p:sp>
        <p:nvSpPr>
          <p:cNvPr id="18" name="Text 13"/>
          <p:cNvSpPr txBox="1"/>
          <p:nvPr/>
        </p:nvSpPr>
        <p:spPr>
          <a:xfrm>
            <a:off x="9784080" y="3200400"/>
            <a:ext cx="1920240" cy="502920"/>
          </a:xfrm>
          <a:prstGeom prst="rect">
            <a:avLst/>
          </a:prstGeom>
          <a:noFill/>
          <a:ln/>
        </p:spPr>
        <p:txBody>
          <a:bodyPr wrap="square" lIns="0" tIns="0" rIns="0" bIns="0" rtlCol="0" anchor="t"/>
          <a:lstStyle/>
          <a:p>
            <a:pPr indent="0" marL="0">
              <a:buNone/>
            </a:pPr>
            <a:r>
              <a:rPr lang="en-US" sz="1100" dirty="0">
                <a:solidFill>
                  <a:srgbClr val="FFB23F"/>
                </a:solidFill>
                <a:latin typeface="Consolas" pitchFamily="34" charset="0"/>
                <a:ea typeface="Consolas" pitchFamily="34" charset="-122"/>
                <a:cs typeface="Consolas" pitchFamily="34" charset="-120"/>
              </a:rPr>
              <a:t>dy/dq = 0 → q = −B/(2C)</a:t>
            </a:r>
            <a:endParaRPr lang="en-US" sz="1100" dirty="0"/>
          </a:p>
        </p:txBody>
      </p:sp>
      <p:sp>
        <p:nvSpPr>
          <p:cNvPr id="19" name="Text 14"/>
          <p:cNvSpPr txBox="1"/>
          <p:nvPr/>
        </p:nvSpPr>
        <p:spPr>
          <a:xfrm>
            <a:off x="6400800" y="3840480"/>
            <a:ext cx="5212080" cy="457200"/>
          </a:xfrm>
          <a:prstGeom prst="rect">
            <a:avLst/>
          </a:prstGeom>
          <a:noFill/>
          <a:ln/>
        </p:spPr>
        <p:txBody>
          <a:bodyPr wrap="square" lIns="0" tIns="0" rIns="0" bIns="0" rtlCol="0" anchor="t"/>
          <a:lstStyle/>
          <a:p>
            <a:pPr indent="0" marL="0">
              <a:buNone/>
            </a:pPr>
            <a:r>
              <a:rPr lang="en-US" sz="1300" dirty="0">
                <a:solidFill>
                  <a:srgbClr val="8E9BAA"/>
                </a:solidFill>
                <a:latin typeface="Calibri" pitchFamily="34" charset="0"/>
                <a:ea typeface="Calibri" pitchFamily="34" charset="-122"/>
                <a:cs typeface="Calibri" pitchFamily="34" charset="-120"/>
              </a:rPr>
              <a:t>C tells us how strongly the altitude curve bends; the vertex of the parabola is the apogee.</a:t>
            </a:r>
            <a:endParaRPr lang="en-US" sz="1300" dirty="0"/>
          </a:p>
        </p:txBody>
      </p:sp>
      <p:sp>
        <p:nvSpPr>
          <p:cNvPr id="20" name="Text 15"/>
          <p:cNvSpPr txBox="1"/>
          <p:nvPr/>
        </p:nvSpPr>
        <p:spPr>
          <a:xfrm>
            <a:off x="548640" y="4434840"/>
            <a:ext cx="11064240" cy="274320"/>
          </a:xfrm>
          <a:prstGeom prst="rect">
            <a:avLst/>
          </a:prstGeom>
          <a:noFill/>
          <a:ln/>
        </p:spPr>
        <p:txBody>
          <a:bodyPr wrap="square" lIns="0" tIns="0" rIns="0" bIns="0" rtlCol="0" anchor="t"/>
          <a:lstStyle/>
          <a:p>
            <a:pPr indent="0" marL="0">
              <a:buNone/>
            </a:pPr>
            <a:r>
              <a:rPr lang="en-US" sz="1100" dirty="0">
                <a:solidFill>
                  <a:srgbClr val="8E9BAA"/>
                </a:solidFill>
                <a:latin typeface="Calibri" pitchFamily="34" charset="0"/>
                <a:ea typeface="Calibri" pitchFamily="34" charset="-122"/>
                <a:cs typeface="Calibri" pitchFamily="34" charset="-120"/>
              </a:rPr>
              <a:t>Plots drawn from verified Official results · ■ verified ALT readings · ● apogee, landing</a:t>
            </a:r>
            <a:endParaRPr lang="en-US" sz="1100" dirty="0"/>
          </a:p>
        </p:txBody>
      </p:sp>
      <p:sp>
        <p:nvSpPr>
          <p:cNvPr id="21" name="Shape 16"/>
          <p:cNvSpPr/>
          <p:nvPr/>
        </p:nvSpPr>
        <p:spPr>
          <a:xfrm>
            <a:off x="548640" y="4892040"/>
            <a:ext cx="11064240" cy="1097280"/>
          </a:xfrm>
          <a:prstGeom prst="rect">
            <a:avLst/>
          </a:prstGeom>
          <a:solidFill>
            <a:srgbClr val="10312F"/>
          </a:solidFill>
          <a:ln w="12700">
            <a:solidFill>
              <a:srgbClr val="3FD0C0"/>
            </a:solidFill>
            <a:prstDash val="solid"/>
          </a:ln>
        </p:spPr>
      </p:sp>
      <p:sp>
        <p:nvSpPr>
          <p:cNvPr id="22" name="Text 17"/>
          <p:cNvSpPr txBox="1"/>
          <p:nvPr/>
        </p:nvSpPr>
        <p:spPr>
          <a:xfrm>
            <a:off x="777240" y="4983480"/>
            <a:ext cx="10607040" cy="914400"/>
          </a:xfrm>
          <a:prstGeom prst="rect">
            <a:avLst/>
          </a:prstGeom>
          <a:noFill/>
          <a:ln/>
        </p:spPr>
        <p:txBody>
          <a:bodyPr wrap="square" lIns="0" tIns="0" rIns="0" bIns="0" rtlCol="0" anchor="ctr"/>
          <a:lstStyle/>
          <a:p>
            <a:pPr indent="0" marL="0">
              <a:buNone/>
            </a:pPr>
            <a:r>
              <a:rPr lang="en-US" sz="1100" b="1" dirty="0">
                <a:solidFill>
                  <a:srgbClr val="3FD0C0"/>
                </a:solidFill>
                <a:latin typeface="Calibri" pitchFamily="34" charset="0"/>
                <a:ea typeface="Calibri" pitchFamily="34" charset="-122"/>
                <a:cs typeface="Calibri" pitchFamily="34" charset="-120"/>
              </a:rPr>
              <a:t>WHY THIS MATTERS FOR FCA   </a:t>
            </a:r>
            <a:pPr indent="0" marL="0">
              <a:buNone/>
            </a:pPr>
            <a:r>
              <a:rPr lang="en-US" sz="1400" dirty="0">
                <a:solidFill>
                  <a:srgbClr val="E8ECEF"/>
                </a:solidFill>
                <a:latin typeface="Calibri" pitchFamily="34" charset="0"/>
                <a:ea typeface="Calibri" pitchFamily="34" charset="-122"/>
                <a:cs typeface="Calibri" pitchFamily="34" charset="-120"/>
              </a:rPr>
              <a:t>Instead of storing thousands of readings, the ESP32 stores a few accumulated statistics: 5 sums for the line, a handful of int64 sums for the parabola. Centred time keeps them small enough for int64; double holds the fitted coefficients.</a:t>
            </a:r>
            <a:endParaRPr lang="en-US" sz="14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05 / LEVEL 3 · COMPRESSION + DEPLOYMENT</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WHEN 100,000 SAMPLES BECOME A FEW NUMBERS</a:t>
            </a:r>
            <a:endParaRPr lang="en-US" sz="3400" dirty="0"/>
          </a:p>
        </p:txBody>
      </p:sp>
      <p:sp>
        <p:nvSpPr>
          <p:cNvPr id="5" name="Text 2"/>
          <p:cNvSpPr txBox="1"/>
          <p:nvPr/>
        </p:nvSpPr>
        <p:spPr>
          <a:xfrm>
            <a:off x="548640" y="1508760"/>
            <a:ext cx="5486400" cy="274320"/>
          </a:xfrm>
          <a:prstGeom prst="rect">
            <a:avLst/>
          </a:prstGeom>
          <a:noFill/>
          <a:ln/>
        </p:spPr>
        <p:txBody>
          <a:bodyPr wrap="square" lIns="0" tIns="0" rIns="0" bIns="0" rtlCol="0" anchor="t"/>
          <a:lstStyle/>
          <a:p>
            <a:pPr indent="0" marL="0">
              <a:buNone/>
            </a:pPr>
            <a:r>
              <a:rPr lang="en-US" sz="1200" spc="200" kern="0" dirty="0">
                <a:solidFill>
                  <a:srgbClr val="8E9BAA"/>
                </a:solidFill>
                <a:latin typeface="Calibri" pitchFamily="34" charset="0"/>
                <a:ea typeface="Calibri" pitchFamily="34" charset="-122"/>
                <a:cs typeface="Calibri" pitchFamily="34" charset="-120"/>
              </a:rPr>
              <a:t>LEVEL 3 BLOCK COMPRESSION</a:t>
            </a:r>
            <a:endParaRPr lang="en-US" sz="1200" dirty="0"/>
          </a:p>
        </p:txBody>
      </p:sp>
      <p:sp>
        <p:nvSpPr>
          <p:cNvPr id="6" name="Shape 3"/>
          <p:cNvSpPr/>
          <p:nvPr/>
        </p:nvSpPr>
        <p:spPr>
          <a:xfrm>
            <a:off x="548640" y="1874520"/>
            <a:ext cx="32918" cy="457200"/>
          </a:xfrm>
          <a:prstGeom prst="rect">
            <a:avLst/>
          </a:prstGeom>
          <a:solidFill>
            <a:srgbClr val="1B2530"/>
          </a:solidFill>
          <a:ln w="12700">
            <a:solidFill>
              <a:srgbClr val="1B2530"/>
            </a:solidFill>
            <a:prstDash val="solid"/>
          </a:ln>
        </p:spPr>
      </p:sp>
      <p:sp>
        <p:nvSpPr>
          <p:cNvPr id="7" name="Shape 4"/>
          <p:cNvSpPr/>
          <p:nvPr/>
        </p:nvSpPr>
        <p:spPr>
          <a:xfrm>
            <a:off x="602132" y="1874520"/>
            <a:ext cx="32918" cy="457200"/>
          </a:xfrm>
          <a:prstGeom prst="rect">
            <a:avLst/>
          </a:prstGeom>
          <a:solidFill>
            <a:srgbClr val="1B2530"/>
          </a:solidFill>
          <a:ln w="12700">
            <a:solidFill>
              <a:srgbClr val="1B2530"/>
            </a:solidFill>
            <a:prstDash val="solid"/>
          </a:ln>
        </p:spPr>
      </p:sp>
      <p:sp>
        <p:nvSpPr>
          <p:cNvPr id="8" name="Shape 5"/>
          <p:cNvSpPr/>
          <p:nvPr/>
        </p:nvSpPr>
        <p:spPr>
          <a:xfrm>
            <a:off x="655625" y="1874520"/>
            <a:ext cx="32918" cy="457200"/>
          </a:xfrm>
          <a:prstGeom prst="rect">
            <a:avLst/>
          </a:prstGeom>
          <a:solidFill>
            <a:srgbClr val="1B2530"/>
          </a:solidFill>
          <a:ln w="12700">
            <a:solidFill>
              <a:srgbClr val="1B2530"/>
            </a:solidFill>
            <a:prstDash val="solid"/>
          </a:ln>
        </p:spPr>
      </p:sp>
      <p:sp>
        <p:nvSpPr>
          <p:cNvPr id="9" name="Shape 6"/>
          <p:cNvSpPr/>
          <p:nvPr/>
        </p:nvSpPr>
        <p:spPr>
          <a:xfrm>
            <a:off x="709117" y="1874520"/>
            <a:ext cx="32918" cy="457200"/>
          </a:xfrm>
          <a:prstGeom prst="rect">
            <a:avLst/>
          </a:prstGeom>
          <a:solidFill>
            <a:srgbClr val="1B2530"/>
          </a:solidFill>
          <a:ln w="12700">
            <a:solidFill>
              <a:srgbClr val="1B2530"/>
            </a:solidFill>
            <a:prstDash val="solid"/>
          </a:ln>
        </p:spPr>
      </p:sp>
      <p:sp>
        <p:nvSpPr>
          <p:cNvPr id="10" name="Shape 7"/>
          <p:cNvSpPr/>
          <p:nvPr/>
        </p:nvSpPr>
        <p:spPr>
          <a:xfrm>
            <a:off x="762610" y="1874520"/>
            <a:ext cx="32918" cy="457200"/>
          </a:xfrm>
          <a:prstGeom prst="rect">
            <a:avLst/>
          </a:prstGeom>
          <a:solidFill>
            <a:srgbClr val="1B2530"/>
          </a:solidFill>
          <a:ln w="12700">
            <a:solidFill>
              <a:srgbClr val="1B2530"/>
            </a:solidFill>
            <a:prstDash val="solid"/>
          </a:ln>
        </p:spPr>
      </p:sp>
      <p:sp>
        <p:nvSpPr>
          <p:cNvPr id="11" name="Shape 8"/>
          <p:cNvSpPr/>
          <p:nvPr/>
        </p:nvSpPr>
        <p:spPr>
          <a:xfrm>
            <a:off x="816102" y="1874520"/>
            <a:ext cx="32918" cy="457200"/>
          </a:xfrm>
          <a:prstGeom prst="rect">
            <a:avLst/>
          </a:prstGeom>
          <a:solidFill>
            <a:srgbClr val="1B2530"/>
          </a:solidFill>
          <a:ln w="12700">
            <a:solidFill>
              <a:srgbClr val="1B2530"/>
            </a:solidFill>
            <a:prstDash val="solid"/>
          </a:ln>
        </p:spPr>
      </p:sp>
      <p:sp>
        <p:nvSpPr>
          <p:cNvPr id="12" name="Shape 9"/>
          <p:cNvSpPr/>
          <p:nvPr/>
        </p:nvSpPr>
        <p:spPr>
          <a:xfrm>
            <a:off x="869594" y="1874520"/>
            <a:ext cx="32918" cy="457200"/>
          </a:xfrm>
          <a:prstGeom prst="rect">
            <a:avLst/>
          </a:prstGeom>
          <a:solidFill>
            <a:srgbClr val="1B2530"/>
          </a:solidFill>
          <a:ln w="12700">
            <a:solidFill>
              <a:srgbClr val="1B2530"/>
            </a:solidFill>
            <a:prstDash val="solid"/>
          </a:ln>
        </p:spPr>
      </p:sp>
      <p:sp>
        <p:nvSpPr>
          <p:cNvPr id="13" name="Shape 10"/>
          <p:cNvSpPr/>
          <p:nvPr/>
        </p:nvSpPr>
        <p:spPr>
          <a:xfrm>
            <a:off x="923087" y="1874520"/>
            <a:ext cx="32918" cy="457200"/>
          </a:xfrm>
          <a:prstGeom prst="rect">
            <a:avLst/>
          </a:prstGeom>
          <a:solidFill>
            <a:srgbClr val="1B2530"/>
          </a:solidFill>
          <a:ln w="12700">
            <a:solidFill>
              <a:srgbClr val="1B2530"/>
            </a:solidFill>
            <a:prstDash val="solid"/>
          </a:ln>
        </p:spPr>
      </p:sp>
      <p:sp>
        <p:nvSpPr>
          <p:cNvPr id="14" name="Shape 11"/>
          <p:cNvSpPr/>
          <p:nvPr/>
        </p:nvSpPr>
        <p:spPr>
          <a:xfrm>
            <a:off x="976579" y="1874520"/>
            <a:ext cx="32918" cy="457200"/>
          </a:xfrm>
          <a:prstGeom prst="rect">
            <a:avLst/>
          </a:prstGeom>
          <a:solidFill>
            <a:srgbClr val="1B2530"/>
          </a:solidFill>
          <a:ln w="12700">
            <a:solidFill>
              <a:srgbClr val="1B2530"/>
            </a:solidFill>
            <a:prstDash val="solid"/>
          </a:ln>
        </p:spPr>
      </p:sp>
      <p:sp>
        <p:nvSpPr>
          <p:cNvPr id="15" name="Shape 12"/>
          <p:cNvSpPr/>
          <p:nvPr/>
        </p:nvSpPr>
        <p:spPr>
          <a:xfrm>
            <a:off x="1030072" y="1874520"/>
            <a:ext cx="32918" cy="457200"/>
          </a:xfrm>
          <a:prstGeom prst="rect">
            <a:avLst/>
          </a:prstGeom>
          <a:solidFill>
            <a:srgbClr val="1B2530"/>
          </a:solidFill>
          <a:ln w="12700">
            <a:solidFill>
              <a:srgbClr val="1B2530"/>
            </a:solidFill>
            <a:prstDash val="solid"/>
          </a:ln>
        </p:spPr>
      </p:sp>
      <p:sp>
        <p:nvSpPr>
          <p:cNvPr id="16" name="Shape 13"/>
          <p:cNvSpPr/>
          <p:nvPr/>
        </p:nvSpPr>
        <p:spPr>
          <a:xfrm>
            <a:off x="1083564" y="1874520"/>
            <a:ext cx="32918" cy="457200"/>
          </a:xfrm>
          <a:prstGeom prst="rect">
            <a:avLst/>
          </a:prstGeom>
          <a:solidFill>
            <a:srgbClr val="1B2530"/>
          </a:solidFill>
          <a:ln w="12700">
            <a:solidFill>
              <a:srgbClr val="1B2530"/>
            </a:solidFill>
            <a:prstDash val="solid"/>
          </a:ln>
        </p:spPr>
      </p:sp>
      <p:sp>
        <p:nvSpPr>
          <p:cNvPr id="17" name="Shape 14"/>
          <p:cNvSpPr/>
          <p:nvPr/>
        </p:nvSpPr>
        <p:spPr>
          <a:xfrm>
            <a:off x="1137056" y="1874520"/>
            <a:ext cx="32918" cy="457200"/>
          </a:xfrm>
          <a:prstGeom prst="rect">
            <a:avLst/>
          </a:prstGeom>
          <a:solidFill>
            <a:srgbClr val="1B2530"/>
          </a:solidFill>
          <a:ln w="12700">
            <a:solidFill>
              <a:srgbClr val="1B2530"/>
            </a:solidFill>
            <a:prstDash val="solid"/>
          </a:ln>
        </p:spPr>
      </p:sp>
      <p:sp>
        <p:nvSpPr>
          <p:cNvPr id="18" name="Shape 15"/>
          <p:cNvSpPr/>
          <p:nvPr/>
        </p:nvSpPr>
        <p:spPr>
          <a:xfrm>
            <a:off x="1190549" y="1874520"/>
            <a:ext cx="32918" cy="457200"/>
          </a:xfrm>
          <a:prstGeom prst="rect">
            <a:avLst/>
          </a:prstGeom>
          <a:solidFill>
            <a:srgbClr val="1B2530"/>
          </a:solidFill>
          <a:ln w="12700">
            <a:solidFill>
              <a:srgbClr val="1B2530"/>
            </a:solidFill>
            <a:prstDash val="solid"/>
          </a:ln>
        </p:spPr>
      </p:sp>
      <p:sp>
        <p:nvSpPr>
          <p:cNvPr id="19" name="Shape 16"/>
          <p:cNvSpPr/>
          <p:nvPr/>
        </p:nvSpPr>
        <p:spPr>
          <a:xfrm>
            <a:off x="1244041" y="1874520"/>
            <a:ext cx="32918" cy="457200"/>
          </a:xfrm>
          <a:prstGeom prst="rect">
            <a:avLst/>
          </a:prstGeom>
          <a:solidFill>
            <a:srgbClr val="1B2530"/>
          </a:solidFill>
          <a:ln w="12700">
            <a:solidFill>
              <a:srgbClr val="1B2530"/>
            </a:solidFill>
            <a:prstDash val="solid"/>
          </a:ln>
        </p:spPr>
      </p:sp>
      <p:sp>
        <p:nvSpPr>
          <p:cNvPr id="20" name="Shape 17"/>
          <p:cNvSpPr/>
          <p:nvPr/>
        </p:nvSpPr>
        <p:spPr>
          <a:xfrm>
            <a:off x="1297534" y="1874520"/>
            <a:ext cx="32918" cy="457200"/>
          </a:xfrm>
          <a:prstGeom prst="rect">
            <a:avLst/>
          </a:prstGeom>
          <a:solidFill>
            <a:srgbClr val="1B2530"/>
          </a:solidFill>
          <a:ln w="12700">
            <a:solidFill>
              <a:srgbClr val="1B2530"/>
            </a:solidFill>
            <a:prstDash val="solid"/>
          </a:ln>
        </p:spPr>
      </p:sp>
      <p:sp>
        <p:nvSpPr>
          <p:cNvPr id="21" name="Shape 18"/>
          <p:cNvSpPr/>
          <p:nvPr/>
        </p:nvSpPr>
        <p:spPr>
          <a:xfrm>
            <a:off x="1351026" y="1874520"/>
            <a:ext cx="32918" cy="457200"/>
          </a:xfrm>
          <a:prstGeom prst="rect">
            <a:avLst/>
          </a:prstGeom>
          <a:solidFill>
            <a:srgbClr val="1B2530"/>
          </a:solidFill>
          <a:ln w="12700">
            <a:solidFill>
              <a:srgbClr val="1B2530"/>
            </a:solidFill>
            <a:prstDash val="solid"/>
          </a:ln>
        </p:spPr>
      </p:sp>
      <p:sp>
        <p:nvSpPr>
          <p:cNvPr id="22" name="Shape 19"/>
          <p:cNvSpPr/>
          <p:nvPr/>
        </p:nvSpPr>
        <p:spPr>
          <a:xfrm>
            <a:off x="1404518" y="1874520"/>
            <a:ext cx="32918" cy="457200"/>
          </a:xfrm>
          <a:prstGeom prst="rect">
            <a:avLst/>
          </a:prstGeom>
          <a:solidFill>
            <a:srgbClr val="1B2530"/>
          </a:solidFill>
          <a:ln w="12700">
            <a:solidFill>
              <a:srgbClr val="1B2530"/>
            </a:solidFill>
            <a:prstDash val="solid"/>
          </a:ln>
        </p:spPr>
      </p:sp>
      <p:sp>
        <p:nvSpPr>
          <p:cNvPr id="23" name="Shape 20"/>
          <p:cNvSpPr/>
          <p:nvPr/>
        </p:nvSpPr>
        <p:spPr>
          <a:xfrm>
            <a:off x="1458011" y="1874520"/>
            <a:ext cx="32918" cy="457200"/>
          </a:xfrm>
          <a:prstGeom prst="rect">
            <a:avLst/>
          </a:prstGeom>
          <a:solidFill>
            <a:srgbClr val="1B2530"/>
          </a:solidFill>
          <a:ln w="12700">
            <a:solidFill>
              <a:srgbClr val="1B2530"/>
            </a:solidFill>
            <a:prstDash val="solid"/>
          </a:ln>
        </p:spPr>
      </p:sp>
      <p:sp>
        <p:nvSpPr>
          <p:cNvPr id="24" name="Shape 21"/>
          <p:cNvSpPr/>
          <p:nvPr/>
        </p:nvSpPr>
        <p:spPr>
          <a:xfrm>
            <a:off x="1511503" y="1874520"/>
            <a:ext cx="32918" cy="457200"/>
          </a:xfrm>
          <a:prstGeom prst="rect">
            <a:avLst/>
          </a:prstGeom>
          <a:solidFill>
            <a:srgbClr val="1B2530"/>
          </a:solidFill>
          <a:ln w="12700">
            <a:solidFill>
              <a:srgbClr val="1B2530"/>
            </a:solidFill>
            <a:prstDash val="solid"/>
          </a:ln>
        </p:spPr>
      </p:sp>
      <p:sp>
        <p:nvSpPr>
          <p:cNvPr id="25" name="Shape 22"/>
          <p:cNvSpPr/>
          <p:nvPr/>
        </p:nvSpPr>
        <p:spPr>
          <a:xfrm>
            <a:off x="1564996" y="1874520"/>
            <a:ext cx="32918" cy="457200"/>
          </a:xfrm>
          <a:prstGeom prst="rect">
            <a:avLst/>
          </a:prstGeom>
          <a:solidFill>
            <a:srgbClr val="1B2530"/>
          </a:solidFill>
          <a:ln w="12700">
            <a:solidFill>
              <a:srgbClr val="1B2530"/>
            </a:solidFill>
            <a:prstDash val="solid"/>
          </a:ln>
        </p:spPr>
      </p:sp>
      <p:sp>
        <p:nvSpPr>
          <p:cNvPr id="26" name="Shape 23"/>
          <p:cNvSpPr/>
          <p:nvPr/>
        </p:nvSpPr>
        <p:spPr>
          <a:xfrm>
            <a:off x="1618488" y="1874520"/>
            <a:ext cx="32918" cy="457200"/>
          </a:xfrm>
          <a:prstGeom prst="rect">
            <a:avLst/>
          </a:prstGeom>
          <a:solidFill>
            <a:srgbClr val="1B2530"/>
          </a:solidFill>
          <a:ln w="12700">
            <a:solidFill>
              <a:srgbClr val="1B2530"/>
            </a:solidFill>
            <a:prstDash val="solid"/>
          </a:ln>
        </p:spPr>
      </p:sp>
      <p:sp>
        <p:nvSpPr>
          <p:cNvPr id="27" name="Shape 24"/>
          <p:cNvSpPr/>
          <p:nvPr/>
        </p:nvSpPr>
        <p:spPr>
          <a:xfrm>
            <a:off x="1671980" y="1874520"/>
            <a:ext cx="32918" cy="457200"/>
          </a:xfrm>
          <a:prstGeom prst="rect">
            <a:avLst/>
          </a:prstGeom>
          <a:solidFill>
            <a:srgbClr val="1B2530"/>
          </a:solidFill>
          <a:ln w="12700">
            <a:solidFill>
              <a:srgbClr val="1B2530"/>
            </a:solidFill>
            <a:prstDash val="solid"/>
          </a:ln>
        </p:spPr>
      </p:sp>
      <p:sp>
        <p:nvSpPr>
          <p:cNvPr id="28" name="Shape 25"/>
          <p:cNvSpPr/>
          <p:nvPr/>
        </p:nvSpPr>
        <p:spPr>
          <a:xfrm>
            <a:off x="1725473" y="1874520"/>
            <a:ext cx="32918" cy="457200"/>
          </a:xfrm>
          <a:prstGeom prst="rect">
            <a:avLst/>
          </a:prstGeom>
          <a:solidFill>
            <a:srgbClr val="1B2530"/>
          </a:solidFill>
          <a:ln w="12700">
            <a:solidFill>
              <a:srgbClr val="1B2530"/>
            </a:solidFill>
            <a:prstDash val="solid"/>
          </a:ln>
        </p:spPr>
      </p:sp>
      <p:sp>
        <p:nvSpPr>
          <p:cNvPr id="29" name="Shape 26"/>
          <p:cNvSpPr/>
          <p:nvPr/>
        </p:nvSpPr>
        <p:spPr>
          <a:xfrm>
            <a:off x="1778965" y="1874520"/>
            <a:ext cx="32918" cy="457200"/>
          </a:xfrm>
          <a:prstGeom prst="rect">
            <a:avLst/>
          </a:prstGeom>
          <a:solidFill>
            <a:srgbClr val="1B2530"/>
          </a:solidFill>
          <a:ln w="12700">
            <a:solidFill>
              <a:srgbClr val="1B2530"/>
            </a:solidFill>
            <a:prstDash val="solid"/>
          </a:ln>
        </p:spPr>
      </p:sp>
      <p:sp>
        <p:nvSpPr>
          <p:cNvPr id="30" name="Shape 27"/>
          <p:cNvSpPr/>
          <p:nvPr/>
        </p:nvSpPr>
        <p:spPr>
          <a:xfrm>
            <a:off x="1832458" y="1874520"/>
            <a:ext cx="32918" cy="457200"/>
          </a:xfrm>
          <a:prstGeom prst="rect">
            <a:avLst/>
          </a:prstGeom>
          <a:solidFill>
            <a:srgbClr val="1B2530"/>
          </a:solidFill>
          <a:ln w="12700">
            <a:solidFill>
              <a:srgbClr val="1B2530"/>
            </a:solidFill>
            <a:prstDash val="solid"/>
          </a:ln>
        </p:spPr>
      </p:sp>
      <p:sp>
        <p:nvSpPr>
          <p:cNvPr id="31" name="Shape 28"/>
          <p:cNvSpPr/>
          <p:nvPr/>
        </p:nvSpPr>
        <p:spPr>
          <a:xfrm>
            <a:off x="1885950" y="1874520"/>
            <a:ext cx="32918" cy="457200"/>
          </a:xfrm>
          <a:prstGeom prst="rect">
            <a:avLst/>
          </a:prstGeom>
          <a:solidFill>
            <a:srgbClr val="1B2530"/>
          </a:solidFill>
          <a:ln w="12700">
            <a:solidFill>
              <a:srgbClr val="1B2530"/>
            </a:solidFill>
            <a:prstDash val="solid"/>
          </a:ln>
        </p:spPr>
      </p:sp>
      <p:sp>
        <p:nvSpPr>
          <p:cNvPr id="32" name="Shape 29"/>
          <p:cNvSpPr/>
          <p:nvPr/>
        </p:nvSpPr>
        <p:spPr>
          <a:xfrm>
            <a:off x="1939442" y="1874520"/>
            <a:ext cx="32918" cy="457200"/>
          </a:xfrm>
          <a:prstGeom prst="rect">
            <a:avLst/>
          </a:prstGeom>
          <a:solidFill>
            <a:srgbClr val="1B2530"/>
          </a:solidFill>
          <a:ln w="12700">
            <a:solidFill>
              <a:srgbClr val="1B2530"/>
            </a:solidFill>
            <a:prstDash val="solid"/>
          </a:ln>
        </p:spPr>
      </p:sp>
      <p:sp>
        <p:nvSpPr>
          <p:cNvPr id="33" name="Shape 30"/>
          <p:cNvSpPr/>
          <p:nvPr/>
        </p:nvSpPr>
        <p:spPr>
          <a:xfrm>
            <a:off x="1992935" y="1874520"/>
            <a:ext cx="32918" cy="457200"/>
          </a:xfrm>
          <a:prstGeom prst="rect">
            <a:avLst/>
          </a:prstGeom>
          <a:solidFill>
            <a:srgbClr val="1B2530"/>
          </a:solidFill>
          <a:ln w="12700">
            <a:solidFill>
              <a:srgbClr val="1B2530"/>
            </a:solidFill>
            <a:prstDash val="solid"/>
          </a:ln>
        </p:spPr>
      </p:sp>
      <p:sp>
        <p:nvSpPr>
          <p:cNvPr id="34" name="Shape 31"/>
          <p:cNvSpPr/>
          <p:nvPr/>
        </p:nvSpPr>
        <p:spPr>
          <a:xfrm>
            <a:off x="2046427" y="1874520"/>
            <a:ext cx="32918" cy="457200"/>
          </a:xfrm>
          <a:prstGeom prst="rect">
            <a:avLst/>
          </a:prstGeom>
          <a:solidFill>
            <a:srgbClr val="1B2530"/>
          </a:solidFill>
          <a:ln w="12700">
            <a:solidFill>
              <a:srgbClr val="1B2530"/>
            </a:solidFill>
            <a:prstDash val="solid"/>
          </a:ln>
        </p:spPr>
      </p:sp>
      <p:sp>
        <p:nvSpPr>
          <p:cNvPr id="35" name="Shape 32"/>
          <p:cNvSpPr/>
          <p:nvPr/>
        </p:nvSpPr>
        <p:spPr>
          <a:xfrm>
            <a:off x="2099920" y="1874520"/>
            <a:ext cx="32918" cy="457200"/>
          </a:xfrm>
          <a:prstGeom prst="rect">
            <a:avLst/>
          </a:prstGeom>
          <a:solidFill>
            <a:srgbClr val="1B2530"/>
          </a:solidFill>
          <a:ln w="12700">
            <a:solidFill>
              <a:srgbClr val="1B2530"/>
            </a:solidFill>
            <a:prstDash val="solid"/>
          </a:ln>
        </p:spPr>
      </p:sp>
      <p:sp>
        <p:nvSpPr>
          <p:cNvPr id="36" name="Shape 33"/>
          <p:cNvSpPr/>
          <p:nvPr/>
        </p:nvSpPr>
        <p:spPr>
          <a:xfrm>
            <a:off x="2153412" y="1874520"/>
            <a:ext cx="32918" cy="457200"/>
          </a:xfrm>
          <a:prstGeom prst="rect">
            <a:avLst/>
          </a:prstGeom>
          <a:solidFill>
            <a:srgbClr val="1B2530"/>
          </a:solidFill>
          <a:ln w="12700">
            <a:solidFill>
              <a:srgbClr val="1B2530"/>
            </a:solidFill>
            <a:prstDash val="solid"/>
          </a:ln>
        </p:spPr>
      </p:sp>
      <p:sp>
        <p:nvSpPr>
          <p:cNvPr id="37" name="Shape 34"/>
          <p:cNvSpPr/>
          <p:nvPr/>
        </p:nvSpPr>
        <p:spPr>
          <a:xfrm>
            <a:off x="2206904" y="1874520"/>
            <a:ext cx="32918" cy="457200"/>
          </a:xfrm>
          <a:prstGeom prst="rect">
            <a:avLst/>
          </a:prstGeom>
          <a:solidFill>
            <a:srgbClr val="1B2530"/>
          </a:solidFill>
          <a:ln w="12700">
            <a:solidFill>
              <a:srgbClr val="1B2530"/>
            </a:solidFill>
            <a:prstDash val="solid"/>
          </a:ln>
        </p:spPr>
      </p:sp>
      <p:sp>
        <p:nvSpPr>
          <p:cNvPr id="38" name="Shape 35"/>
          <p:cNvSpPr/>
          <p:nvPr/>
        </p:nvSpPr>
        <p:spPr>
          <a:xfrm>
            <a:off x="2260397" y="1874520"/>
            <a:ext cx="32918" cy="457200"/>
          </a:xfrm>
          <a:prstGeom prst="rect">
            <a:avLst/>
          </a:prstGeom>
          <a:solidFill>
            <a:srgbClr val="1B2530"/>
          </a:solidFill>
          <a:ln w="12700">
            <a:solidFill>
              <a:srgbClr val="1B2530"/>
            </a:solidFill>
            <a:prstDash val="solid"/>
          </a:ln>
        </p:spPr>
      </p:sp>
      <p:sp>
        <p:nvSpPr>
          <p:cNvPr id="39" name="Shape 36"/>
          <p:cNvSpPr/>
          <p:nvPr/>
        </p:nvSpPr>
        <p:spPr>
          <a:xfrm>
            <a:off x="2313889" y="1874520"/>
            <a:ext cx="32918" cy="457200"/>
          </a:xfrm>
          <a:prstGeom prst="rect">
            <a:avLst/>
          </a:prstGeom>
          <a:solidFill>
            <a:srgbClr val="1B2530"/>
          </a:solidFill>
          <a:ln w="12700">
            <a:solidFill>
              <a:srgbClr val="1B2530"/>
            </a:solidFill>
            <a:prstDash val="solid"/>
          </a:ln>
        </p:spPr>
      </p:sp>
      <p:sp>
        <p:nvSpPr>
          <p:cNvPr id="40" name="Shape 37"/>
          <p:cNvSpPr/>
          <p:nvPr/>
        </p:nvSpPr>
        <p:spPr>
          <a:xfrm>
            <a:off x="2367382" y="1874520"/>
            <a:ext cx="32918" cy="457200"/>
          </a:xfrm>
          <a:prstGeom prst="rect">
            <a:avLst/>
          </a:prstGeom>
          <a:solidFill>
            <a:srgbClr val="1B2530"/>
          </a:solidFill>
          <a:ln w="12700">
            <a:solidFill>
              <a:srgbClr val="1B2530"/>
            </a:solidFill>
            <a:prstDash val="solid"/>
          </a:ln>
        </p:spPr>
      </p:sp>
      <p:sp>
        <p:nvSpPr>
          <p:cNvPr id="41" name="Shape 38"/>
          <p:cNvSpPr/>
          <p:nvPr/>
        </p:nvSpPr>
        <p:spPr>
          <a:xfrm>
            <a:off x="2420874" y="1874520"/>
            <a:ext cx="32918" cy="457200"/>
          </a:xfrm>
          <a:prstGeom prst="rect">
            <a:avLst/>
          </a:prstGeom>
          <a:solidFill>
            <a:srgbClr val="1B2530"/>
          </a:solidFill>
          <a:ln w="12700">
            <a:solidFill>
              <a:srgbClr val="1B2530"/>
            </a:solidFill>
            <a:prstDash val="solid"/>
          </a:ln>
        </p:spPr>
      </p:sp>
      <p:sp>
        <p:nvSpPr>
          <p:cNvPr id="42" name="Shape 39"/>
          <p:cNvSpPr/>
          <p:nvPr/>
        </p:nvSpPr>
        <p:spPr>
          <a:xfrm>
            <a:off x="2474366" y="1874520"/>
            <a:ext cx="32918" cy="457200"/>
          </a:xfrm>
          <a:prstGeom prst="rect">
            <a:avLst/>
          </a:prstGeom>
          <a:solidFill>
            <a:srgbClr val="1B2530"/>
          </a:solidFill>
          <a:ln w="12700">
            <a:solidFill>
              <a:srgbClr val="1B2530"/>
            </a:solidFill>
            <a:prstDash val="solid"/>
          </a:ln>
        </p:spPr>
      </p:sp>
      <p:sp>
        <p:nvSpPr>
          <p:cNvPr id="43" name="Shape 40"/>
          <p:cNvSpPr/>
          <p:nvPr/>
        </p:nvSpPr>
        <p:spPr>
          <a:xfrm>
            <a:off x="2527859" y="1874520"/>
            <a:ext cx="32918" cy="457200"/>
          </a:xfrm>
          <a:prstGeom prst="rect">
            <a:avLst/>
          </a:prstGeom>
          <a:solidFill>
            <a:srgbClr val="3FD0C0"/>
          </a:solidFill>
          <a:ln w="12700">
            <a:solidFill>
              <a:srgbClr val="3FD0C0"/>
            </a:solidFill>
            <a:prstDash val="solid"/>
          </a:ln>
        </p:spPr>
      </p:sp>
      <p:sp>
        <p:nvSpPr>
          <p:cNvPr id="44" name="Shape 41"/>
          <p:cNvSpPr/>
          <p:nvPr/>
        </p:nvSpPr>
        <p:spPr>
          <a:xfrm>
            <a:off x="2581351" y="1874520"/>
            <a:ext cx="32918" cy="457200"/>
          </a:xfrm>
          <a:prstGeom prst="rect">
            <a:avLst/>
          </a:prstGeom>
          <a:solidFill>
            <a:srgbClr val="1B2530"/>
          </a:solidFill>
          <a:ln w="12700">
            <a:solidFill>
              <a:srgbClr val="1B2530"/>
            </a:solidFill>
            <a:prstDash val="solid"/>
          </a:ln>
        </p:spPr>
      </p:sp>
      <p:sp>
        <p:nvSpPr>
          <p:cNvPr id="45" name="Shape 42"/>
          <p:cNvSpPr/>
          <p:nvPr/>
        </p:nvSpPr>
        <p:spPr>
          <a:xfrm>
            <a:off x="2634844" y="1874520"/>
            <a:ext cx="32918" cy="457200"/>
          </a:xfrm>
          <a:prstGeom prst="rect">
            <a:avLst/>
          </a:prstGeom>
          <a:solidFill>
            <a:srgbClr val="1B2530"/>
          </a:solidFill>
          <a:ln w="12700">
            <a:solidFill>
              <a:srgbClr val="1B2530"/>
            </a:solidFill>
            <a:prstDash val="solid"/>
          </a:ln>
        </p:spPr>
      </p:sp>
      <p:sp>
        <p:nvSpPr>
          <p:cNvPr id="46" name="Shape 43"/>
          <p:cNvSpPr/>
          <p:nvPr/>
        </p:nvSpPr>
        <p:spPr>
          <a:xfrm>
            <a:off x="2688336" y="1874520"/>
            <a:ext cx="32918" cy="457200"/>
          </a:xfrm>
          <a:prstGeom prst="rect">
            <a:avLst/>
          </a:prstGeom>
          <a:solidFill>
            <a:srgbClr val="1B2530"/>
          </a:solidFill>
          <a:ln w="12700">
            <a:solidFill>
              <a:srgbClr val="1B2530"/>
            </a:solidFill>
            <a:prstDash val="solid"/>
          </a:ln>
        </p:spPr>
      </p:sp>
      <p:sp>
        <p:nvSpPr>
          <p:cNvPr id="47" name="Shape 44"/>
          <p:cNvSpPr/>
          <p:nvPr/>
        </p:nvSpPr>
        <p:spPr>
          <a:xfrm>
            <a:off x="2741828" y="1874520"/>
            <a:ext cx="32918" cy="457200"/>
          </a:xfrm>
          <a:prstGeom prst="rect">
            <a:avLst/>
          </a:prstGeom>
          <a:solidFill>
            <a:srgbClr val="1B2530"/>
          </a:solidFill>
          <a:ln w="12700">
            <a:solidFill>
              <a:srgbClr val="1B2530"/>
            </a:solidFill>
            <a:prstDash val="solid"/>
          </a:ln>
        </p:spPr>
      </p:sp>
      <p:sp>
        <p:nvSpPr>
          <p:cNvPr id="48" name="Shape 45"/>
          <p:cNvSpPr/>
          <p:nvPr/>
        </p:nvSpPr>
        <p:spPr>
          <a:xfrm>
            <a:off x="2795321" y="1874520"/>
            <a:ext cx="32918" cy="457200"/>
          </a:xfrm>
          <a:prstGeom prst="rect">
            <a:avLst/>
          </a:prstGeom>
          <a:solidFill>
            <a:srgbClr val="1B2530"/>
          </a:solidFill>
          <a:ln w="12700">
            <a:solidFill>
              <a:srgbClr val="1B2530"/>
            </a:solidFill>
            <a:prstDash val="solid"/>
          </a:ln>
        </p:spPr>
      </p:sp>
      <p:sp>
        <p:nvSpPr>
          <p:cNvPr id="49" name="Shape 46"/>
          <p:cNvSpPr/>
          <p:nvPr/>
        </p:nvSpPr>
        <p:spPr>
          <a:xfrm>
            <a:off x="2848813" y="1874520"/>
            <a:ext cx="32918" cy="457200"/>
          </a:xfrm>
          <a:prstGeom prst="rect">
            <a:avLst/>
          </a:prstGeom>
          <a:solidFill>
            <a:srgbClr val="1B2530"/>
          </a:solidFill>
          <a:ln w="12700">
            <a:solidFill>
              <a:srgbClr val="1B2530"/>
            </a:solidFill>
            <a:prstDash val="solid"/>
          </a:ln>
        </p:spPr>
      </p:sp>
      <p:sp>
        <p:nvSpPr>
          <p:cNvPr id="50" name="Shape 47"/>
          <p:cNvSpPr/>
          <p:nvPr/>
        </p:nvSpPr>
        <p:spPr>
          <a:xfrm>
            <a:off x="2902306" y="1874520"/>
            <a:ext cx="32918" cy="457200"/>
          </a:xfrm>
          <a:prstGeom prst="rect">
            <a:avLst/>
          </a:prstGeom>
          <a:solidFill>
            <a:srgbClr val="1B2530"/>
          </a:solidFill>
          <a:ln w="12700">
            <a:solidFill>
              <a:srgbClr val="1B2530"/>
            </a:solidFill>
            <a:prstDash val="solid"/>
          </a:ln>
        </p:spPr>
      </p:sp>
      <p:sp>
        <p:nvSpPr>
          <p:cNvPr id="51" name="Shape 48"/>
          <p:cNvSpPr/>
          <p:nvPr/>
        </p:nvSpPr>
        <p:spPr>
          <a:xfrm>
            <a:off x="2955798" y="1874520"/>
            <a:ext cx="32918" cy="457200"/>
          </a:xfrm>
          <a:prstGeom prst="rect">
            <a:avLst/>
          </a:prstGeom>
          <a:solidFill>
            <a:srgbClr val="1B2530"/>
          </a:solidFill>
          <a:ln w="12700">
            <a:solidFill>
              <a:srgbClr val="1B2530"/>
            </a:solidFill>
            <a:prstDash val="solid"/>
          </a:ln>
        </p:spPr>
      </p:sp>
      <p:sp>
        <p:nvSpPr>
          <p:cNvPr id="52" name="Shape 49"/>
          <p:cNvSpPr/>
          <p:nvPr/>
        </p:nvSpPr>
        <p:spPr>
          <a:xfrm>
            <a:off x="3009290" y="1874520"/>
            <a:ext cx="32918" cy="457200"/>
          </a:xfrm>
          <a:prstGeom prst="rect">
            <a:avLst/>
          </a:prstGeom>
          <a:solidFill>
            <a:srgbClr val="1B2530"/>
          </a:solidFill>
          <a:ln w="12700">
            <a:solidFill>
              <a:srgbClr val="1B2530"/>
            </a:solidFill>
            <a:prstDash val="solid"/>
          </a:ln>
        </p:spPr>
      </p:sp>
      <p:sp>
        <p:nvSpPr>
          <p:cNvPr id="53" name="Shape 50"/>
          <p:cNvSpPr/>
          <p:nvPr/>
        </p:nvSpPr>
        <p:spPr>
          <a:xfrm>
            <a:off x="3062783" y="1874520"/>
            <a:ext cx="32918" cy="457200"/>
          </a:xfrm>
          <a:prstGeom prst="rect">
            <a:avLst/>
          </a:prstGeom>
          <a:solidFill>
            <a:srgbClr val="1B2530"/>
          </a:solidFill>
          <a:ln w="12700">
            <a:solidFill>
              <a:srgbClr val="1B2530"/>
            </a:solidFill>
            <a:prstDash val="solid"/>
          </a:ln>
        </p:spPr>
      </p:sp>
      <p:sp>
        <p:nvSpPr>
          <p:cNvPr id="54" name="Shape 51"/>
          <p:cNvSpPr/>
          <p:nvPr/>
        </p:nvSpPr>
        <p:spPr>
          <a:xfrm>
            <a:off x="3116275" y="1874520"/>
            <a:ext cx="32918" cy="457200"/>
          </a:xfrm>
          <a:prstGeom prst="rect">
            <a:avLst/>
          </a:prstGeom>
          <a:solidFill>
            <a:srgbClr val="1B2530"/>
          </a:solidFill>
          <a:ln w="12700">
            <a:solidFill>
              <a:srgbClr val="1B2530"/>
            </a:solidFill>
            <a:prstDash val="solid"/>
          </a:ln>
        </p:spPr>
      </p:sp>
      <p:sp>
        <p:nvSpPr>
          <p:cNvPr id="55" name="Shape 52"/>
          <p:cNvSpPr/>
          <p:nvPr/>
        </p:nvSpPr>
        <p:spPr>
          <a:xfrm>
            <a:off x="3169768" y="1874520"/>
            <a:ext cx="32918" cy="457200"/>
          </a:xfrm>
          <a:prstGeom prst="rect">
            <a:avLst/>
          </a:prstGeom>
          <a:solidFill>
            <a:srgbClr val="1B2530"/>
          </a:solidFill>
          <a:ln w="12700">
            <a:solidFill>
              <a:srgbClr val="1B2530"/>
            </a:solidFill>
            <a:prstDash val="solid"/>
          </a:ln>
        </p:spPr>
      </p:sp>
      <p:sp>
        <p:nvSpPr>
          <p:cNvPr id="56" name="Shape 53"/>
          <p:cNvSpPr/>
          <p:nvPr/>
        </p:nvSpPr>
        <p:spPr>
          <a:xfrm>
            <a:off x="3223260" y="1874520"/>
            <a:ext cx="32918" cy="457200"/>
          </a:xfrm>
          <a:prstGeom prst="rect">
            <a:avLst/>
          </a:prstGeom>
          <a:solidFill>
            <a:srgbClr val="1B2530"/>
          </a:solidFill>
          <a:ln w="12700">
            <a:solidFill>
              <a:srgbClr val="1B2530"/>
            </a:solidFill>
            <a:prstDash val="solid"/>
          </a:ln>
        </p:spPr>
      </p:sp>
      <p:sp>
        <p:nvSpPr>
          <p:cNvPr id="57" name="Shape 54"/>
          <p:cNvSpPr/>
          <p:nvPr/>
        </p:nvSpPr>
        <p:spPr>
          <a:xfrm>
            <a:off x="3276752" y="1874520"/>
            <a:ext cx="32918" cy="457200"/>
          </a:xfrm>
          <a:prstGeom prst="rect">
            <a:avLst/>
          </a:prstGeom>
          <a:solidFill>
            <a:srgbClr val="1B2530"/>
          </a:solidFill>
          <a:ln w="12700">
            <a:solidFill>
              <a:srgbClr val="1B2530"/>
            </a:solidFill>
            <a:prstDash val="solid"/>
          </a:ln>
        </p:spPr>
      </p:sp>
      <p:sp>
        <p:nvSpPr>
          <p:cNvPr id="58" name="Shape 55"/>
          <p:cNvSpPr/>
          <p:nvPr/>
        </p:nvSpPr>
        <p:spPr>
          <a:xfrm>
            <a:off x="3330245" y="1874520"/>
            <a:ext cx="32918" cy="457200"/>
          </a:xfrm>
          <a:prstGeom prst="rect">
            <a:avLst/>
          </a:prstGeom>
          <a:solidFill>
            <a:srgbClr val="1B2530"/>
          </a:solidFill>
          <a:ln w="12700">
            <a:solidFill>
              <a:srgbClr val="1B2530"/>
            </a:solidFill>
            <a:prstDash val="solid"/>
          </a:ln>
        </p:spPr>
      </p:sp>
      <p:sp>
        <p:nvSpPr>
          <p:cNvPr id="59" name="Shape 56"/>
          <p:cNvSpPr/>
          <p:nvPr/>
        </p:nvSpPr>
        <p:spPr>
          <a:xfrm>
            <a:off x="3383737" y="1874520"/>
            <a:ext cx="32918" cy="457200"/>
          </a:xfrm>
          <a:prstGeom prst="rect">
            <a:avLst/>
          </a:prstGeom>
          <a:solidFill>
            <a:srgbClr val="1B2530"/>
          </a:solidFill>
          <a:ln w="12700">
            <a:solidFill>
              <a:srgbClr val="1B2530"/>
            </a:solidFill>
            <a:prstDash val="solid"/>
          </a:ln>
        </p:spPr>
      </p:sp>
      <p:sp>
        <p:nvSpPr>
          <p:cNvPr id="60" name="Shape 57"/>
          <p:cNvSpPr/>
          <p:nvPr/>
        </p:nvSpPr>
        <p:spPr>
          <a:xfrm>
            <a:off x="3437230" y="1874520"/>
            <a:ext cx="32918" cy="457200"/>
          </a:xfrm>
          <a:prstGeom prst="rect">
            <a:avLst/>
          </a:prstGeom>
          <a:solidFill>
            <a:srgbClr val="1B2530"/>
          </a:solidFill>
          <a:ln w="12700">
            <a:solidFill>
              <a:srgbClr val="1B2530"/>
            </a:solidFill>
            <a:prstDash val="solid"/>
          </a:ln>
        </p:spPr>
      </p:sp>
      <p:sp>
        <p:nvSpPr>
          <p:cNvPr id="61" name="Shape 58"/>
          <p:cNvSpPr/>
          <p:nvPr/>
        </p:nvSpPr>
        <p:spPr>
          <a:xfrm>
            <a:off x="3490722" y="1874520"/>
            <a:ext cx="32918" cy="457200"/>
          </a:xfrm>
          <a:prstGeom prst="rect">
            <a:avLst/>
          </a:prstGeom>
          <a:solidFill>
            <a:srgbClr val="1B2530"/>
          </a:solidFill>
          <a:ln w="12700">
            <a:solidFill>
              <a:srgbClr val="1B2530"/>
            </a:solidFill>
            <a:prstDash val="solid"/>
          </a:ln>
        </p:spPr>
      </p:sp>
      <p:sp>
        <p:nvSpPr>
          <p:cNvPr id="62" name="Shape 59"/>
          <p:cNvSpPr/>
          <p:nvPr/>
        </p:nvSpPr>
        <p:spPr>
          <a:xfrm>
            <a:off x="3544214" y="1874520"/>
            <a:ext cx="32918" cy="457200"/>
          </a:xfrm>
          <a:prstGeom prst="rect">
            <a:avLst/>
          </a:prstGeom>
          <a:solidFill>
            <a:srgbClr val="1B2530"/>
          </a:solidFill>
          <a:ln w="12700">
            <a:solidFill>
              <a:srgbClr val="1B2530"/>
            </a:solidFill>
            <a:prstDash val="solid"/>
          </a:ln>
        </p:spPr>
      </p:sp>
      <p:sp>
        <p:nvSpPr>
          <p:cNvPr id="63" name="Shape 60"/>
          <p:cNvSpPr/>
          <p:nvPr/>
        </p:nvSpPr>
        <p:spPr>
          <a:xfrm>
            <a:off x="3597707" y="1874520"/>
            <a:ext cx="32918" cy="457200"/>
          </a:xfrm>
          <a:prstGeom prst="rect">
            <a:avLst/>
          </a:prstGeom>
          <a:solidFill>
            <a:srgbClr val="1B2530"/>
          </a:solidFill>
          <a:ln w="12700">
            <a:solidFill>
              <a:srgbClr val="1B2530"/>
            </a:solidFill>
            <a:prstDash val="solid"/>
          </a:ln>
        </p:spPr>
      </p:sp>
      <p:sp>
        <p:nvSpPr>
          <p:cNvPr id="64" name="Shape 61"/>
          <p:cNvSpPr/>
          <p:nvPr/>
        </p:nvSpPr>
        <p:spPr>
          <a:xfrm>
            <a:off x="3651199" y="1874520"/>
            <a:ext cx="32918" cy="457200"/>
          </a:xfrm>
          <a:prstGeom prst="rect">
            <a:avLst/>
          </a:prstGeom>
          <a:solidFill>
            <a:srgbClr val="1B2530"/>
          </a:solidFill>
          <a:ln w="12700">
            <a:solidFill>
              <a:srgbClr val="1B2530"/>
            </a:solidFill>
            <a:prstDash val="solid"/>
          </a:ln>
        </p:spPr>
      </p:sp>
      <p:sp>
        <p:nvSpPr>
          <p:cNvPr id="65" name="Shape 62"/>
          <p:cNvSpPr/>
          <p:nvPr/>
        </p:nvSpPr>
        <p:spPr>
          <a:xfrm>
            <a:off x="3704692" y="1874520"/>
            <a:ext cx="32918" cy="457200"/>
          </a:xfrm>
          <a:prstGeom prst="rect">
            <a:avLst/>
          </a:prstGeom>
          <a:solidFill>
            <a:srgbClr val="1B2530"/>
          </a:solidFill>
          <a:ln w="12700">
            <a:solidFill>
              <a:srgbClr val="1B2530"/>
            </a:solidFill>
            <a:prstDash val="solid"/>
          </a:ln>
        </p:spPr>
      </p:sp>
      <p:sp>
        <p:nvSpPr>
          <p:cNvPr id="66" name="Shape 63"/>
          <p:cNvSpPr/>
          <p:nvPr/>
        </p:nvSpPr>
        <p:spPr>
          <a:xfrm>
            <a:off x="3758184" y="1874520"/>
            <a:ext cx="32918" cy="457200"/>
          </a:xfrm>
          <a:prstGeom prst="rect">
            <a:avLst/>
          </a:prstGeom>
          <a:solidFill>
            <a:srgbClr val="1B2530"/>
          </a:solidFill>
          <a:ln w="12700">
            <a:solidFill>
              <a:srgbClr val="1B2530"/>
            </a:solidFill>
            <a:prstDash val="solid"/>
          </a:ln>
        </p:spPr>
      </p:sp>
      <p:sp>
        <p:nvSpPr>
          <p:cNvPr id="67" name="Shape 64"/>
          <p:cNvSpPr/>
          <p:nvPr/>
        </p:nvSpPr>
        <p:spPr>
          <a:xfrm>
            <a:off x="3811676" y="1874520"/>
            <a:ext cx="32918" cy="457200"/>
          </a:xfrm>
          <a:prstGeom prst="rect">
            <a:avLst/>
          </a:prstGeom>
          <a:solidFill>
            <a:srgbClr val="1B2530"/>
          </a:solidFill>
          <a:ln w="12700">
            <a:solidFill>
              <a:srgbClr val="1B2530"/>
            </a:solidFill>
            <a:prstDash val="solid"/>
          </a:ln>
        </p:spPr>
      </p:sp>
      <p:sp>
        <p:nvSpPr>
          <p:cNvPr id="68" name="Shape 65"/>
          <p:cNvSpPr/>
          <p:nvPr/>
        </p:nvSpPr>
        <p:spPr>
          <a:xfrm>
            <a:off x="3865169" y="1874520"/>
            <a:ext cx="32918" cy="457200"/>
          </a:xfrm>
          <a:prstGeom prst="rect">
            <a:avLst/>
          </a:prstGeom>
          <a:solidFill>
            <a:srgbClr val="1B2530"/>
          </a:solidFill>
          <a:ln w="12700">
            <a:solidFill>
              <a:srgbClr val="1B2530"/>
            </a:solidFill>
            <a:prstDash val="solid"/>
          </a:ln>
        </p:spPr>
      </p:sp>
      <p:sp>
        <p:nvSpPr>
          <p:cNvPr id="69" name="Shape 66"/>
          <p:cNvSpPr/>
          <p:nvPr/>
        </p:nvSpPr>
        <p:spPr>
          <a:xfrm>
            <a:off x="3918661" y="1874520"/>
            <a:ext cx="32918" cy="457200"/>
          </a:xfrm>
          <a:prstGeom prst="rect">
            <a:avLst/>
          </a:prstGeom>
          <a:solidFill>
            <a:srgbClr val="1B2530"/>
          </a:solidFill>
          <a:ln w="12700">
            <a:solidFill>
              <a:srgbClr val="1B2530"/>
            </a:solidFill>
            <a:prstDash val="solid"/>
          </a:ln>
        </p:spPr>
      </p:sp>
      <p:sp>
        <p:nvSpPr>
          <p:cNvPr id="70" name="Shape 67"/>
          <p:cNvSpPr/>
          <p:nvPr/>
        </p:nvSpPr>
        <p:spPr>
          <a:xfrm>
            <a:off x="3972154" y="1874520"/>
            <a:ext cx="32918" cy="457200"/>
          </a:xfrm>
          <a:prstGeom prst="rect">
            <a:avLst/>
          </a:prstGeom>
          <a:solidFill>
            <a:srgbClr val="1B2530"/>
          </a:solidFill>
          <a:ln w="12700">
            <a:solidFill>
              <a:srgbClr val="1B2530"/>
            </a:solidFill>
            <a:prstDash val="solid"/>
          </a:ln>
        </p:spPr>
      </p:sp>
      <p:sp>
        <p:nvSpPr>
          <p:cNvPr id="71" name="Shape 68"/>
          <p:cNvSpPr/>
          <p:nvPr/>
        </p:nvSpPr>
        <p:spPr>
          <a:xfrm>
            <a:off x="4025646" y="1874520"/>
            <a:ext cx="32918" cy="457200"/>
          </a:xfrm>
          <a:prstGeom prst="rect">
            <a:avLst/>
          </a:prstGeom>
          <a:solidFill>
            <a:srgbClr val="1B2530"/>
          </a:solidFill>
          <a:ln w="12700">
            <a:solidFill>
              <a:srgbClr val="1B2530"/>
            </a:solidFill>
            <a:prstDash val="solid"/>
          </a:ln>
        </p:spPr>
      </p:sp>
      <p:sp>
        <p:nvSpPr>
          <p:cNvPr id="72" name="Shape 69"/>
          <p:cNvSpPr/>
          <p:nvPr/>
        </p:nvSpPr>
        <p:spPr>
          <a:xfrm>
            <a:off x="4079138" y="1874520"/>
            <a:ext cx="32918" cy="457200"/>
          </a:xfrm>
          <a:prstGeom prst="rect">
            <a:avLst/>
          </a:prstGeom>
          <a:solidFill>
            <a:srgbClr val="1B2530"/>
          </a:solidFill>
          <a:ln w="12700">
            <a:solidFill>
              <a:srgbClr val="1B2530"/>
            </a:solidFill>
            <a:prstDash val="solid"/>
          </a:ln>
        </p:spPr>
      </p:sp>
      <p:sp>
        <p:nvSpPr>
          <p:cNvPr id="73" name="Shape 70"/>
          <p:cNvSpPr/>
          <p:nvPr/>
        </p:nvSpPr>
        <p:spPr>
          <a:xfrm>
            <a:off x="4132631" y="1874520"/>
            <a:ext cx="32918" cy="457200"/>
          </a:xfrm>
          <a:prstGeom prst="rect">
            <a:avLst/>
          </a:prstGeom>
          <a:solidFill>
            <a:srgbClr val="1B2530"/>
          </a:solidFill>
          <a:ln w="12700">
            <a:solidFill>
              <a:srgbClr val="1B2530"/>
            </a:solidFill>
            <a:prstDash val="solid"/>
          </a:ln>
        </p:spPr>
      </p:sp>
      <p:sp>
        <p:nvSpPr>
          <p:cNvPr id="74" name="Shape 71"/>
          <p:cNvSpPr/>
          <p:nvPr/>
        </p:nvSpPr>
        <p:spPr>
          <a:xfrm>
            <a:off x="4186123" y="1874520"/>
            <a:ext cx="32918" cy="457200"/>
          </a:xfrm>
          <a:prstGeom prst="rect">
            <a:avLst/>
          </a:prstGeom>
          <a:solidFill>
            <a:srgbClr val="1B2530"/>
          </a:solidFill>
          <a:ln w="12700">
            <a:solidFill>
              <a:srgbClr val="1B2530"/>
            </a:solidFill>
            <a:prstDash val="solid"/>
          </a:ln>
        </p:spPr>
      </p:sp>
      <p:sp>
        <p:nvSpPr>
          <p:cNvPr id="75" name="Shape 72"/>
          <p:cNvSpPr/>
          <p:nvPr/>
        </p:nvSpPr>
        <p:spPr>
          <a:xfrm>
            <a:off x="4239616" y="1874520"/>
            <a:ext cx="32918" cy="457200"/>
          </a:xfrm>
          <a:prstGeom prst="rect">
            <a:avLst/>
          </a:prstGeom>
          <a:solidFill>
            <a:srgbClr val="1B2530"/>
          </a:solidFill>
          <a:ln w="12700">
            <a:solidFill>
              <a:srgbClr val="1B2530"/>
            </a:solidFill>
            <a:prstDash val="solid"/>
          </a:ln>
        </p:spPr>
      </p:sp>
      <p:sp>
        <p:nvSpPr>
          <p:cNvPr id="76" name="Shape 73"/>
          <p:cNvSpPr/>
          <p:nvPr/>
        </p:nvSpPr>
        <p:spPr>
          <a:xfrm>
            <a:off x="4293108" y="1874520"/>
            <a:ext cx="32918" cy="457200"/>
          </a:xfrm>
          <a:prstGeom prst="rect">
            <a:avLst/>
          </a:prstGeom>
          <a:solidFill>
            <a:srgbClr val="1B2530"/>
          </a:solidFill>
          <a:ln w="12700">
            <a:solidFill>
              <a:srgbClr val="1B2530"/>
            </a:solidFill>
            <a:prstDash val="solid"/>
          </a:ln>
        </p:spPr>
      </p:sp>
      <p:sp>
        <p:nvSpPr>
          <p:cNvPr id="77" name="Shape 74"/>
          <p:cNvSpPr/>
          <p:nvPr/>
        </p:nvSpPr>
        <p:spPr>
          <a:xfrm>
            <a:off x="4346600" y="1874520"/>
            <a:ext cx="32918" cy="457200"/>
          </a:xfrm>
          <a:prstGeom prst="rect">
            <a:avLst/>
          </a:prstGeom>
          <a:solidFill>
            <a:srgbClr val="1B2530"/>
          </a:solidFill>
          <a:ln w="12700">
            <a:solidFill>
              <a:srgbClr val="1B2530"/>
            </a:solidFill>
            <a:prstDash val="solid"/>
          </a:ln>
        </p:spPr>
      </p:sp>
      <p:sp>
        <p:nvSpPr>
          <p:cNvPr id="78" name="Shape 75"/>
          <p:cNvSpPr/>
          <p:nvPr/>
        </p:nvSpPr>
        <p:spPr>
          <a:xfrm>
            <a:off x="4400093" y="1874520"/>
            <a:ext cx="32918" cy="457200"/>
          </a:xfrm>
          <a:prstGeom prst="rect">
            <a:avLst/>
          </a:prstGeom>
          <a:solidFill>
            <a:srgbClr val="1B2530"/>
          </a:solidFill>
          <a:ln w="12700">
            <a:solidFill>
              <a:srgbClr val="1B2530"/>
            </a:solidFill>
            <a:prstDash val="solid"/>
          </a:ln>
        </p:spPr>
      </p:sp>
      <p:sp>
        <p:nvSpPr>
          <p:cNvPr id="79" name="Shape 76"/>
          <p:cNvSpPr/>
          <p:nvPr/>
        </p:nvSpPr>
        <p:spPr>
          <a:xfrm>
            <a:off x="4453585" y="1874520"/>
            <a:ext cx="32918" cy="457200"/>
          </a:xfrm>
          <a:prstGeom prst="rect">
            <a:avLst/>
          </a:prstGeom>
          <a:solidFill>
            <a:srgbClr val="1B2530"/>
          </a:solidFill>
          <a:ln w="12700">
            <a:solidFill>
              <a:srgbClr val="1B2530"/>
            </a:solidFill>
            <a:prstDash val="solid"/>
          </a:ln>
        </p:spPr>
      </p:sp>
      <p:sp>
        <p:nvSpPr>
          <p:cNvPr id="80" name="Shape 77"/>
          <p:cNvSpPr/>
          <p:nvPr/>
        </p:nvSpPr>
        <p:spPr>
          <a:xfrm>
            <a:off x="4507078" y="1874520"/>
            <a:ext cx="32918" cy="457200"/>
          </a:xfrm>
          <a:prstGeom prst="rect">
            <a:avLst/>
          </a:prstGeom>
          <a:solidFill>
            <a:srgbClr val="1B2530"/>
          </a:solidFill>
          <a:ln w="12700">
            <a:solidFill>
              <a:srgbClr val="1B2530"/>
            </a:solidFill>
            <a:prstDash val="solid"/>
          </a:ln>
        </p:spPr>
      </p:sp>
      <p:sp>
        <p:nvSpPr>
          <p:cNvPr id="81" name="Shape 78"/>
          <p:cNvSpPr/>
          <p:nvPr/>
        </p:nvSpPr>
        <p:spPr>
          <a:xfrm>
            <a:off x="4560570" y="1874520"/>
            <a:ext cx="32918" cy="457200"/>
          </a:xfrm>
          <a:prstGeom prst="rect">
            <a:avLst/>
          </a:prstGeom>
          <a:solidFill>
            <a:srgbClr val="1B2530"/>
          </a:solidFill>
          <a:ln w="12700">
            <a:solidFill>
              <a:srgbClr val="1B2530"/>
            </a:solidFill>
            <a:prstDash val="solid"/>
          </a:ln>
        </p:spPr>
      </p:sp>
      <p:sp>
        <p:nvSpPr>
          <p:cNvPr id="82" name="Shape 79"/>
          <p:cNvSpPr/>
          <p:nvPr/>
        </p:nvSpPr>
        <p:spPr>
          <a:xfrm>
            <a:off x="4614062" y="1874520"/>
            <a:ext cx="32918" cy="457200"/>
          </a:xfrm>
          <a:prstGeom prst="rect">
            <a:avLst/>
          </a:prstGeom>
          <a:solidFill>
            <a:srgbClr val="1B2530"/>
          </a:solidFill>
          <a:ln w="12700">
            <a:solidFill>
              <a:srgbClr val="1B2530"/>
            </a:solidFill>
            <a:prstDash val="solid"/>
          </a:ln>
        </p:spPr>
      </p:sp>
      <p:sp>
        <p:nvSpPr>
          <p:cNvPr id="83" name="Shape 80"/>
          <p:cNvSpPr/>
          <p:nvPr/>
        </p:nvSpPr>
        <p:spPr>
          <a:xfrm>
            <a:off x="4667555" y="1874520"/>
            <a:ext cx="32918" cy="457200"/>
          </a:xfrm>
          <a:prstGeom prst="rect">
            <a:avLst/>
          </a:prstGeom>
          <a:solidFill>
            <a:srgbClr val="1B2530"/>
          </a:solidFill>
          <a:ln w="12700">
            <a:solidFill>
              <a:srgbClr val="1B2530"/>
            </a:solidFill>
            <a:prstDash val="solid"/>
          </a:ln>
        </p:spPr>
      </p:sp>
      <p:sp>
        <p:nvSpPr>
          <p:cNvPr id="84" name="Shape 81"/>
          <p:cNvSpPr/>
          <p:nvPr/>
        </p:nvSpPr>
        <p:spPr>
          <a:xfrm>
            <a:off x="4721047" y="1874520"/>
            <a:ext cx="32918" cy="457200"/>
          </a:xfrm>
          <a:prstGeom prst="rect">
            <a:avLst/>
          </a:prstGeom>
          <a:solidFill>
            <a:srgbClr val="1B2530"/>
          </a:solidFill>
          <a:ln w="12700">
            <a:solidFill>
              <a:srgbClr val="1B2530"/>
            </a:solidFill>
            <a:prstDash val="solid"/>
          </a:ln>
        </p:spPr>
      </p:sp>
      <p:sp>
        <p:nvSpPr>
          <p:cNvPr id="85" name="Shape 82"/>
          <p:cNvSpPr/>
          <p:nvPr/>
        </p:nvSpPr>
        <p:spPr>
          <a:xfrm>
            <a:off x="4774540" y="1874520"/>
            <a:ext cx="32918" cy="457200"/>
          </a:xfrm>
          <a:prstGeom prst="rect">
            <a:avLst/>
          </a:prstGeom>
          <a:solidFill>
            <a:srgbClr val="1B2530"/>
          </a:solidFill>
          <a:ln w="12700">
            <a:solidFill>
              <a:srgbClr val="1B2530"/>
            </a:solidFill>
            <a:prstDash val="solid"/>
          </a:ln>
        </p:spPr>
      </p:sp>
      <p:sp>
        <p:nvSpPr>
          <p:cNvPr id="86" name="Shape 83"/>
          <p:cNvSpPr/>
          <p:nvPr/>
        </p:nvSpPr>
        <p:spPr>
          <a:xfrm>
            <a:off x="4828032" y="1874520"/>
            <a:ext cx="32918" cy="457200"/>
          </a:xfrm>
          <a:prstGeom prst="rect">
            <a:avLst/>
          </a:prstGeom>
          <a:solidFill>
            <a:srgbClr val="1B2530"/>
          </a:solidFill>
          <a:ln w="12700">
            <a:solidFill>
              <a:srgbClr val="1B2530"/>
            </a:solidFill>
            <a:prstDash val="solid"/>
          </a:ln>
        </p:spPr>
      </p:sp>
      <p:sp>
        <p:nvSpPr>
          <p:cNvPr id="87" name="Shape 84"/>
          <p:cNvSpPr/>
          <p:nvPr/>
        </p:nvSpPr>
        <p:spPr>
          <a:xfrm>
            <a:off x="4881524" y="1874520"/>
            <a:ext cx="32918" cy="457200"/>
          </a:xfrm>
          <a:prstGeom prst="rect">
            <a:avLst/>
          </a:prstGeom>
          <a:solidFill>
            <a:srgbClr val="1B2530"/>
          </a:solidFill>
          <a:ln w="12700">
            <a:solidFill>
              <a:srgbClr val="1B2530"/>
            </a:solidFill>
            <a:prstDash val="solid"/>
          </a:ln>
        </p:spPr>
      </p:sp>
      <p:sp>
        <p:nvSpPr>
          <p:cNvPr id="88" name="Shape 85"/>
          <p:cNvSpPr/>
          <p:nvPr/>
        </p:nvSpPr>
        <p:spPr>
          <a:xfrm>
            <a:off x="4935017" y="1874520"/>
            <a:ext cx="32918" cy="457200"/>
          </a:xfrm>
          <a:prstGeom prst="rect">
            <a:avLst/>
          </a:prstGeom>
          <a:solidFill>
            <a:srgbClr val="1B2530"/>
          </a:solidFill>
          <a:ln w="12700">
            <a:solidFill>
              <a:srgbClr val="1B2530"/>
            </a:solidFill>
            <a:prstDash val="solid"/>
          </a:ln>
        </p:spPr>
      </p:sp>
      <p:sp>
        <p:nvSpPr>
          <p:cNvPr id="89" name="Shape 86"/>
          <p:cNvSpPr/>
          <p:nvPr/>
        </p:nvSpPr>
        <p:spPr>
          <a:xfrm>
            <a:off x="4988509" y="1874520"/>
            <a:ext cx="32918" cy="457200"/>
          </a:xfrm>
          <a:prstGeom prst="rect">
            <a:avLst/>
          </a:prstGeom>
          <a:solidFill>
            <a:srgbClr val="1B2530"/>
          </a:solidFill>
          <a:ln w="12700">
            <a:solidFill>
              <a:srgbClr val="1B2530"/>
            </a:solidFill>
            <a:prstDash val="solid"/>
          </a:ln>
        </p:spPr>
      </p:sp>
      <p:sp>
        <p:nvSpPr>
          <p:cNvPr id="90" name="Shape 87"/>
          <p:cNvSpPr/>
          <p:nvPr/>
        </p:nvSpPr>
        <p:spPr>
          <a:xfrm>
            <a:off x="5042002" y="1874520"/>
            <a:ext cx="32918" cy="457200"/>
          </a:xfrm>
          <a:prstGeom prst="rect">
            <a:avLst/>
          </a:prstGeom>
          <a:solidFill>
            <a:srgbClr val="1B2530"/>
          </a:solidFill>
          <a:ln w="12700">
            <a:solidFill>
              <a:srgbClr val="1B2530"/>
            </a:solidFill>
            <a:prstDash val="solid"/>
          </a:ln>
        </p:spPr>
      </p:sp>
      <p:sp>
        <p:nvSpPr>
          <p:cNvPr id="91" name="Shape 88"/>
          <p:cNvSpPr/>
          <p:nvPr/>
        </p:nvSpPr>
        <p:spPr>
          <a:xfrm>
            <a:off x="5095494" y="1874520"/>
            <a:ext cx="32918" cy="457200"/>
          </a:xfrm>
          <a:prstGeom prst="rect">
            <a:avLst/>
          </a:prstGeom>
          <a:solidFill>
            <a:srgbClr val="1B2530"/>
          </a:solidFill>
          <a:ln w="12700">
            <a:solidFill>
              <a:srgbClr val="1B2530"/>
            </a:solidFill>
            <a:prstDash val="solid"/>
          </a:ln>
        </p:spPr>
      </p:sp>
      <p:sp>
        <p:nvSpPr>
          <p:cNvPr id="92" name="Shape 89"/>
          <p:cNvSpPr/>
          <p:nvPr/>
        </p:nvSpPr>
        <p:spPr>
          <a:xfrm>
            <a:off x="5148986" y="1874520"/>
            <a:ext cx="32918" cy="457200"/>
          </a:xfrm>
          <a:prstGeom prst="rect">
            <a:avLst/>
          </a:prstGeom>
          <a:solidFill>
            <a:srgbClr val="1B2530"/>
          </a:solidFill>
          <a:ln w="12700">
            <a:solidFill>
              <a:srgbClr val="1B2530"/>
            </a:solidFill>
            <a:prstDash val="solid"/>
          </a:ln>
        </p:spPr>
      </p:sp>
      <p:sp>
        <p:nvSpPr>
          <p:cNvPr id="93" name="Shape 90"/>
          <p:cNvSpPr/>
          <p:nvPr/>
        </p:nvSpPr>
        <p:spPr>
          <a:xfrm>
            <a:off x="5202479" y="1874520"/>
            <a:ext cx="32918" cy="457200"/>
          </a:xfrm>
          <a:prstGeom prst="rect">
            <a:avLst/>
          </a:prstGeom>
          <a:solidFill>
            <a:srgbClr val="1B2530"/>
          </a:solidFill>
          <a:ln w="12700">
            <a:solidFill>
              <a:srgbClr val="1B2530"/>
            </a:solidFill>
            <a:prstDash val="solid"/>
          </a:ln>
        </p:spPr>
      </p:sp>
      <p:sp>
        <p:nvSpPr>
          <p:cNvPr id="94" name="Shape 91"/>
          <p:cNvSpPr/>
          <p:nvPr/>
        </p:nvSpPr>
        <p:spPr>
          <a:xfrm>
            <a:off x="5255971" y="1874520"/>
            <a:ext cx="32918" cy="457200"/>
          </a:xfrm>
          <a:prstGeom prst="rect">
            <a:avLst/>
          </a:prstGeom>
          <a:solidFill>
            <a:srgbClr val="1B2530"/>
          </a:solidFill>
          <a:ln w="12700">
            <a:solidFill>
              <a:srgbClr val="1B2530"/>
            </a:solidFill>
            <a:prstDash val="solid"/>
          </a:ln>
        </p:spPr>
      </p:sp>
      <p:sp>
        <p:nvSpPr>
          <p:cNvPr id="95" name="Shape 92"/>
          <p:cNvSpPr/>
          <p:nvPr/>
        </p:nvSpPr>
        <p:spPr>
          <a:xfrm>
            <a:off x="5309464" y="1874520"/>
            <a:ext cx="32918" cy="457200"/>
          </a:xfrm>
          <a:prstGeom prst="rect">
            <a:avLst/>
          </a:prstGeom>
          <a:solidFill>
            <a:srgbClr val="1B2530"/>
          </a:solidFill>
          <a:ln w="12700">
            <a:solidFill>
              <a:srgbClr val="1B2530"/>
            </a:solidFill>
            <a:prstDash val="solid"/>
          </a:ln>
        </p:spPr>
      </p:sp>
      <p:sp>
        <p:nvSpPr>
          <p:cNvPr id="96" name="Shape 93"/>
          <p:cNvSpPr/>
          <p:nvPr/>
        </p:nvSpPr>
        <p:spPr>
          <a:xfrm>
            <a:off x="5362956" y="1874520"/>
            <a:ext cx="32918" cy="457200"/>
          </a:xfrm>
          <a:prstGeom prst="rect">
            <a:avLst/>
          </a:prstGeom>
          <a:solidFill>
            <a:srgbClr val="1B2530"/>
          </a:solidFill>
          <a:ln w="12700">
            <a:solidFill>
              <a:srgbClr val="1B2530"/>
            </a:solidFill>
            <a:prstDash val="solid"/>
          </a:ln>
        </p:spPr>
      </p:sp>
      <p:sp>
        <p:nvSpPr>
          <p:cNvPr id="97" name="Shape 94"/>
          <p:cNvSpPr/>
          <p:nvPr/>
        </p:nvSpPr>
        <p:spPr>
          <a:xfrm>
            <a:off x="5416448" y="1874520"/>
            <a:ext cx="32918" cy="457200"/>
          </a:xfrm>
          <a:prstGeom prst="rect">
            <a:avLst/>
          </a:prstGeom>
          <a:solidFill>
            <a:srgbClr val="1B2530"/>
          </a:solidFill>
          <a:ln w="12700">
            <a:solidFill>
              <a:srgbClr val="1B2530"/>
            </a:solidFill>
            <a:prstDash val="solid"/>
          </a:ln>
        </p:spPr>
      </p:sp>
      <p:sp>
        <p:nvSpPr>
          <p:cNvPr id="98" name="Shape 95"/>
          <p:cNvSpPr/>
          <p:nvPr/>
        </p:nvSpPr>
        <p:spPr>
          <a:xfrm>
            <a:off x="5469941" y="1874520"/>
            <a:ext cx="32918" cy="457200"/>
          </a:xfrm>
          <a:prstGeom prst="rect">
            <a:avLst/>
          </a:prstGeom>
          <a:solidFill>
            <a:srgbClr val="1B2530"/>
          </a:solidFill>
          <a:ln w="12700">
            <a:solidFill>
              <a:srgbClr val="1B2530"/>
            </a:solidFill>
            <a:prstDash val="solid"/>
          </a:ln>
        </p:spPr>
      </p:sp>
      <p:sp>
        <p:nvSpPr>
          <p:cNvPr id="99" name="Shape 96"/>
          <p:cNvSpPr/>
          <p:nvPr/>
        </p:nvSpPr>
        <p:spPr>
          <a:xfrm>
            <a:off x="5523433" y="1874520"/>
            <a:ext cx="32918" cy="457200"/>
          </a:xfrm>
          <a:prstGeom prst="rect">
            <a:avLst/>
          </a:prstGeom>
          <a:solidFill>
            <a:srgbClr val="1B2530"/>
          </a:solidFill>
          <a:ln w="12700">
            <a:solidFill>
              <a:srgbClr val="1B2530"/>
            </a:solidFill>
            <a:prstDash val="solid"/>
          </a:ln>
        </p:spPr>
      </p:sp>
      <p:sp>
        <p:nvSpPr>
          <p:cNvPr id="100" name="Shape 97"/>
          <p:cNvSpPr/>
          <p:nvPr/>
        </p:nvSpPr>
        <p:spPr>
          <a:xfrm>
            <a:off x="5576926" y="1874520"/>
            <a:ext cx="32918" cy="457200"/>
          </a:xfrm>
          <a:prstGeom prst="rect">
            <a:avLst/>
          </a:prstGeom>
          <a:solidFill>
            <a:srgbClr val="1B2530"/>
          </a:solidFill>
          <a:ln w="12700">
            <a:solidFill>
              <a:srgbClr val="1B2530"/>
            </a:solidFill>
            <a:prstDash val="solid"/>
          </a:ln>
        </p:spPr>
      </p:sp>
      <p:sp>
        <p:nvSpPr>
          <p:cNvPr id="101" name="Shape 98"/>
          <p:cNvSpPr/>
          <p:nvPr/>
        </p:nvSpPr>
        <p:spPr>
          <a:xfrm>
            <a:off x="5630418" y="1874520"/>
            <a:ext cx="32918" cy="457200"/>
          </a:xfrm>
          <a:prstGeom prst="rect">
            <a:avLst/>
          </a:prstGeom>
          <a:solidFill>
            <a:srgbClr val="1B2530"/>
          </a:solidFill>
          <a:ln w="12700">
            <a:solidFill>
              <a:srgbClr val="1B2530"/>
            </a:solidFill>
            <a:prstDash val="solid"/>
          </a:ln>
        </p:spPr>
      </p:sp>
      <p:sp>
        <p:nvSpPr>
          <p:cNvPr id="102" name="Shape 99"/>
          <p:cNvSpPr/>
          <p:nvPr/>
        </p:nvSpPr>
        <p:spPr>
          <a:xfrm>
            <a:off x="5683910" y="1874520"/>
            <a:ext cx="32918" cy="457200"/>
          </a:xfrm>
          <a:prstGeom prst="rect">
            <a:avLst/>
          </a:prstGeom>
          <a:solidFill>
            <a:srgbClr val="1B2530"/>
          </a:solidFill>
          <a:ln w="12700">
            <a:solidFill>
              <a:srgbClr val="1B2530"/>
            </a:solidFill>
            <a:prstDash val="solid"/>
          </a:ln>
        </p:spPr>
      </p:sp>
      <p:sp>
        <p:nvSpPr>
          <p:cNvPr id="103" name="Shape 100"/>
          <p:cNvSpPr/>
          <p:nvPr/>
        </p:nvSpPr>
        <p:spPr>
          <a:xfrm>
            <a:off x="5737403" y="1874520"/>
            <a:ext cx="32918" cy="457200"/>
          </a:xfrm>
          <a:prstGeom prst="rect">
            <a:avLst/>
          </a:prstGeom>
          <a:solidFill>
            <a:srgbClr val="1B2530"/>
          </a:solidFill>
          <a:ln w="12700">
            <a:solidFill>
              <a:srgbClr val="1B2530"/>
            </a:solidFill>
            <a:prstDash val="solid"/>
          </a:ln>
        </p:spPr>
      </p:sp>
      <p:sp>
        <p:nvSpPr>
          <p:cNvPr id="104" name="Shape 101"/>
          <p:cNvSpPr/>
          <p:nvPr/>
        </p:nvSpPr>
        <p:spPr>
          <a:xfrm>
            <a:off x="5790895" y="1874520"/>
            <a:ext cx="32918" cy="457200"/>
          </a:xfrm>
          <a:prstGeom prst="rect">
            <a:avLst/>
          </a:prstGeom>
          <a:solidFill>
            <a:srgbClr val="1B2530"/>
          </a:solidFill>
          <a:ln w="12700">
            <a:solidFill>
              <a:srgbClr val="1B2530"/>
            </a:solidFill>
            <a:prstDash val="solid"/>
          </a:ln>
        </p:spPr>
      </p:sp>
      <p:sp>
        <p:nvSpPr>
          <p:cNvPr id="105" name="Shape 102"/>
          <p:cNvSpPr/>
          <p:nvPr/>
        </p:nvSpPr>
        <p:spPr>
          <a:xfrm>
            <a:off x="5844388" y="1874520"/>
            <a:ext cx="32918" cy="457200"/>
          </a:xfrm>
          <a:prstGeom prst="rect">
            <a:avLst/>
          </a:prstGeom>
          <a:solidFill>
            <a:srgbClr val="1B2530"/>
          </a:solidFill>
          <a:ln w="12700">
            <a:solidFill>
              <a:srgbClr val="1B2530"/>
            </a:solidFill>
            <a:prstDash val="solid"/>
          </a:ln>
        </p:spPr>
      </p:sp>
      <p:sp>
        <p:nvSpPr>
          <p:cNvPr id="106" name="Text 103"/>
          <p:cNvSpPr txBox="1"/>
          <p:nvPr/>
        </p:nvSpPr>
        <p:spPr>
          <a:xfrm>
            <a:off x="548640" y="2395728"/>
            <a:ext cx="5486400" cy="274320"/>
          </a:xfrm>
          <a:prstGeom prst="rect">
            <a:avLst/>
          </a:prstGeom>
          <a:noFill/>
          <a:ln/>
        </p:spPr>
        <p:txBody>
          <a:bodyPr wrap="square" lIns="0" tIns="0" rIns="0" bIns="0" rtlCol="0" anchor="t"/>
          <a:lstStyle/>
          <a:p>
            <a:pPr indent="0" marL="0">
              <a:buNone/>
            </a:pPr>
            <a:r>
              <a:rPr lang="en-US" sz="1300" dirty="0">
                <a:solidFill>
                  <a:srgbClr val="8E9BAA"/>
                </a:solidFill>
                <a:latin typeface="Consolas" pitchFamily="34" charset="0"/>
                <a:ea typeface="Consolas" pitchFamily="34" charset="-122"/>
                <a:cs typeface="Consolas" pitchFamily="34" charset="-120"/>
              </a:rPr>
              <a:t>100 blocks · 1000 samples / block (1 s)</a:t>
            </a:r>
            <a:endParaRPr lang="en-US" sz="1300" dirty="0"/>
          </a:p>
        </p:txBody>
      </p:sp>
      <p:sp>
        <p:nvSpPr>
          <p:cNvPr id="107" name="Shape 104"/>
          <p:cNvSpPr/>
          <p:nvPr/>
        </p:nvSpPr>
        <p:spPr>
          <a:xfrm>
            <a:off x="2697480" y="2697480"/>
            <a:ext cx="0" cy="320040"/>
          </a:xfrm>
          <a:prstGeom prst="line">
            <a:avLst/>
          </a:prstGeom>
          <a:noFill/>
          <a:ln w="19050">
            <a:solidFill>
              <a:srgbClr val="3FD0C0"/>
            </a:solidFill>
            <a:prstDash val="solid"/>
            <a:tailEnd type="triangle"/>
          </a:ln>
        </p:spPr>
      </p:sp>
      <p:sp>
        <p:nvSpPr>
          <p:cNvPr id="108" name="Shape 105"/>
          <p:cNvSpPr/>
          <p:nvPr/>
        </p:nvSpPr>
        <p:spPr>
          <a:xfrm>
            <a:off x="548640" y="3063240"/>
            <a:ext cx="2377440" cy="685800"/>
          </a:xfrm>
          <a:prstGeom prst="rect">
            <a:avLst/>
          </a:prstGeom>
          <a:solidFill>
            <a:srgbClr val="121923"/>
          </a:solidFill>
          <a:ln w="9525">
            <a:solidFill>
              <a:srgbClr val="263241"/>
            </a:solidFill>
            <a:prstDash val="solid"/>
          </a:ln>
        </p:spPr>
      </p:sp>
      <p:sp>
        <p:nvSpPr>
          <p:cNvPr id="109" name="Text 106"/>
          <p:cNvSpPr txBox="1"/>
          <p:nvPr/>
        </p:nvSpPr>
        <p:spPr>
          <a:xfrm>
            <a:off x="548640" y="3063240"/>
            <a:ext cx="2377440" cy="685800"/>
          </a:xfrm>
          <a:prstGeom prst="rect">
            <a:avLst/>
          </a:prstGeom>
          <a:noFill/>
          <a:ln/>
        </p:spPr>
        <p:txBody>
          <a:bodyPr wrap="square" lIns="0" tIns="0" rIns="0" bIns="0" rtlCol="0" anchor="ctr"/>
          <a:lstStyle/>
          <a:p>
            <a:pPr algn="ctr" indent="0" marL="0">
              <a:buNone/>
            </a:pPr>
            <a:r>
              <a:rPr lang="en-US" sz="1500" b="1" dirty="0">
                <a:solidFill>
                  <a:srgbClr val="E8ECEF"/>
                </a:solidFill>
                <a:latin typeface="Calibri" pitchFamily="34" charset="0"/>
                <a:ea typeface="Calibri" pitchFamily="34" charset="-122"/>
                <a:cs typeface="Calibri" pitchFamily="34" charset="-120"/>
              </a:rPr>
              <a:t>1000 raw samples</a:t>
            </a:r>
            <a:endParaRPr lang="en-US" sz="1500" dirty="0"/>
          </a:p>
        </p:txBody>
      </p:sp>
      <p:sp>
        <p:nvSpPr>
          <p:cNvPr id="110" name="Shape 107"/>
          <p:cNvSpPr/>
          <p:nvPr/>
        </p:nvSpPr>
        <p:spPr>
          <a:xfrm>
            <a:off x="2971800" y="3401568"/>
            <a:ext cx="365760" cy="0"/>
          </a:xfrm>
          <a:prstGeom prst="line">
            <a:avLst/>
          </a:prstGeom>
          <a:noFill/>
          <a:ln w="19050">
            <a:solidFill>
              <a:srgbClr val="3FD0C0"/>
            </a:solidFill>
            <a:prstDash val="solid"/>
            <a:tailEnd type="triangle"/>
          </a:ln>
        </p:spPr>
      </p:sp>
      <p:sp>
        <p:nvSpPr>
          <p:cNvPr id="111" name="Shape 108"/>
          <p:cNvSpPr/>
          <p:nvPr/>
        </p:nvSpPr>
        <p:spPr>
          <a:xfrm>
            <a:off x="3383280" y="3063240"/>
            <a:ext cx="2377440" cy="685800"/>
          </a:xfrm>
          <a:prstGeom prst="rect">
            <a:avLst/>
          </a:prstGeom>
          <a:solidFill>
            <a:srgbClr val="10312F"/>
          </a:solidFill>
          <a:ln w="12700">
            <a:solidFill>
              <a:srgbClr val="3FD0C0"/>
            </a:solidFill>
            <a:prstDash val="solid"/>
          </a:ln>
        </p:spPr>
      </p:sp>
      <p:sp>
        <p:nvSpPr>
          <p:cNvPr id="112" name="Text 109"/>
          <p:cNvSpPr txBox="1"/>
          <p:nvPr/>
        </p:nvSpPr>
        <p:spPr>
          <a:xfrm>
            <a:off x="3383280" y="3063240"/>
            <a:ext cx="2377440" cy="685800"/>
          </a:xfrm>
          <a:prstGeom prst="rect">
            <a:avLst/>
          </a:prstGeom>
          <a:noFill/>
          <a:ln/>
        </p:spPr>
        <p:txBody>
          <a:bodyPr wrap="square" lIns="0" tIns="0" rIns="0" bIns="0" rtlCol="0" anchor="ctr"/>
          <a:lstStyle/>
          <a:p>
            <a:pPr algn="ctr" indent="0" marL="0">
              <a:buNone/>
            </a:pPr>
            <a:r>
              <a:rPr lang="en-US" sz="1800" b="1" dirty="0">
                <a:solidFill>
                  <a:srgbClr val="3FD0C0"/>
                </a:solidFill>
                <a:latin typeface="Consolas" pitchFamily="34" charset="0"/>
                <a:ea typeface="Consolas" pitchFamily="34" charset="-122"/>
                <a:cs typeface="Consolas" pitchFamily="34" charset="-120"/>
              </a:rPr>
              <a:t>s₀ · s₁ · s₂</a:t>
            </a:r>
            <a:endParaRPr lang="en-US" sz="1800" dirty="0"/>
          </a:p>
        </p:txBody>
      </p:sp>
      <p:sp>
        <p:nvSpPr>
          <p:cNvPr id="113" name="Text 110"/>
          <p:cNvSpPr txBox="1"/>
          <p:nvPr/>
        </p:nvSpPr>
        <p:spPr>
          <a:xfrm>
            <a:off x="548640" y="3977640"/>
            <a:ext cx="3108960" cy="822960"/>
          </a:xfrm>
          <a:prstGeom prst="rect">
            <a:avLst/>
          </a:prstGeom>
          <a:noFill/>
          <a:ln/>
        </p:spPr>
        <p:txBody>
          <a:bodyPr wrap="square" lIns="0" tIns="0" rIns="0" bIns="0" rtlCol="0" anchor="t"/>
          <a:lstStyle/>
          <a:p>
            <a:pPr indent="0" marL="0">
              <a:buNone/>
            </a:pPr>
            <a:r>
              <a:rPr lang="en-US" sz="1300" dirty="0">
                <a:solidFill>
                  <a:srgbClr val="8E9BAA"/>
                </a:solidFill>
                <a:latin typeface="Consolas" pitchFamily="34" charset="0"/>
                <a:ea typeface="Consolas" pitchFamily="34" charset="-122"/>
                <a:cs typeface="Consolas" pitchFamily="34" charset="-120"/>
              </a:rPr>
              <a:t>s₀ int32  400 B</a:t>
            </a:r>
            <a:endParaRPr lang="en-US" sz="1300" dirty="0"/>
          </a:p>
          <a:p>
            <a:pPr indent="0" marL="0">
              <a:buNone/>
            </a:pPr>
            <a:r>
              <a:rPr lang="en-US" sz="1300" dirty="0">
                <a:solidFill>
                  <a:srgbClr val="8E9BAA"/>
                </a:solidFill>
                <a:latin typeface="Consolas" pitchFamily="34" charset="0"/>
                <a:ea typeface="Consolas" pitchFamily="34" charset="-122"/>
                <a:cs typeface="Consolas" pitchFamily="34" charset="-120"/>
              </a:rPr>
              <a:t>s₁ int64  800 B</a:t>
            </a:r>
            <a:endParaRPr lang="en-US" sz="1300" dirty="0"/>
          </a:p>
          <a:p>
            <a:pPr indent="0" marL="0">
              <a:buNone/>
            </a:pPr>
            <a:r>
              <a:rPr lang="en-US" sz="1300" dirty="0">
                <a:solidFill>
                  <a:srgbClr val="8E9BAA"/>
                </a:solidFill>
                <a:latin typeface="Consolas" pitchFamily="34" charset="0"/>
                <a:ea typeface="Consolas" pitchFamily="34" charset="-122"/>
                <a:cs typeface="Consolas" pitchFamily="34" charset="-120"/>
              </a:rPr>
              <a:t>s₂ int64  800 B</a:t>
            </a:r>
            <a:endParaRPr lang="en-US" sz="1300" dirty="0"/>
          </a:p>
        </p:txBody>
      </p:sp>
      <p:sp>
        <p:nvSpPr>
          <p:cNvPr id="114" name="Text 111"/>
          <p:cNvSpPr txBox="1"/>
          <p:nvPr/>
        </p:nvSpPr>
        <p:spPr>
          <a:xfrm>
            <a:off x="3840480" y="4069080"/>
            <a:ext cx="2194560" cy="457200"/>
          </a:xfrm>
          <a:prstGeom prst="rect">
            <a:avLst/>
          </a:prstGeom>
          <a:noFill/>
          <a:ln/>
        </p:spPr>
        <p:txBody>
          <a:bodyPr wrap="square" lIns="0" tIns="0" rIns="0" bIns="0" rtlCol="0" anchor="t"/>
          <a:lstStyle/>
          <a:p>
            <a:pPr indent="0" marL="0">
              <a:buNone/>
            </a:pPr>
            <a:r>
              <a:rPr lang="en-US" sz="3000" b="1" dirty="0">
                <a:solidFill>
                  <a:srgbClr val="3FD0C0"/>
                </a:solidFill>
                <a:latin typeface="Consolas" pitchFamily="34" charset="0"/>
                <a:ea typeface="Consolas" pitchFamily="34" charset="-122"/>
                <a:cs typeface="Consolas" pitchFamily="34" charset="-120"/>
              </a:rPr>
              <a:t>≈ 2000 B</a:t>
            </a:r>
            <a:endParaRPr lang="en-US" sz="3000" dirty="0"/>
          </a:p>
        </p:txBody>
      </p:sp>
      <p:sp>
        <p:nvSpPr>
          <p:cNvPr id="115" name="Text 112"/>
          <p:cNvSpPr txBox="1"/>
          <p:nvPr/>
        </p:nvSpPr>
        <p:spPr>
          <a:xfrm>
            <a:off x="548640" y="4937760"/>
            <a:ext cx="5486400" cy="365760"/>
          </a:xfrm>
          <a:prstGeom prst="rect">
            <a:avLst/>
          </a:prstGeom>
          <a:noFill/>
          <a:ln/>
        </p:spPr>
        <p:txBody>
          <a:bodyPr wrap="square" lIns="0" tIns="0" rIns="0" bIns="0" rtlCol="0" anchor="t"/>
          <a:lstStyle/>
          <a:p>
            <a:pPr indent="0" marL="0">
              <a:buNone/>
            </a:pPr>
            <a:r>
              <a:rPr lang="en-US" sz="1500" dirty="0">
                <a:solidFill>
                  <a:srgbClr val="E8ECEF"/>
                </a:solidFill>
                <a:latin typeface="Calibri" pitchFamily="34" charset="0"/>
                <a:ea typeface="Calibri" pitchFamily="34" charset="-122"/>
                <a:cs typeface="Calibri" pitchFamily="34" charset="-120"/>
              </a:rPr>
              <a:t>Two models, two flight phases. The later physical root is selected.</a:t>
            </a:r>
            <a:endParaRPr lang="en-US" sz="1500" dirty="0"/>
          </a:p>
        </p:txBody>
      </p:sp>
      <p:sp>
        <p:nvSpPr>
          <p:cNvPr id="116" name="Shape 113"/>
          <p:cNvSpPr/>
          <p:nvPr/>
        </p:nvSpPr>
        <p:spPr>
          <a:xfrm>
            <a:off x="548640" y="5394960"/>
            <a:ext cx="5349240" cy="822960"/>
          </a:xfrm>
          <a:prstGeom prst="rect">
            <a:avLst/>
          </a:prstGeom>
          <a:solidFill>
            <a:srgbClr val="2E2210"/>
          </a:solidFill>
          <a:ln w="12700">
            <a:solidFill>
              <a:srgbClr val="FFB23F"/>
            </a:solidFill>
            <a:prstDash val="solid"/>
          </a:ln>
        </p:spPr>
      </p:sp>
      <p:sp>
        <p:nvSpPr>
          <p:cNvPr id="117" name="Text 114"/>
          <p:cNvSpPr txBox="1"/>
          <p:nvPr/>
        </p:nvSpPr>
        <p:spPr>
          <a:xfrm>
            <a:off x="685800" y="5440680"/>
            <a:ext cx="5120640" cy="731520"/>
          </a:xfrm>
          <a:prstGeom prst="rect">
            <a:avLst/>
          </a:prstGeom>
          <a:noFill/>
          <a:ln/>
        </p:spPr>
        <p:txBody>
          <a:bodyPr wrap="square" lIns="0" tIns="0" rIns="0" bIns="0" rtlCol="0" anchor="ctr"/>
          <a:lstStyle/>
          <a:p>
            <a:pPr indent="0" marL="0">
              <a:buNone/>
            </a:pPr>
            <a:r>
              <a:rPr lang="en-US" sz="1100" b="1" dirty="0">
                <a:solidFill>
                  <a:srgbClr val="FFB23F"/>
                </a:solidFill>
                <a:latin typeface="Calibri" pitchFamily="34" charset="0"/>
                <a:ea typeface="Calibri" pitchFamily="34" charset="-122"/>
                <a:cs typeface="Calibri" pitchFamily="34" charset="-120"/>
              </a:rPr>
              <a:t>INTERMEDIATE DESIGN   </a:t>
            </a:r>
            <a:pPr indent="0" marL="0">
              <a:buNone/>
            </a:pPr>
            <a:r>
              <a:rPr lang="en-US" sz="1200" dirty="0">
                <a:solidFill>
                  <a:srgbClr val="E8ECEF"/>
                </a:solidFill>
                <a:latin typeface="Calibri" pitchFamily="34" charset="0"/>
                <a:ea typeface="Calibri" pitchFamily="34" charset="-122"/>
                <a:cs typeface="Calibri" pitchFamily="34" charset="-120"/>
              </a:rPr>
              <a:t>The 100-block representation was the Level 3 approach. The final firmware uses running accumulators and a quantized ring buffer.</a:t>
            </a:r>
            <a:endParaRPr lang="en-US" sz="1400" dirty="0"/>
          </a:p>
        </p:txBody>
      </p:sp>
      <p:pic>
        <p:nvPicPr>
          <p:cNvPr id="118" name="Image 0" descr="D:\FCA_Deck\assets\intersect.png">    </p:cNvPr>
          <p:cNvPicPr>
            <a:picLocks noChangeAspect="1"/>
          </p:cNvPicPr>
          <p:nvPr/>
        </p:nvPicPr>
        <p:blipFill>
          <a:blip r:embed="rId1"/>
          <a:stretch>
            <a:fillRect/>
          </a:stretch>
        </p:blipFill>
        <p:spPr>
          <a:xfrm>
            <a:off x="6172200" y="1463040"/>
            <a:ext cx="5473641" cy="3566160"/>
          </a:xfrm>
          <a:prstGeom prst="rect">
            <a:avLst/>
          </a:prstGeom>
        </p:spPr>
      </p:pic>
      <p:sp>
        <p:nvSpPr>
          <p:cNvPr id="119" name="Text 115"/>
          <p:cNvSpPr txBox="1"/>
          <p:nvPr/>
        </p:nvSpPr>
        <p:spPr>
          <a:xfrm>
            <a:off x="6172200" y="5166360"/>
            <a:ext cx="5486400" cy="457200"/>
          </a:xfrm>
          <a:prstGeom prst="rect">
            <a:avLst/>
          </a:prstGeom>
          <a:noFill/>
          <a:ln/>
        </p:spPr>
        <p:txBody>
          <a:bodyPr wrap="square" lIns="0" tIns="0" rIns="0" bIns="0" rtlCol="0" anchor="t"/>
          <a:lstStyle/>
          <a:p>
            <a:pPr indent="0" marL="0">
              <a:buNone/>
            </a:pPr>
            <a:r>
              <a:rPr lang="en-US" sz="1200" b="1" dirty="0">
                <a:solidFill>
                  <a:srgbClr val="E8ECEF"/>
                </a:solidFill>
                <a:latin typeface="Consolas" pitchFamily="34" charset="0"/>
                <a:ea typeface="Consolas" pitchFamily="34" charset="-122"/>
                <a:cs typeface="Consolas" pitchFamily="34" charset="-120"/>
              </a:rPr>
              <a:t>COAST PARABOLA × DESCENT LINE → INTERSECTION → DEPLOYMENT</a:t>
            </a:r>
            <a:endParaRPr lang="en-US" sz="1200" dirty="0"/>
          </a:p>
        </p:txBody>
      </p:sp>
      <p:sp>
        <p:nvSpPr>
          <p:cNvPr id="120" name="Text 116"/>
          <p:cNvSpPr txBox="1"/>
          <p:nvPr/>
        </p:nvSpPr>
        <p:spPr>
          <a:xfrm>
            <a:off x="6172200" y="5669280"/>
            <a:ext cx="5486400" cy="274320"/>
          </a:xfrm>
          <a:prstGeom prst="rect">
            <a:avLst/>
          </a:prstGeom>
          <a:noFill/>
          <a:ln/>
        </p:spPr>
        <p:txBody>
          <a:bodyPr wrap="square" lIns="0" tIns="0" rIns="0" bIns="0" rtlCol="0" anchor="t"/>
          <a:lstStyle/>
          <a:p>
            <a:pPr indent="0" marL="0">
              <a:buNone/>
            </a:pPr>
            <a:r>
              <a:rPr lang="en-US" sz="1300" dirty="0">
                <a:solidFill>
                  <a:srgbClr val="8E9BAA"/>
                </a:solidFill>
                <a:latin typeface="Consolas" pitchFamily="34" charset="0"/>
                <a:ea typeface="Consolas" pitchFamily="34" charset="-122"/>
                <a:cs typeface="Consolas" pitchFamily="34" charset="-120"/>
              </a:rPr>
              <a:t>P(t) − L(t) = 0   →   quadratic, two roots</a:t>
            </a:r>
            <a:endParaRPr lang="en-US" sz="13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06 / LEVEL 4 · GLITCHES</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THE SENSOR CAN LIE</a:t>
            </a:r>
            <a:endParaRPr lang="en-US" sz="3400" dirty="0"/>
          </a:p>
        </p:txBody>
      </p:sp>
      <p:pic>
        <p:nvPicPr>
          <p:cNvPr id="5" name="Image 0" descr="D:\FCA_Deck\assets\glitch.png">    </p:cNvPr>
          <p:cNvPicPr>
            <a:picLocks noChangeAspect="1"/>
          </p:cNvPicPr>
          <p:nvPr/>
        </p:nvPicPr>
        <p:blipFill>
          <a:blip r:embed="rId1"/>
          <a:stretch>
            <a:fillRect/>
          </a:stretch>
        </p:blipFill>
        <p:spPr>
          <a:xfrm>
            <a:off x="457200" y="1463040"/>
            <a:ext cx="7013050" cy="3840480"/>
          </a:xfrm>
          <a:prstGeom prst="rect">
            <a:avLst/>
          </a:prstGeom>
        </p:spPr>
      </p:pic>
      <p:sp>
        <p:nvSpPr>
          <p:cNvPr id="6" name="Text 2"/>
          <p:cNvSpPr txBox="1"/>
          <p:nvPr/>
        </p:nvSpPr>
        <p:spPr>
          <a:xfrm>
            <a:off x="548640" y="5440680"/>
            <a:ext cx="5486400" cy="274320"/>
          </a:xfrm>
          <a:prstGeom prst="rect">
            <a:avLst/>
          </a:prstGeom>
          <a:noFill/>
          <a:ln/>
        </p:spPr>
        <p:txBody>
          <a:bodyPr wrap="square" lIns="0" tIns="0" rIns="0" bIns="0" rtlCol="0" anchor="t"/>
          <a:lstStyle/>
          <a:p>
            <a:pPr indent="0" marL="0">
              <a:buNone/>
            </a:pPr>
            <a:r>
              <a:rPr lang="en-US" sz="1100" spc="200" kern="0" dirty="0">
                <a:solidFill>
                  <a:srgbClr val="8E9BAA"/>
                </a:solidFill>
                <a:latin typeface="Calibri" pitchFamily="34" charset="0"/>
                <a:ea typeface="Calibri" pitchFamily="34" charset="-122"/>
                <a:cs typeface="Calibri" pitchFamily="34" charset="-120"/>
              </a:rPr>
              <a:t>CONCEPTUAL VISUALIZATION</a:t>
            </a:r>
            <a:endParaRPr lang="en-US" sz="1100" dirty="0"/>
          </a:p>
        </p:txBody>
      </p:sp>
      <p:sp>
        <p:nvSpPr>
          <p:cNvPr id="7" name="Shape 3"/>
          <p:cNvSpPr/>
          <p:nvPr/>
        </p:nvSpPr>
        <p:spPr>
          <a:xfrm>
            <a:off x="7863840" y="1828800"/>
            <a:ext cx="694944" cy="502920"/>
          </a:xfrm>
          <a:prstGeom prst="rect">
            <a:avLst/>
          </a:prstGeom>
          <a:solidFill>
            <a:srgbClr val="121923"/>
          </a:solidFill>
          <a:ln w="12700">
            <a:solidFill>
              <a:srgbClr val="263241"/>
            </a:solidFill>
            <a:prstDash val="solid"/>
          </a:ln>
        </p:spPr>
      </p:sp>
      <p:sp>
        <p:nvSpPr>
          <p:cNvPr id="8" name="Text 4"/>
          <p:cNvSpPr txBox="1"/>
          <p:nvPr/>
        </p:nvSpPr>
        <p:spPr>
          <a:xfrm>
            <a:off x="7863840" y="1828800"/>
            <a:ext cx="694944" cy="502920"/>
          </a:xfrm>
          <a:prstGeom prst="rect">
            <a:avLst/>
          </a:prstGeom>
          <a:noFill/>
          <a:ln/>
        </p:spPr>
        <p:txBody>
          <a:bodyPr wrap="square" lIns="0" tIns="0" rIns="0" bIns="0" rtlCol="0" anchor="ctr"/>
          <a:lstStyle/>
          <a:p>
            <a:pPr algn="ctr" indent="0" marL="0">
              <a:buNone/>
            </a:pPr>
            <a:r>
              <a:rPr lang="en-US" sz="1100" dirty="0">
                <a:solidFill>
                  <a:srgbClr val="8E9BAA"/>
                </a:solidFill>
                <a:latin typeface="Consolas" pitchFamily="34" charset="0"/>
                <a:ea typeface="Consolas" pitchFamily="34" charset="-122"/>
                <a:cs typeface="Consolas" pitchFamily="34" charset="-120"/>
              </a:rPr>
              <a:t>r[i−4]</a:t>
            </a:r>
            <a:endParaRPr lang="en-US" sz="1100" dirty="0"/>
          </a:p>
        </p:txBody>
      </p:sp>
      <p:sp>
        <p:nvSpPr>
          <p:cNvPr id="9" name="Shape 5"/>
          <p:cNvSpPr/>
          <p:nvPr/>
        </p:nvSpPr>
        <p:spPr>
          <a:xfrm>
            <a:off x="8631936" y="1828800"/>
            <a:ext cx="694944" cy="502920"/>
          </a:xfrm>
          <a:prstGeom prst="rect">
            <a:avLst/>
          </a:prstGeom>
          <a:solidFill>
            <a:srgbClr val="121923"/>
          </a:solidFill>
          <a:ln w="12700">
            <a:solidFill>
              <a:srgbClr val="263241"/>
            </a:solidFill>
            <a:prstDash val="solid"/>
          </a:ln>
        </p:spPr>
      </p:sp>
      <p:sp>
        <p:nvSpPr>
          <p:cNvPr id="10" name="Text 6"/>
          <p:cNvSpPr txBox="1"/>
          <p:nvPr/>
        </p:nvSpPr>
        <p:spPr>
          <a:xfrm>
            <a:off x="8631936" y="1828800"/>
            <a:ext cx="694944" cy="502920"/>
          </a:xfrm>
          <a:prstGeom prst="rect">
            <a:avLst/>
          </a:prstGeom>
          <a:noFill/>
          <a:ln/>
        </p:spPr>
        <p:txBody>
          <a:bodyPr wrap="square" lIns="0" tIns="0" rIns="0" bIns="0" rtlCol="0" anchor="ctr"/>
          <a:lstStyle/>
          <a:p>
            <a:pPr algn="ctr" indent="0" marL="0">
              <a:buNone/>
            </a:pPr>
            <a:r>
              <a:rPr lang="en-US" sz="1100" dirty="0">
                <a:solidFill>
                  <a:srgbClr val="8E9BAA"/>
                </a:solidFill>
                <a:latin typeface="Consolas" pitchFamily="34" charset="0"/>
                <a:ea typeface="Consolas" pitchFamily="34" charset="-122"/>
                <a:cs typeface="Consolas" pitchFamily="34" charset="-120"/>
              </a:rPr>
              <a:t>r[i−3]</a:t>
            </a:r>
            <a:endParaRPr lang="en-US" sz="1100" dirty="0"/>
          </a:p>
        </p:txBody>
      </p:sp>
      <p:sp>
        <p:nvSpPr>
          <p:cNvPr id="11" name="Shape 7"/>
          <p:cNvSpPr/>
          <p:nvPr/>
        </p:nvSpPr>
        <p:spPr>
          <a:xfrm>
            <a:off x="9400032" y="1828800"/>
            <a:ext cx="694944" cy="502920"/>
          </a:xfrm>
          <a:prstGeom prst="rect">
            <a:avLst/>
          </a:prstGeom>
          <a:solidFill>
            <a:srgbClr val="121923"/>
          </a:solidFill>
          <a:ln w="12700">
            <a:solidFill>
              <a:srgbClr val="263241"/>
            </a:solidFill>
            <a:prstDash val="solid"/>
          </a:ln>
        </p:spPr>
      </p:sp>
      <p:sp>
        <p:nvSpPr>
          <p:cNvPr id="12" name="Text 8"/>
          <p:cNvSpPr txBox="1"/>
          <p:nvPr/>
        </p:nvSpPr>
        <p:spPr>
          <a:xfrm>
            <a:off x="9400032" y="1828800"/>
            <a:ext cx="694944" cy="502920"/>
          </a:xfrm>
          <a:prstGeom prst="rect">
            <a:avLst/>
          </a:prstGeom>
          <a:noFill/>
          <a:ln/>
        </p:spPr>
        <p:txBody>
          <a:bodyPr wrap="square" lIns="0" tIns="0" rIns="0" bIns="0" rtlCol="0" anchor="ctr"/>
          <a:lstStyle/>
          <a:p>
            <a:pPr algn="ctr" indent="0" marL="0">
              <a:buNone/>
            </a:pPr>
            <a:r>
              <a:rPr lang="en-US" sz="1100" dirty="0">
                <a:solidFill>
                  <a:srgbClr val="8E9BAA"/>
                </a:solidFill>
                <a:latin typeface="Consolas" pitchFamily="34" charset="0"/>
                <a:ea typeface="Consolas" pitchFamily="34" charset="-122"/>
                <a:cs typeface="Consolas" pitchFamily="34" charset="-120"/>
              </a:rPr>
              <a:t>r[i−2]</a:t>
            </a:r>
            <a:endParaRPr lang="en-US" sz="1100" dirty="0"/>
          </a:p>
        </p:txBody>
      </p:sp>
      <p:sp>
        <p:nvSpPr>
          <p:cNvPr id="13" name="Shape 9"/>
          <p:cNvSpPr/>
          <p:nvPr/>
        </p:nvSpPr>
        <p:spPr>
          <a:xfrm>
            <a:off x="10168128" y="1828800"/>
            <a:ext cx="694944" cy="502920"/>
          </a:xfrm>
          <a:prstGeom prst="rect">
            <a:avLst/>
          </a:prstGeom>
          <a:solidFill>
            <a:srgbClr val="121923"/>
          </a:solidFill>
          <a:ln w="12700">
            <a:solidFill>
              <a:srgbClr val="263241"/>
            </a:solidFill>
            <a:prstDash val="solid"/>
          </a:ln>
        </p:spPr>
      </p:sp>
      <p:sp>
        <p:nvSpPr>
          <p:cNvPr id="14" name="Text 10"/>
          <p:cNvSpPr txBox="1"/>
          <p:nvPr/>
        </p:nvSpPr>
        <p:spPr>
          <a:xfrm>
            <a:off x="10168128" y="1828800"/>
            <a:ext cx="694944" cy="502920"/>
          </a:xfrm>
          <a:prstGeom prst="rect">
            <a:avLst/>
          </a:prstGeom>
          <a:noFill/>
          <a:ln/>
        </p:spPr>
        <p:txBody>
          <a:bodyPr wrap="square" lIns="0" tIns="0" rIns="0" bIns="0" rtlCol="0" anchor="ctr"/>
          <a:lstStyle/>
          <a:p>
            <a:pPr algn="ctr" indent="0" marL="0">
              <a:buNone/>
            </a:pPr>
            <a:r>
              <a:rPr lang="en-US" sz="1100" dirty="0">
                <a:solidFill>
                  <a:srgbClr val="8E9BAA"/>
                </a:solidFill>
                <a:latin typeface="Consolas" pitchFamily="34" charset="0"/>
                <a:ea typeface="Consolas" pitchFamily="34" charset="-122"/>
                <a:cs typeface="Consolas" pitchFamily="34" charset="-120"/>
              </a:rPr>
              <a:t>r[i−1]</a:t>
            </a:r>
            <a:endParaRPr lang="en-US" sz="1100" dirty="0"/>
          </a:p>
        </p:txBody>
      </p:sp>
      <p:sp>
        <p:nvSpPr>
          <p:cNvPr id="15" name="Shape 11"/>
          <p:cNvSpPr/>
          <p:nvPr/>
        </p:nvSpPr>
        <p:spPr>
          <a:xfrm>
            <a:off x="10936224" y="1828800"/>
            <a:ext cx="694944" cy="502920"/>
          </a:xfrm>
          <a:prstGeom prst="rect">
            <a:avLst/>
          </a:prstGeom>
          <a:solidFill>
            <a:srgbClr val="10312F"/>
          </a:solidFill>
          <a:ln w="12700">
            <a:solidFill>
              <a:srgbClr val="3FD0C0"/>
            </a:solidFill>
            <a:prstDash val="solid"/>
          </a:ln>
        </p:spPr>
      </p:sp>
      <p:sp>
        <p:nvSpPr>
          <p:cNvPr id="16" name="Text 12"/>
          <p:cNvSpPr txBox="1"/>
          <p:nvPr/>
        </p:nvSpPr>
        <p:spPr>
          <a:xfrm>
            <a:off x="10936224" y="1828800"/>
            <a:ext cx="694944" cy="502920"/>
          </a:xfrm>
          <a:prstGeom prst="rect">
            <a:avLst/>
          </a:prstGeom>
          <a:noFill/>
          <a:ln/>
        </p:spPr>
        <p:txBody>
          <a:bodyPr wrap="square" lIns="0" tIns="0" rIns="0" bIns="0" rtlCol="0" anchor="ctr"/>
          <a:lstStyle/>
          <a:p>
            <a:pPr algn="ctr" indent="0" marL="0">
              <a:buNone/>
            </a:pPr>
            <a:r>
              <a:rPr lang="en-US" sz="1100" dirty="0">
                <a:solidFill>
                  <a:srgbClr val="3FD0C0"/>
                </a:solidFill>
                <a:latin typeface="Consolas" pitchFamily="34" charset="0"/>
                <a:ea typeface="Consolas" pitchFamily="34" charset="-122"/>
                <a:cs typeface="Consolas" pitchFamily="34" charset="-120"/>
              </a:rPr>
              <a:t>r[i]</a:t>
            </a:r>
            <a:endParaRPr lang="en-US" sz="1100" dirty="0"/>
          </a:p>
        </p:txBody>
      </p:sp>
      <p:sp>
        <p:nvSpPr>
          <p:cNvPr id="17" name="Text 13"/>
          <p:cNvSpPr txBox="1"/>
          <p:nvPr/>
        </p:nvSpPr>
        <p:spPr>
          <a:xfrm>
            <a:off x="7863840" y="2468880"/>
            <a:ext cx="3840480" cy="274320"/>
          </a:xfrm>
          <a:prstGeom prst="rect">
            <a:avLst/>
          </a:prstGeom>
          <a:noFill/>
          <a:ln/>
        </p:spPr>
        <p:txBody>
          <a:bodyPr wrap="square" lIns="0" tIns="0" rIns="0" bIns="0" rtlCol="0" anchor="t"/>
          <a:lstStyle/>
          <a:p>
            <a:pPr indent="0" marL="0">
              <a:buNone/>
            </a:pPr>
            <a:r>
              <a:rPr lang="en-US" sz="1300" dirty="0">
                <a:solidFill>
                  <a:srgbClr val="E8ECEF"/>
                </a:solidFill>
                <a:latin typeface="Calibri" pitchFamily="34" charset="0"/>
                <a:ea typeface="Calibri" pitchFamily="34" charset="-122"/>
                <a:cs typeface="Calibri" pitchFamily="34" charset="-120"/>
              </a:rPr>
              <a:t>causal 5-sample window · no lookahead</a:t>
            </a:r>
            <a:endParaRPr lang="en-US" sz="1300" dirty="0"/>
          </a:p>
        </p:txBody>
      </p:sp>
      <p:sp>
        <p:nvSpPr>
          <p:cNvPr id="18" name="Shape 14"/>
          <p:cNvSpPr/>
          <p:nvPr/>
        </p:nvSpPr>
        <p:spPr>
          <a:xfrm>
            <a:off x="9692640" y="2834640"/>
            <a:ext cx="0" cy="274320"/>
          </a:xfrm>
          <a:prstGeom prst="line">
            <a:avLst/>
          </a:prstGeom>
          <a:noFill/>
          <a:ln w="19050">
            <a:solidFill>
              <a:srgbClr val="3FD0C0"/>
            </a:solidFill>
            <a:prstDash val="solid"/>
            <a:tailEnd type="triangle"/>
          </a:ln>
        </p:spPr>
      </p:sp>
      <p:sp>
        <p:nvSpPr>
          <p:cNvPr id="19" name="Text 15"/>
          <p:cNvSpPr txBox="1"/>
          <p:nvPr/>
        </p:nvSpPr>
        <p:spPr>
          <a:xfrm>
            <a:off x="7863840" y="3200400"/>
            <a:ext cx="3749040" cy="365760"/>
          </a:xfrm>
          <a:prstGeom prst="rect">
            <a:avLst/>
          </a:prstGeom>
          <a:noFill/>
          <a:ln/>
        </p:spPr>
        <p:txBody>
          <a:bodyPr wrap="square" lIns="0" tIns="0" rIns="0" bIns="0" rtlCol="0" anchor="t"/>
          <a:lstStyle/>
          <a:p>
            <a:pPr indent="0" marL="0">
              <a:buNone/>
            </a:pPr>
            <a:r>
              <a:rPr lang="en-US" sz="1800" b="1" dirty="0">
                <a:solidFill>
                  <a:srgbClr val="3FD0C0"/>
                </a:solidFill>
                <a:latin typeface="Consolas" pitchFamily="34" charset="0"/>
                <a:ea typeface="Consolas" pitchFamily="34" charset="-122"/>
                <a:cs typeface="Consolas" pitchFamily="34" charset="-120"/>
              </a:rPr>
              <a:t>median of 5 values</a:t>
            </a:r>
            <a:endParaRPr lang="en-US" sz="1800" dirty="0"/>
          </a:p>
        </p:txBody>
      </p:sp>
      <p:sp>
        <p:nvSpPr>
          <p:cNvPr id="20" name="Shape 16"/>
          <p:cNvSpPr/>
          <p:nvPr/>
        </p:nvSpPr>
        <p:spPr>
          <a:xfrm>
            <a:off x="7863840" y="3840480"/>
            <a:ext cx="3749040" cy="1097280"/>
          </a:xfrm>
          <a:prstGeom prst="rect">
            <a:avLst/>
          </a:prstGeom>
          <a:solidFill>
            <a:srgbClr val="2E2210"/>
          </a:solidFill>
          <a:ln w="15875">
            <a:solidFill>
              <a:srgbClr val="FFB23F"/>
            </a:solidFill>
            <a:prstDash val="solid"/>
          </a:ln>
        </p:spPr>
      </p:sp>
      <p:sp>
        <p:nvSpPr>
          <p:cNvPr id="21" name="Text 17"/>
          <p:cNvSpPr txBox="1"/>
          <p:nvPr/>
        </p:nvSpPr>
        <p:spPr>
          <a:xfrm>
            <a:off x="8046720" y="3931920"/>
            <a:ext cx="3474720" cy="365760"/>
          </a:xfrm>
          <a:prstGeom prst="rect">
            <a:avLst/>
          </a:prstGeom>
          <a:noFill/>
          <a:ln/>
        </p:spPr>
        <p:txBody>
          <a:bodyPr wrap="square" lIns="0" tIns="0" rIns="0" bIns="0" rtlCol="0" anchor="t"/>
          <a:lstStyle/>
          <a:p>
            <a:pPr indent="0" marL="0">
              <a:buNone/>
            </a:pPr>
            <a:r>
              <a:rPr lang="en-US" sz="1600" b="1" dirty="0">
                <a:solidFill>
                  <a:srgbClr val="FFB23F"/>
                </a:solidFill>
                <a:latin typeface="Consolas" pitchFamily="34" charset="0"/>
                <a:ea typeface="Consolas" pitchFamily="34" charset="-122"/>
                <a:cs typeface="Consolas" pitchFamily="34" charset="-120"/>
              </a:rPr>
              <a:t>20 m deviation → GLITCH</a:t>
            </a:r>
            <a:endParaRPr lang="en-US" sz="1600" dirty="0"/>
          </a:p>
        </p:txBody>
      </p:sp>
      <p:sp>
        <p:nvSpPr>
          <p:cNvPr id="22" name="Text 18"/>
          <p:cNvSpPr txBox="1"/>
          <p:nvPr/>
        </p:nvSpPr>
        <p:spPr>
          <a:xfrm>
            <a:off x="8046720" y="4315968"/>
            <a:ext cx="3474720" cy="548640"/>
          </a:xfrm>
          <a:prstGeom prst="rect">
            <a:avLst/>
          </a:prstGeom>
          <a:noFill/>
          <a:ln/>
        </p:spPr>
        <p:txBody>
          <a:bodyPr wrap="square" lIns="0" tIns="0" rIns="0" bIns="0" rtlCol="0" anchor="t"/>
          <a:lstStyle/>
          <a:p>
            <a:pPr indent="0" marL="0">
              <a:buNone/>
            </a:pPr>
            <a:r>
              <a:rPr lang="en-US" sz="1300" dirty="0">
                <a:solidFill>
                  <a:srgbClr val="E8ECEF"/>
                </a:solidFill>
                <a:latin typeface="Calibri" pitchFamily="34" charset="0"/>
                <a:ea typeface="Calibri" pitchFamily="34" charset="-122"/>
                <a:cs typeface="Calibri" pitchFamily="34" charset="-120"/>
              </a:rPr>
              <a:t>glitches: 50–300 m</a:t>
            </a:r>
            <a:endParaRPr lang="en-US" sz="1300" dirty="0"/>
          </a:p>
          <a:p>
            <a:pPr indent="0" marL="0">
              <a:buNone/>
            </a:pPr>
            <a:r>
              <a:rPr lang="en-US" sz="1300" dirty="0">
                <a:solidFill>
                  <a:srgbClr val="E8ECEF"/>
                </a:solidFill>
                <a:latin typeface="Calibri" pitchFamily="34" charset="0"/>
                <a:ea typeface="Calibri" pitchFamily="34" charset="-122"/>
                <a:cs typeface="Calibri" pitchFamily="34" charset="-120"/>
              </a:rPr>
              <a:t>normal noise: ±2 m</a:t>
            </a:r>
            <a:endParaRPr lang="en-US" sz="1300" dirty="0"/>
          </a:p>
        </p:txBody>
      </p:sp>
      <p:sp>
        <p:nvSpPr>
          <p:cNvPr id="23" name="Text 19"/>
          <p:cNvSpPr txBox="1"/>
          <p:nvPr/>
        </p:nvSpPr>
        <p:spPr>
          <a:xfrm>
            <a:off x="7863840" y="5166360"/>
            <a:ext cx="3749040" cy="548640"/>
          </a:xfrm>
          <a:prstGeom prst="rect">
            <a:avLst/>
          </a:prstGeom>
          <a:noFill/>
          <a:ln/>
        </p:spPr>
        <p:txBody>
          <a:bodyPr wrap="square" lIns="0" tIns="0" rIns="0" bIns="0" rtlCol="0" anchor="t"/>
          <a:lstStyle/>
          <a:p>
            <a:pPr indent="0" marL="0">
              <a:buNone/>
            </a:pPr>
            <a:r>
              <a:rPr lang="en-US" sz="1300" dirty="0">
                <a:solidFill>
                  <a:srgbClr val="8E9BAA"/>
                </a:solidFill>
                <a:latin typeface="Calibri" pitchFamily="34" charset="0"/>
                <a:ea typeface="Calibri" pitchFamily="34" charset="-122"/>
                <a:cs typeface="Calibri" pitchFamily="34" charset="-120"/>
              </a:rPr>
              <a:t>Official: 739 glitches detected</a:t>
            </a:r>
            <a:endParaRPr lang="en-US" sz="1300" dirty="0"/>
          </a:p>
          <a:p>
            <a:pPr indent="0" marL="0">
              <a:buNone/>
            </a:pPr>
            <a:r>
              <a:rPr lang="en-US" sz="1300" dirty="0">
                <a:solidFill>
                  <a:srgbClr val="8E9BAA"/>
                </a:solidFill>
                <a:latin typeface="Calibri" pitchFamily="34" charset="0"/>
                <a:ea typeface="Calibri" pitchFamily="34" charset="-122"/>
                <a:cs typeface="Calibri" pitchFamily="34" charset="-120"/>
              </a:rPr>
              <a:t>Practice B: 727</a:t>
            </a:r>
            <a:endParaRPr lang="en-US" sz="13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07 / LEVEL 4 · RING BUFFER + DEPLOYMENT TRIGGER</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WE NEEDED HISTORY.  WE COULDN'T AFFORD IT.</a:t>
            </a:r>
            <a:endParaRPr lang="en-US" sz="3400" dirty="0"/>
          </a:p>
        </p:txBody>
      </p:sp>
      <p:pic>
        <p:nvPicPr>
          <p:cNvPr id="5" name="Image 0" descr="D:\FCA_Deck\assets\ring.png">    </p:cNvPr>
          <p:cNvPicPr>
            <a:picLocks noChangeAspect="1"/>
          </p:cNvPicPr>
          <p:nvPr/>
        </p:nvPicPr>
        <p:blipFill>
          <a:blip r:embed="rId1"/>
          <a:stretch>
            <a:fillRect/>
          </a:stretch>
        </p:blipFill>
        <p:spPr>
          <a:xfrm>
            <a:off x="411480" y="1463040"/>
            <a:ext cx="4937760" cy="3248526"/>
          </a:xfrm>
          <a:prstGeom prst="rect">
            <a:avLst/>
          </a:prstGeom>
        </p:spPr>
      </p:pic>
      <p:sp>
        <p:nvSpPr>
          <p:cNvPr id="6" name="Text 2"/>
          <p:cNvSpPr txBox="1"/>
          <p:nvPr/>
        </p:nvSpPr>
        <p:spPr>
          <a:xfrm>
            <a:off x="5486400" y="1554480"/>
            <a:ext cx="2743200" cy="274320"/>
          </a:xfrm>
          <a:prstGeom prst="rect">
            <a:avLst/>
          </a:prstGeom>
          <a:noFill/>
          <a:ln/>
        </p:spPr>
        <p:txBody>
          <a:bodyPr wrap="square" lIns="0" tIns="0" rIns="0" bIns="0" rtlCol="0" anchor="t"/>
          <a:lstStyle/>
          <a:p>
            <a:pPr indent="0" marL="0">
              <a:buNone/>
            </a:pPr>
            <a:r>
              <a:rPr lang="en-US" sz="1200" spc="200" kern="0" dirty="0">
                <a:solidFill>
                  <a:srgbClr val="8E9BAA"/>
                </a:solidFill>
                <a:latin typeface="Calibri" pitchFamily="34" charset="0"/>
                <a:ea typeface="Calibri" pitchFamily="34" charset="-122"/>
                <a:cs typeface="Calibri" pitchFamily="34" charset="-120"/>
              </a:rPr>
              <a:t>NOT AFFORDABLE</a:t>
            </a:r>
            <a:endParaRPr lang="en-US" sz="1200" dirty="0"/>
          </a:p>
        </p:txBody>
      </p:sp>
      <p:sp>
        <p:nvSpPr>
          <p:cNvPr id="7" name="Shape 3"/>
          <p:cNvSpPr/>
          <p:nvPr/>
        </p:nvSpPr>
        <p:spPr>
          <a:xfrm>
            <a:off x="5486400" y="1874520"/>
            <a:ext cx="6126480" cy="457200"/>
          </a:xfrm>
          <a:prstGeom prst="rect">
            <a:avLst/>
          </a:prstGeom>
          <a:solidFill>
            <a:srgbClr val="3A2A12"/>
          </a:solidFill>
          <a:ln w="12700">
            <a:solidFill>
              <a:srgbClr val="FFB23F"/>
            </a:solidFill>
            <a:prstDash val="solid"/>
          </a:ln>
        </p:spPr>
      </p:sp>
      <p:sp>
        <p:nvSpPr>
          <p:cNvPr id="8" name="Text 4"/>
          <p:cNvSpPr txBox="1"/>
          <p:nvPr/>
        </p:nvSpPr>
        <p:spPr>
          <a:xfrm>
            <a:off x="5623560" y="1874520"/>
            <a:ext cx="5852160" cy="457200"/>
          </a:xfrm>
          <a:prstGeom prst="rect">
            <a:avLst/>
          </a:prstGeom>
          <a:noFill/>
          <a:ln/>
        </p:spPr>
        <p:txBody>
          <a:bodyPr wrap="square" lIns="0" tIns="0" rIns="0" bIns="0" rtlCol="0" anchor="ctr"/>
          <a:lstStyle/>
          <a:p>
            <a:pPr indent="0" marL="0">
              <a:buNone/>
            </a:pPr>
            <a:r>
              <a:rPr lang="en-US" sz="1500" b="1" dirty="0">
                <a:solidFill>
                  <a:srgbClr val="FFB23F"/>
                </a:solidFill>
                <a:latin typeface="Consolas" pitchFamily="34" charset="0"/>
                <a:ea typeface="Consolas" pitchFamily="34" charset="-122"/>
                <a:cs typeface="Consolas" pitchFamily="34" charset="-120"/>
              </a:rPr>
              <a:t>1024 × float  =  4096 B   (whole budget)</a:t>
            </a:r>
            <a:endParaRPr lang="en-US" sz="1500" dirty="0"/>
          </a:p>
        </p:txBody>
      </p:sp>
      <p:sp>
        <p:nvSpPr>
          <p:cNvPr id="9" name="Text 5"/>
          <p:cNvSpPr txBox="1"/>
          <p:nvPr/>
        </p:nvSpPr>
        <p:spPr>
          <a:xfrm>
            <a:off x="5486400" y="2560320"/>
            <a:ext cx="2743200" cy="274320"/>
          </a:xfrm>
          <a:prstGeom prst="rect">
            <a:avLst/>
          </a:prstGeom>
          <a:noFill/>
          <a:ln/>
        </p:spPr>
        <p:txBody>
          <a:bodyPr wrap="square" lIns="0" tIns="0" rIns="0" bIns="0" rtlCol="0" anchor="t"/>
          <a:lstStyle/>
          <a:p>
            <a:pPr indent="0" marL="0">
              <a:buNone/>
            </a:pPr>
            <a:r>
              <a:rPr lang="en-US" sz="1200" spc="200" kern="0" dirty="0">
                <a:solidFill>
                  <a:srgbClr val="8E9BAA"/>
                </a:solidFill>
                <a:latin typeface="Calibri" pitchFamily="34" charset="0"/>
                <a:ea typeface="Calibri" pitchFamily="34" charset="-122"/>
                <a:cs typeface="Calibri" pitchFamily="34" charset="-120"/>
              </a:rPr>
              <a:t>WHAT WE BUILT</a:t>
            </a:r>
            <a:endParaRPr lang="en-US" sz="1200" dirty="0"/>
          </a:p>
        </p:txBody>
      </p:sp>
      <p:sp>
        <p:nvSpPr>
          <p:cNvPr id="10" name="Shape 6"/>
          <p:cNvSpPr/>
          <p:nvPr/>
        </p:nvSpPr>
        <p:spPr>
          <a:xfrm>
            <a:off x="5486400" y="2880360"/>
            <a:ext cx="3063240" cy="457200"/>
          </a:xfrm>
          <a:prstGeom prst="rect">
            <a:avLst/>
          </a:prstGeom>
          <a:solidFill>
            <a:srgbClr val="10312F"/>
          </a:solidFill>
          <a:ln w="12700">
            <a:solidFill>
              <a:srgbClr val="3FD0C0"/>
            </a:solidFill>
            <a:prstDash val="solid"/>
          </a:ln>
        </p:spPr>
      </p:sp>
      <p:sp>
        <p:nvSpPr>
          <p:cNvPr id="11" name="Text 7"/>
          <p:cNvSpPr txBox="1"/>
          <p:nvPr/>
        </p:nvSpPr>
        <p:spPr>
          <a:xfrm>
            <a:off x="5623560" y="2880360"/>
            <a:ext cx="2926080" cy="457200"/>
          </a:xfrm>
          <a:prstGeom prst="rect">
            <a:avLst/>
          </a:prstGeom>
          <a:noFill/>
          <a:ln/>
        </p:spPr>
        <p:txBody>
          <a:bodyPr wrap="square" lIns="0" tIns="0" rIns="0" bIns="0" rtlCol="0" anchor="ctr"/>
          <a:lstStyle/>
          <a:p>
            <a:pPr indent="0" marL="0">
              <a:buNone/>
            </a:pPr>
            <a:r>
              <a:rPr lang="en-US" sz="1500" b="1" dirty="0">
                <a:solidFill>
                  <a:srgbClr val="3FD0C0"/>
                </a:solidFill>
                <a:latin typeface="Consolas" pitchFamily="34" charset="0"/>
                <a:ea typeface="Consolas" pitchFamily="34" charset="-122"/>
                <a:cs typeface="Consolas" pitchFamily="34" charset="-120"/>
              </a:rPr>
              <a:t>1024 × uint16  =  2048 B</a:t>
            </a:r>
            <a:endParaRPr lang="en-US" sz="1500" dirty="0"/>
          </a:p>
        </p:txBody>
      </p:sp>
      <p:sp>
        <p:nvSpPr>
          <p:cNvPr id="12" name="Text 8"/>
          <p:cNvSpPr txBox="1"/>
          <p:nvPr/>
        </p:nvSpPr>
        <p:spPr>
          <a:xfrm>
            <a:off x="8686800" y="2788920"/>
            <a:ext cx="2926080" cy="731520"/>
          </a:xfrm>
          <a:prstGeom prst="rect">
            <a:avLst/>
          </a:prstGeom>
          <a:noFill/>
          <a:ln/>
        </p:spPr>
        <p:txBody>
          <a:bodyPr wrap="square" lIns="0" tIns="0" rIns="0" bIns="0" rtlCol="0" anchor="t"/>
          <a:lstStyle/>
          <a:p>
            <a:pPr indent="0" marL="0">
              <a:buNone/>
            </a:pPr>
            <a:r>
              <a:rPr lang="en-US" sz="1100" dirty="0">
                <a:solidFill>
                  <a:srgbClr val="8E9BAA"/>
                </a:solidFill>
                <a:latin typeface="Calibri" pitchFamily="34" charset="0"/>
                <a:ea typeface="Calibri" pitchFamily="34" charset="-122"/>
                <a:cs typeface="Calibri" pitchFamily="34" charset="-120"/>
              </a:rPr>
              <a:t>5 cm units:  v = (h + 2) / 5</a:t>
            </a:r>
            <a:endParaRPr lang="en-US" sz="1100" dirty="0"/>
          </a:p>
          <a:p>
            <a:pPr indent="0" marL="0">
              <a:buNone/>
            </a:pPr>
            <a:r>
              <a:rPr lang="en-US" sz="1100" dirty="0">
                <a:solidFill>
                  <a:srgbClr val="8E9BAA"/>
                </a:solidFill>
                <a:latin typeface="Calibri" pitchFamily="34" charset="0"/>
                <a:ea typeface="Calibri" pitchFamily="34" charset="-122"/>
                <a:cs typeface="Calibri" pitchFamily="34" charset="-120"/>
              </a:rPr>
              <a:t>rounding ≤ 2.5 cm · uint16 range 3276 m, code clamps at 3000 m</a:t>
            </a:r>
            <a:endParaRPr lang="en-US" sz="1100" dirty="0"/>
          </a:p>
        </p:txBody>
      </p:sp>
      <p:sp>
        <p:nvSpPr>
          <p:cNvPr id="13" name="Shape 9"/>
          <p:cNvSpPr/>
          <p:nvPr/>
        </p:nvSpPr>
        <p:spPr>
          <a:xfrm>
            <a:off x="5486400" y="3657600"/>
            <a:ext cx="6126480" cy="0"/>
          </a:xfrm>
          <a:prstGeom prst="line">
            <a:avLst/>
          </a:prstGeom>
          <a:noFill/>
          <a:ln w="9525">
            <a:solidFill>
              <a:srgbClr val="263241"/>
            </a:solidFill>
            <a:prstDash val="solid"/>
          </a:ln>
        </p:spPr>
      </p:sp>
      <p:sp>
        <p:nvSpPr>
          <p:cNvPr id="14" name="Text 10"/>
          <p:cNvSpPr txBox="1"/>
          <p:nvPr/>
        </p:nvSpPr>
        <p:spPr>
          <a:xfrm>
            <a:off x="5486400" y="3794760"/>
            <a:ext cx="3657600" cy="274320"/>
          </a:xfrm>
          <a:prstGeom prst="rect">
            <a:avLst/>
          </a:prstGeom>
          <a:noFill/>
          <a:ln/>
        </p:spPr>
        <p:txBody>
          <a:bodyPr wrap="square" lIns="0" tIns="0" rIns="0" bIns="0" rtlCol="0" anchor="t"/>
          <a:lstStyle/>
          <a:p>
            <a:pPr indent="0" marL="0">
              <a:buNone/>
            </a:pPr>
            <a:r>
              <a:rPr lang="en-US" sz="1200" spc="200" kern="0" dirty="0">
                <a:solidFill>
                  <a:srgbClr val="8E9BAA"/>
                </a:solidFill>
                <a:latin typeface="Calibri" pitchFamily="34" charset="0"/>
                <a:ea typeface="Calibri" pitchFamily="34" charset="-122"/>
                <a:cs typeface="Calibri" pitchFamily="34" charset="-120"/>
              </a:rPr>
              <a:t>DEPLOYMENT TRIGGER</a:t>
            </a:r>
            <a:endParaRPr lang="en-US" sz="1200" dirty="0"/>
          </a:p>
        </p:txBody>
      </p:sp>
      <p:sp>
        <p:nvSpPr>
          <p:cNvPr id="15" name="Text 11"/>
          <p:cNvSpPr txBox="1"/>
          <p:nvPr/>
        </p:nvSpPr>
        <p:spPr>
          <a:xfrm>
            <a:off x="5486400" y="4160520"/>
            <a:ext cx="2743200" cy="320040"/>
          </a:xfrm>
          <a:prstGeom prst="rect">
            <a:avLst/>
          </a:prstGeom>
          <a:noFill/>
          <a:ln/>
        </p:spPr>
        <p:txBody>
          <a:bodyPr wrap="square" lIns="0" tIns="0" rIns="0" bIns="0" rtlCol="0" anchor="t"/>
          <a:lstStyle/>
          <a:p>
            <a:pPr indent="0" marL="0">
              <a:buNone/>
            </a:pPr>
            <a:r>
              <a:rPr lang="en-US" sz="1500" b="1" dirty="0">
                <a:solidFill>
                  <a:srgbClr val="E8ECEF"/>
                </a:solidFill>
                <a:latin typeface="Calibri" pitchFamily="34" charset="0"/>
                <a:ea typeface="Calibri" pitchFamily="34" charset="-122"/>
                <a:cs typeface="Calibri" pitchFamily="34" charset="-120"/>
              </a:rPr>
              <a:t>Actual altitude drop</a:t>
            </a:r>
            <a:endParaRPr lang="en-US" sz="1500" dirty="0"/>
          </a:p>
        </p:txBody>
      </p:sp>
      <p:sp>
        <p:nvSpPr>
          <p:cNvPr id="16" name="Text 12"/>
          <p:cNvSpPr txBox="1"/>
          <p:nvPr/>
        </p:nvSpPr>
        <p:spPr>
          <a:xfrm>
            <a:off x="7498080" y="4160520"/>
            <a:ext cx="457200" cy="320040"/>
          </a:xfrm>
          <a:prstGeom prst="rect">
            <a:avLst/>
          </a:prstGeom>
          <a:noFill/>
          <a:ln/>
        </p:spPr>
        <p:txBody>
          <a:bodyPr wrap="square" lIns="0" tIns="0" rIns="0" bIns="0" rtlCol="0" anchor="t"/>
          <a:lstStyle/>
          <a:p>
            <a:pPr indent="0" marL="0">
              <a:buNone/>
            </a:pPr>
            <a:r>
              <a:rPr lang="en-US" sz="1500" dirty="0">
                <a:solidFill>
                  <a:srgbClr val="8E9BAA"/>
                </a:solidFill>
                <a:latin typeface="Calibri" pitchFamily="34" charset="0"/>
                <a:ea typeface="Calibri" pitchFamily="34" charset="-122"/>
                <a:cs typeface="Calibri" pitchFamily="34" charset="-120"/>
              </a:rPr>
              <a:t>vs.</a:t>
            </a:r>
            <a:endParaRPr lang="en-US" sz="1500" dirty="0"/>
          </a:p>
        </p:txBody>
      </p:sp>
      <p:sp>
        <p:nvSpPr>
          <p:cNvPr id="17" name="Text 13"/>
          <p:cNvSpPr txBox="1"/>
          <p:nvPr/>
        </p:nvSpPr>
        <p:spPr>
          <a:xfrm>
            <a:off x="8229600" y="4160520"/>
            <a:ext cx="3383280" cy="320040"/>
          </a:xfrm>
          <a:prstGeom prst="rect">
            <a:avLst/>
          </a:prstGeom>
          <a:noFill/>
          <a:ln/>
        </p:spPr>
        <p:txBody>
          <a:bodyPr wrap="square" lIns="0" tIns="0" rIns="0" bIns="0" rtlCol="0" anchor="t"/>
          <a:lstStyle/>
          <a:p>
            <a:pPr indent="0" marL="0">
              <a:buNone/>
            </a:pPr>
            <a:r>
              <a:rPr lang="en-US" sz="1500" b="1" dirty="0">
                <a:solidFill>
                  <a:srgbClr val="E8ECEF"/>
                </a:solidFill>
                <a:latin typeface="Calibri" pitchFamily="34" charset="0"/>
                <a:ea typeface="Calibri" pitchFamily="34" charset="-122"/>
                <a:cs typeface="Calibri" pitchFamily="34" charset="-120"/>
              </a:rPr>
              <a:t>Ballistic predicted drop</a:t>
            </a:r>
            <a:endParaRPr lang="en-US" sz="1500" dirty="0"/>
          </a:p>
        </p:txBody>
      </p:sp>
      <p:sp>
        <p:nvSpPr>
          <p:cNvPr id="18" name="Text 14"/>
          <p:cNvSpPr txBox="1"/>
          <p:nvPr/>
        </p:nvSpPr>
        <p:spPr>
          <a:xfrm>
            <a:off x="5486400" y="4617720"/>
            <a:ext cx="6126480" cy="365760"/>
          </a:xfrm>
          <a:prstGeom prst="rect">
            <a:avLst/>
          </a:prstGeom>
          <a:noFill/>
          <a:ln/>
        </p:spPr>
        <p:txBody>
          <a:bodyPr wrap="square" lIns="0" tIns="0" rIns="0" bIns="0" rtlCol="0" anchor="t"/>
          <a:lstStyle/>
          <a:p>
            <a:pPr indent="0" marL="0">
              <a:buNone/>
            </a:pPr>
            <a:r>
              <a:rPr lang="en-US" sz="1600" b="1" dirty="0">
                <a:solidFill>
                  <a:srgbClr val="FFB23F"/>
                </a:solidFill>
                <a:latin typeface="Consolas" pitchFamily="34" charset="0"/>
                <a:ea typeface="Consolas" pitchFamily="34" charset="-122"/>
                <a:cs typeface="Consolas" pitchFamily="34" charset="-120"/>
              </a:rPr>
              <a:t>Δ_actual − Δ_predicted  &gt;  500 cm   →   DEPLOYMENT</a:t>
            </a:r>
            <a:endParaRPr lang="en-US" sz="1600" dirty="0"/>
          </a:p>
        </p:txBody>
      </p:sp>
      <p:sp>
        <p:nvSpPr>
          <p:cNvPr id="19" name="Shape 15"/>
          <p:cNvSpPr/>
          <p:nvPr/>
        </p:nvSpPr>
        <p:spPr>
          <a:xfrm>
            <a:off x="5486400" y="5166360"/>
            <a:ext cx="6126480" cy="777240"/>
          </a:xfrm>
          <a:prstGeom prst="rect">
            <a:avLst/>
          </a:prstGeom>
          <a:solidFill>
            <a:srgbClr val="121923"/>
          </a:solidFill>
          <a:ln w="9525">
            <a:solidFill>
              <a:srgbClr val="263241"/>
            </a:solidFill>
            <a:prstDash val="solid"/>
          </a:ln>
        </p:spPr>
      </p:sp>
      <p:sp>
        <p:nvSpPr>
          <p:cNvPr id="20" name="Text 16"/>
          <p:cNvSpPr txBox="1"/>
          <p:nvPr/>
        </p:nvSpPr>
        <p:spPr>
          <a:xfrm>
            <a:off x="5623560" y="5212080"/>
            <a:ext cx="5852160" cy="685800"/>
          </a:xfrm>
          <a:prstGeom prst="rect">
            <a:avLst/>
          </a:prstGeom>
          <a:noFill/>
          <a:ln/>
        </p:spPr>
        <p:txBody>
          <a:bodyPr wrap="square" lIns="0" tIns="0" rIns="0" bIns="0" rtlCol="0" anchor="ctr"/>
          <a:lstStyle/>
          <a:p>
            <a:pPr indent="0" marL="0">
              <a:buNone/>
            </a:pPr>
            <a:r>
              <a:rPr lang="en-US" sz="1100" b="1" dirty="0">
                <a:solidFill>
                  <a:srgbClr val="3FD0C0"/>
                </a:solidFill>
                <a:latin typeface="Calibri" pitchFamily="34" charset="0"/>
                <a:ea typeface="Calibri" pitchFamily="34" charset="-122"/>
                <a:cs typeface="Calibri" pitchFamily="34" charset="-120"/>
              </a:rPr>
              <a:t>TRANSITION FREEZE   </a:t>
            </a:r>
            <a:pPr indent="0" marL="0">
              <a:buNone/>
            </a:pPr>
            <a:r>
              <a:rPr lang="en-US" sz="1300" dirty="0">
                <a:solidFill>
                  <a:srgbClr val="E8ECEF"/>
                </a:solidFill>
                <a:latin typeface="Calibri" pitchFamily="34" charset="0"/>
                <a:ea typeface="Calibri" pitchFamily="34" charset="-122"/>
                <a:cs typeface="Calibri" pitchFamily="34" charset="-120"/>
              </a:rPr>
              <a:t>Transitional samples are excluded from both fits so deceleration doesn't distort the models.</a:t>
            </a:r>
            <a:endParaRPr lang="en-US" sz="14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08 / THE STATE STRUCT</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2336 BYTES. EVERY FIELD, AND WHY.</a:t>
            </a:r>
            <a:endParaRPr lang="en-US" sz="3400" dirty="0"/>
          </a:p>
        </p:txBody>
      </p:sp>
      <p:sp>
        <p:nvSpPr>
          <p:cNvPr id="5" name="Shape 2"/>
          <p:cNvSpPr/>
          <p:nvPr/>
        </p:nvSpPr>
        <p:spPr>
          <a:xfrm>
            <a:off x="548640" y="1371600"/>
            <a:ext cx="11064240" cy="457200"/>
          </a:xfrm>
          <a:prstGeom prst="rect">
            <a:avLst/>
          </a:prstGeom>
          <a:solidFill>
            <a:srgbClr val="0F151D"/>
          </a:solidFill>
          <a:ln w="12700">
            <a:solidFill>
              <a:srgbClr val="263241"/>
            </a:solidFill>
            <a:prstDash val="solid"/>
          </a:ln>
        </p:spPr>
      </p:sp>
      <p:sp>
        <p:nvSpPr>
          <p:cNvPr id="6" name="Shape 3"/>
          <p:cNvSpPr/>
          <p:nvPr/>
        </p:nvSpPr>
        <p:spPr>
          <a:xfrm>
            <a:off x="548640" y="1371600"/>
            <a:ext cx="5532120" cy="457200"/>
          </a:xfrm>
          <a:prstGeom prst="rect">
            <a:avLst/>
          </a:prstGeom>
          <a:solidFill>
            <a:srgbClr val="3FD0C0"/>
          </a:solidFill>
          <a:ln w="12700">
            <a:solidFill>
              <a:srgbClr val="0A0E13"/>
            </a:solidFill>
            <a:prstDash val="solid"/>
          </a:ln>
        </p:spPr>
      </p:sp>
      <p:sp>
        <p:nvSpPr>
          <p:cNvPr id="7" name="Shape 4"/>
          <p:cNvSpPr/>
          <p:nvPr/>
        </p:nvSpPr>
        <p:spPr>
          <a:xfrm>
            <a:off x="6080760" y="1371600"/>
            <a:ext cx="777954" cy="457200"/>
          </a:xfrm>
          <a:prstGeom prst="rect">
            <a:avLst/>
          </a:prstGeom>
          <a:solidFill>
            <a:srgbClr val="FFB23F"/>
          </a:solidFill>
          <a:ln w="12700">
            <a:solidFill>
              <a:srgbClr val="0A0E13"/>
            </a:solidFill>
            <a:prstDash val="solid"/>
          </a:ln>
        </p:spPr>
      </p:sp>
      <p:sp>
        <p:nvSpPr>
          <p:cNvPr id="8" name="Text 5"/>
          <p:cNvSpPr txBox="1"/>
          <p:nvPr/>
        </p:nvSpPr>
        <p:spPr>
          <a:xfrm>
            <a:off x="685800" y="1371600"/>
            <a:ext cx="2743200" cy="457200"/>
          </a:xfrm>
          <a:prstGeom prst="rect">
            <a:avLst/>
          </a:prstGeom>
          <a:noFill/>
          <a:ln/>
        </p:spPr>
        <p:txBody>
          <a:bodyPr wrap="square" lIns="0" tIns="0" rIns="0" bIns="0" rtlCol="0" anchor="ctr"/>
          <a:lstStyle/>
          <a:p>
            <a:pPr indent="0" marL="0">
              <a:buNone/>
            </a:pPr>
            <a:r>
              <a:rPr lang="en-US" sz="1300" b="1" dirty="0">
                <a:solidFill>
                  <a:srgbClr val="0A0E13"/>
                </a:solidFill>
                <a:latin typeface="Consolas" pitchFamily="34" charset="0"/>
                <a:ea typeface="Consolas" pitchFamily="34" charset="-122"/>
                <a:cs typeface="Consolas" pitchFamily="34" charset="-120"/>
              </a:rPr>
              <a:t>ring 2048 B</a:t>
            </a:r>
            <a:endParaRPr lang="en-US" sz="1300" dirty="0"/>
          </a:p>
        </p:txBody>
      </p:sp>
      <p:sp>
        <p:nvSpPr>
          <p:cNvPr id="9" name="Text 6"/>
          <p:cNvSpPr txBox="1"/>
          <p:nvPr/>
        </p:nvSpPr>
        <p:spPr>
          <a:xfrm>
            <a:off x="7133034" y="1371600"/>
            <a:ext cx="5029200" cy="457200"/>
          </a:xfrm>
          <a:prstGeom prst="rect">
            <a:avLst/>
          </a:prstGeom>
          <a:noFill/>
          <a:ln/>
        </p:spPr>
        <p:txBody>
          <a:bodyPr wrap="square" lIns="0" tIns="0" rIns="0" bIns="0" rtlCol="0" anchor="ctr"/>
          <a:lstStyle/>
          <a:p>
            <a:pPr indent="0" marL="0">
              <a:buNone/>
            </a:pPr>
            <a:r>
              <a:rPr lang="en-US" sz="1300" b="1" dirty="0">
                <a:solidFill>
                  <a:srgbClr val="8E9BAA"/>
                </a:solidFill>
                <a:latin typeface="Consolas" pitchFamily="34" charset="0"/>
                <a:ea typeface="Consolas" pitchFamily="34" charset="-122"/>
                <a:cs typeface="Consolas" pitchFamily="34" charset="-120"/>
              </a:rPr>
              <a:t>USED 2336 B (57.0%)   ·   FREE 1760 B</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64240" cy="914400"/>
        </p:xfrm>
        <a:graphic>
          <a:graphicData uri="http://schemas.openxmlformats.org/drawingml/2006/table">
            <a:tbl>
              <a:tblPr/>
              <a:tblGrid>
                <a:gridCol w="2148840"/>
                <a:gridCol w="4160520"/>
                <a:gridCol w="2331720"/>
                <a:gridCol w="731520"/>
                <a:gridCol w="1691640"/>
              </a:tblGrid>
              <a:tr h="329184">
                <a:tc>
                  <a:txBody>
                    <a:bodyPr/>
                    <a:lstStyle/>
                    <a:p>
                      <a:pPr algn="l" indent="0" marL="0">
                        <a:buNone/>
                      </a:pPr>
                      <a:r>
                        <a:rPr lang="en-US" sz="1100" b="1" dirty="0">
                          <a:solidFill>
                            <a:srgbClr val="8E9BAA"/>
                          </a:solidFill>
                          <a:latin typeface="Calibri" pitchFamily="34" charset="0"/>
                          <a:ea typeface="Calibri" pitchFamily="34" charset="-122"/>
                          <a:cs typeface="Calibri" pitchFamily="34" charset="-120"/>
                        </a:rPr>
                        <a:t>Group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l" indent="0" marL="0">
                        <a:buNone/>
                      </a:pPr>
                      <a:r>
                        <a:rPr lang="en-US" sz="1100" b="1" dirty="0">
                          <a:solidFill>
                            <a:srgbClr val="8E9BAA"/>
                          </a:solidFill>
                          <a:latin typeface="Calibri" pitchFamily="34" charset="0"/>
                          <a:ea typeface="Calibri" pitchFamily="34" charset="-122"/>
                          <a:cs typeface="Calibri" pitchFamily="34" charset="-120"/>
                        </a:rPr>
                        <a:t>Fields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l" indent="0" marL="0">
                        <a:buNone/>
                      </a:pPr>
                      <a:r>
                        <a:rPr lang="en-US" sz="1100" b="1" dirty="0">
                          <a:solidFill>
                            <a:srgbClr val="8E9BAA"/>
                          </a:solidFill>
                          <a:latin typeface="Calibri" pitchFamily="34" charset="0"/>
                          <a:ea typeface="Calibri" pitchFamily="34" charset="-122"/>
                          <a:cs typeface="Calibri" pitchFamily="34" charset="-120"/>
                        </a:rPr>
                        <a:t>Types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r" indent="0" marL="0">
                        <a:buNone/>
                      </a:pPr>
                      <a:r>
                        <a:rPr lang="en-US" sz="1100" b="1" dirty="0">
                          <a:solidFill>
                            <a:srgbClr val="8E9BAA"/>
                          </a:solidFill>
                          <a:latin typeface="Consolas" pitchFamily="34" charset="0"/>
                          <a:ea typeface="Consolas" pitchFamily="34" charset="-122"/>
                          <a:cs typeface="Consolas" pitchFamily="34" charset="-120"/>
                        </a:rPr>
                        <a:t>Bytes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l" indent="0" marL="0">
                        <a:buNone/>
                      </a:pPr>
                      <a:r>
                        <a:rPr lang="en-US" sz="1100" b="1" dirty="0">
                          <a:solidFill>
                            <a:srgbClr val="8E9BAA"/>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r>
              <a:tr h="329184">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Counters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readingsReceived, worstCycles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uint32 × 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sample count; STATS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29184">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First-fit sums (0–8 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firstN · Σq², Σy, Σqy, Σq²y · A, B, C · firstReady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u32; int64 × 4; double × 3; bool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61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gravity + apogee fit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29184">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Coast sums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coastN · ΣY, ΣXY, ΣX²Y · coastLastIndex</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u32; int64 × 3; u32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32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coast curve refit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29184">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Descent sums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paraN · ΣY, ΣX, ΣX², ΣXY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u32; int64 × 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descent line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29184">
                <a:tc>
                  <a:txBody>
                    <a:bodyPr/>
                    <a:lstStyle/>
                    <a:p>
                      <a:pPr algn="l" indent="0" marL="0">
                        <a:buNone/>
                      </a:pPr>
                      <a:r>
                        <a:rPr lang="en-US" sz="1100" dirty="0">
                          <a:solidFill>
                            <a:srgbClr val="3FD0C0"/>
                          </a:solidFill>
                          <a:latin typeface="Calibri" pitchFamily="34" charset="0"/>
                          <a:ea typeface="Calibri" pitchFamily="34" charset="-122"/>
                          <a:cs typeface="Calibri" pitchFamily="34" charset="-120"/>
                        </a:rPr>
                        <a:t>Ring buffer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3FD0C0"/>
                          </a:solidFill>
                          <a:latin typeface="Calibri" pitchFamily="34" charset="0"/>
                          <a:ea typeface="Calibri" pitchFamily="34" charset="-122"/>
                          <a:cs typeface="Calibri" pitchFamily="34" charset="-120"/>
                        </a:rPr>
                        <a:t>ring[1024]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3FD0C0"/>
                          </a:solidFill>
                          <a:latin typeface="Calibri" pitchFamily="34" charset="0"/>
                          <a:ea typeface="Calibri" pitchFamily="34" charset="-122"/>
                          <a:cs typeface="Calibri" pitchFamily="34" charset="-120"/>
                        </a:rPr>
                        <a:t>uint16 × 1024</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3FD0C0"/>
                          </a:solidFill>
                          <a:latin typeface="Consolas" pitchFamily="34" charset="0"/>
                          <a:ea typeface="Consolas" pitchFamily="34" charset="-122"/>
                          <a:cs typeface="Consolas" pitchFamily="34" charset="-120"/>
                        </a:rPr>
                        <a:t>2048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3FD0C0"/>
                          </a:solidFill>
                          <a:latin typeface="Calibri" pitchFamily="34" charset="0"/>
                          <a:ea typeface="Calibri" pitchFamily="34" charset="-122"/>
                          <a:cs typeface="Calibri" pitchFamily="34" charset="-120"/>
                        </a:rPr>
                        <a:t>deployment test history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29184">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Median window</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rawHistory[5] · count · pos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uint16 × 5; uint8 × 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causal 5-value median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29184">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Glitch counter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glitchCount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uint32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GLITCHES command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29184">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Deployment state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detected, finalized · detectionIndex, frozenStart · time, altitude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bool × 2; u32 × 2; double × 2</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26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trigger, freeze, result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29184">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Cached coefficients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coastA, B, C, Center · paraA, B, Center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double × 7</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56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fast command answers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29184">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Serial parser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commandBuffer[32] · length · overflow</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char × 32; uint8; bool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34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non-blocking input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29184">
                <a:tc>
                  <a:txBody>
                    <a:bodyPr/>
                    <a:lstStyle/>
                    <a:p>
                      <a:pPr algn="l" indent="0" marL="0">
                        <a:buNone/>
                      </a:pPr>
                      <a:r>
                        <a:rPr lang="en-US" sz="1100" b="1" dirty="0">
                          <a:solidFill>
                            <a:srgbClr val="E8ECEF"/>
                          </a:solidFill>
                          <a:latin typeface="Calibri" pitchFamily="34" charset="0"/>
                          <a:ea typeface="Calibri" pitchFamily="34" charset="-122"/>
                          <a:cs typeface="Calibri" pitchFamily="34" charset="-120"/>
                        </a:rPr>
                        <a:t>Σ fields 2317 + padding 19 (derived)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b="1" dirty="0">
                          <a:solidFill>
                            <a:srgbClr val="E8ECEF"/>
                          </a:solidFill>
                          <a:latin typeface="Consolas" pitchFamily="34" charset="0"/>
                          <a:ea typeface="Consolas" pitchFamily="34" charset="-122"/>
                          <a:cs typeface="Consolas" pitchFamily="34" charset="-120"/>
                        </a:rPr>
                        <a:t>2336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100" b="1" dirty="0">
                          <a:solidFill>
                            <a:srgbClr val="E8ECEF"/>
                          </a:solidFill>
                          <a:latin typeface="Calibri" pitchFamily="34" charset="0"/>
                          <a:ea typeface="Calibri" pitchFamily="34" charset="-122"/>
                          <a:cs typeface="Calibri" pitchFamily="34" charset="-120"/>
                        </a:rPr>
                        <a:t>= STATS: 2336 of 4096</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bl>
          </a:graphicData>
        </a:graphic>
      </p:graphicFrame>
      <p:sp>
        <p:nvSpPr>
          <p:cNvPr id="11" name="Text 7"/>
          <p:cNvSpPr txBox="1"/>
          <p:nvPr/>
        </p:nvSpPr>
        <p:spPr>
          <a:xfrm>
            <a:off x="548640" y="6126480"/>
            <a:ext cx="10972800" cy="228600"/>
          </a:xfrm>
          <a:prstGeom prst="rect">
            <a:avLst/>
          </a:prstGeom>
          <a:noFill/>
          <a:ln/>
        </p:spPr>
        <p:txBody>
          <a:bodyPr wrap="square" lIns="0" tIns="0" rIns="0" bIns="0" rtlCol="0" anchor="t"/>
          <a:lstStyle/>
          <a:p>
            <a:pPr indent="0" marL="0">
              <a:buNone/>
            </a:pPr>
            <a:r>
              <a:rPr lang="en-US" sz="1000" dirty="0">
                <a:solidFill>
                  <a:srgbClr val="6B7888"/>
                </a:solidFill>
                <a:latin typeface="Calibri" pitchFamily="34" charset="0"/>
                <a:ea typeface="Calibri" pitchFamily="34" charset="-122"/>
                <a:cs typeface="Calibri" pitchFamily="34" charset="-120"/>
              </a:rPr>
              <a:t>Source: GroundState in LEVEL_5_OFFICIAL.ino; total from the Level 5 STATS output. static_assert(sizeof(GroundState) &lt;= 4096) enforces the limit.</a:t>
            </a:r>
            <a:endParaRPr lang="en-US" sz="10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09 / REAL-TIME CPU BUDGET + COMMAND LATENCY</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THE CLOCK WAS OUR SECOND CONSTRAINT</a:t>
            </a:r>
            <a:endParaRPr lang="en-US" sz="3400" dirty="0"/>
          </a:p>
        </p:txBody>
      </p:sp>
      <p:sp>
        <p:nvSpPr>
          <p:cNvPr id="5" name="Shape 2"/>
          <p:cNvSpPr/>
          <p:nvPr/>
        </p:nvSpPr>
        <p:spPr>
          <a:xfrm>
            <a:off x="548640" y="1508760"/>
            <a:ext cx="11064240" cy="640080"/>
          </a:xfrm>
          <a:prstGeom prst="rect">
            <a:avLst/>
          </a:prstGeom>
          <a:solidFill>
            <a:srgbClr val="0F151D"/>
          </a:solidFill>
          <a:ln w="12700">
            <a:solidFill>
              <a:srgbClr val="263241"/>
            </a:solidFill>
            <a:prstDash val="solid"/>
          </a:ln>
        </p:spPr>
      </p:sp>
      <p:sp>
        <p:nvSpPr>
          <p:cNvPr id="6" name="Shape 3"/>
          <p:cNvSpPr/>
          <p:nvPr/>
        </p:nvSpPr>
        <p:spPr>
          <a:xfrm>
            <a:off x="548640" y="1508760"/>
            <a:ext cx="5994974" cy="640080"/>
          </a:xfrm>
          <a:prstGeom prst="rect">
            <a:avLst/>
          </a:prstGeom>
          <a:solidFill>
            <a:srgbClr val="3FD0C0"/>
          </a:solidFill>
          <a:ln w="12700">
            <a:solidFill>
              <a:srgbClr val="0A0E13"/>
            </a:solidFill>
            <a:prstDash val="solid"/>
          </a:ln>
        </p:spPr>
      </p:sp>
      <p:sp>
        <p:nvSpPr>
          <p:cNvPr id="7" name="Text 4"/>
          <p:cNvSpPr txBox="1"/>
          <p:nvPr/>
        </p:nvSpPr>
        <p:spPr>
          <a:xfrm>
            <a:off x="731520" y="1508760"/>
            <a:ext cx="4572000" cy="640080"/>
          </a:xfrm>
          <a:prstGeom prst="rect">
            <a:avLst/>
          </a:prstGeom>
          <a:noFill/>
          <a:ln/>
        </p:spPr>
        <p:txBody>
          <a:bodyPr wrap="square" lIns="0" tIns="0" rIns="0" bIns="0" rtlCol="0" anchor="ctr"/>
          <a:lstStyle/>
          <a:p>
            <a:pPr indent="0" marL="0">
              <a:buNone/>
            </a:pPr>
            <a:r>
              <a:rPr lang="en-US" sz="1800" b="1" dirty="0">
                <a:solidFill>
                  <a:srgbClr val="0A0E13"/>
                </a:solidFill>
                <a:latin typeface="Consolas" pitchFamily="34" charset="0"/>
                <a:ea typeface="Consolas" pitchFamily="34" charset="-122"/>
                <a:cs typeface="Consolas" pitchFamily="34" charset="-120"/>
              </a:rPr>
              <a:t>USED 6502 · 54.2%</a:t>
            </a:r>
            <a:endParaRPr lang="en-US" sz="1800" dirty="0"/>
          </a:p>
        </p:txBody>
      </p:sp>
      <p:sp>
        <p:nvSpPr>
          <p:cNvPr id="8" name="Text 5"/>
          <p:cNvSpPr txBox="1"/>
          <p:nvPr/>
        </p:nvSpPr>
        <p:spPr>
          <a:xfrm>
            <a:off x="6772214" y="1508760"/>
            <a:ext cx="4572000" cy="640080"/>
          </a:xfrm>
          <a:prstGeom prst="rect">
            <a:avLst/>
          </a:prstGeom>
          <a:noFill/>
          <a:ln/>
        </p:spPr>
        <p:txBody>
          <a:bodyPr wrap="square" lIns="0" tIns="0" rIns="0" bIns="0" rtlCol="0" anchor="ctr"/>
          <a:lstStyle/>
          <a:p>
            <a:pPr indent="0" marL="0">
              <a:buNone/>
            </a:pPr>
            <a:r>
              <a:rPr lang="en-US" sz="1800" b="1" dirty="0">
                <a:solidFill>
                  <a:srgbClr val="8E9BAA"/>
                </a:solidFill>
                <a:latin typeface="Consolas" pitchFamily="34" charset="0"/>
                <a:ea typeface="Consolas" pitchFamily="34" charset="-122"/>
                <a:cs typeface="Consolas" pitchFamily="34" charset="-120"/>
              </a:rPr>
              <a:t>FREE 5498 · 45.8%</a:t>
            </a:r>
            <a:endParaRPr lang="en-US" sz="1800" dirty="0"/>
          </a:p>
        </p:txBody>
      </p:sp>
      <p:sp>
        <p:nvSpPr>
          <p:cNvPr id="9" name="Text 6"/>
          <p:cNvSpPr txBox="1"/>
          <p:nvPr/>
        </p:nvSpPr>
        <p:spPr>
          <a:xfrm>
            <a:off x="548640" y="2194560"/>
            <a:ext cx="914400" cy="228600"/>
          </a:xfrm>
          <a:prstGeom prst="rect">
            <a:avLst/>
          </a:prstGeom>
          <a:noFill/>
          <a:ln/>
        </p:spPr>
        <p:txBody>
          <a:bodyPr wrap="square" lIns="0" tIns="0" rIns="0" bIns="0" rtlCol="0" anchor="t"/>
          <a:lstStyle/>
          <a:p>
            <a:pPr indent="0" marL="0">
              <a:buNone/>
            </a:pPr>
            <a:r>
              <a:rPr lang="en-US" sz="1100" dirty="0">
                <a:solidFill>
                  <a:srgbClr val="8E9BAA"/>
                </a:solidFill>
                <a:latin typeface="Consolas" pitchFamily="34" charset="0"/>
                <a:ea typeface="Consolas" pitchFamily="34" charset="-122"/>
                <a:cs typeface="Consolas" pitchFamily="34" charset="-120"/>
              </a:rPr>
              <a:t>0</a:t>
            </a:r>
            <a:endParaRPr lang="en-US" sz="1100" dirty="0"/>
          </a:p>
        </p:txBody>
      </p:sp>
      <p:sp>
        <p:nvSpPr>
          <p:cNvPr id="10" name="Text 7"/>
          <p:cNvSpPr txBox="1"/>
          <p:nvPr/>
        </p:nvSpPr>
        <p:spPr>
          <a:xfrm>
            <a:off x="9784080" y="2194560"/>
            <a:ext cx="1828800" cy="228600"/>
          </a:xfrm>
          <a:prstGeom prst="rect">
            <a:avLst/>
          </a:prstGeom>
          <a:noFill/>
          <a:ln/>
        </p:spPr>
        <p:txBody>
          <a:bodyPr wrap="square" lIns="0" tIns="0" rIns="0" bIns="0" rtlCol="0" anchor="t"/>
          <a:lstStyle/>
          <a:p>
            <a:pPr algn="r" indent="0" marL="0">
              <a:buNone/>
            </a:pPr>
            <a:r>
              <a:rPr lang="en-US" sz="1100" dirty="0">
                <a:solidFill>
                  <a:srgbClr val="8E9BAA"/>
                </a:solidFill>
                <a:latin typeface="Consolas" pitchFamily="34" charset="0"/>
                <a:ea typeface="Consolas" pitchFamily="34" charset="-122"/>
                <a:cs typeface="Consolas" pitchFamily="34" charset="-120"/>
              </a:rPr>
              <a:t>12,000 cycles</a:t>
            </a:r>
            <a:endParaRPr lang="en-US" sz="1100" dirty="0"/>
          </a:p>
        </p:txBody>
      </p:sp>
      <p:sp>
        <p:nvSpPr>
          <p:cNvPr id="11" name="Text 8"/>
          <p:cNvSpPr txBox="1"/>
          <p:nvPr/>
        </p:nvSpPr>
        <p:spPr>
          <a:xfrm>
            <a:off x="548640" y="2697480"/>
            <a:ext cx="5120640" cy="320040"/>
          </a:xfrm>
          <a:prstGeom prst="rect">
            <a:avLst/>
          </a:prstGeom>
          <a:noFill/>
          <a:ln/>
        </p:spPr>
        <p:txBody>
          <a:bodyPr wrap="square" lIns="0" tIns="0" rIns="0" bIns="0" rtlCol="0" anchor="t"/>
          <a:lstStyle/>
          <a:p>
            <a:pPr indent="0" marL="0">
              <a:buNone/>
            </a:pPr>
            <a:r>
              <a:rPr lang="en-US" sz="1600" b="1" dirty="0">
                <a:solidFill>
                  <a:srgbClr val="E8ECEF"/>
                </a:solidFill>
                <a:latin typeface="Consolas" pitchFamily="34" charset="0"/>
                <a:ea typeface="Consolas" pitchFamily="34" charset="-122"/>
                <a:cs typeface="Consolas" pitchFamily="34" charset="-120"/>
              </a:rPr>
              <a:t>240 MHz → 50 µs → 12,000 cycles</a:t>
            </a:r>
            <a:endParaRPr lang="en-US" sz="1600" dirty="0"/>
          </a:p>
        </p:txBody>
      </p:sp>
      <p:sp>
        <p:nvSpPr>
          <p:cNvPr id="12" name="Text 9"/>
          <p:cNvSpPr txBox="1"/>
          <p:nvPr/>
        </p:nvSpPr>
        <p:spPr>
          <a:xfrm>
            <a:off x="548640" y="3063240"/>
            <a:ext cx="5120640" cy="274320"/>
          </a:xfrm>
          <a:prstGeom prst="rect">
            <a:avLst/>
          </a:prstGeom>
          <a:noFill/>
          <a:ln/>
        </p:spPr>
        <p:txBody>
          <a:bodyPr wrap="square" lIns="0" tIns="0" rIns="0" bIns="0" rtlCol="0" anchor="t"/>
          <a:lstStyle/>
          <a:p>
            <a:pPr indent="0" marL="0">
              <a:buNone/>
            </a:pPr>
            <a:r>
              <a:rPr lang="en-US" sz="1200" dirty="0">
                <a:solidFill>
                  <a:srgbClr val="8E9BAA"/>
                </a:solidFill>
                <a:latin typeface="Consolas" pitchFamily="34" charset="0"/>
                <a:ea typeface="Consolas" pitchFamily="34" charset="-122"/>
                <a:cs typeface="Consolas" pitchFamily="34" charset="-120"/>
              </a:rPr>
              <a:t>worst reading:  Official 6418  ·  Practice B 6502</a:t>
            </a:r>
            <a:endParaRPr lang="en-US" sz="1200" dirty="0"/>
          </a:p>
        </p:txBody>
      </p:sp>
      <p:sp>
        <p:nvSpPr>
          <p:cNvPr id="13" name="Shape 10"/>
          <p:cNvSpPr/>
          <p:nvPr/>
        </p:nvSpPr>
        <p:spPr>
          <a:xfrm>
            <a:off x="548640" y="3520440"/>
            <a:ext cx="5120640" cy="914400"/>
          </a:xfrm>
          <a:prstGeom prst="rect">
            <a:avLst/>
          </a:prstGeom>
          <a:solidFill>
            <a:srgbClr val="0F151D"/>
          </a:solidFill>
          <a:ln w="9525">
            <a:solidFill>
              <a:srgbClr val="263241"/>
            </a:solidFill>
            <a:prstDash val="solid"/>
          </a:ln>
        </p:spPr>
      </p:sp>
      <p:sp>
        <p:nvSpPr>
          <p:cNvPr id="14" name="Text 11"/>
          <p:cNvSpPr txBox="1"/>
          <p:nvPr/>
        </p:nvSpPr>
        <p:spPr>
          <a:xfrm>
            <a:off x="731520" y="3630168"/>
            <a:ext cx="4754880" cy="694944"/>
          </a:xfrm>
          <a:prstGeom prst="rect">
            <a:avLst/>
          </a:prstGeom>
          <a:noFill/>
          <a:ln/>
        </p:spPr>
        <p:txBody>
          <a:bodyPr wrap="square" lIns="0" tIns="0" rIns="0" bIns="0" rtlCol="0" anchor="t"/>
          <a:lstStyle/>
          <a:p>
            <a:pPr indent="0" marL="0">
              <a:buNone/>
            </a:pPr>
            <a:r>
              <a:rPr lang="en-US" sz="1200" dirty="0">
                <a:solidFill>
                  <a:srgbClr val="BFEFE9"/>
                </a:solidFill>
                <a:latin typeface="Consolas" pitchFamily="34" charset="0"/>
                <a:ea typeface="Consolas" pitchFamily="34" charset="-122"/>
                <a:cs typeface="Consolas" pitchFamily="34" charset="-120"/>
              </a:rPr>
              <a:t>uint32_t start = ESP.getCycleCount();</a:t>
            </a:r>
            <a:endParaRPr lang="en-US" sz="1200" dirty="0"/>
          </a:p>
          <a:p>
            <a:pPr indent="0" marL="0">
              <a:buNone/>
            </a:pPr>
            <a:r>
              <a:rPr lang="en-US" sz="1200" dirty="0">
                <a:solidFill>
                  <a:srgbClr val="BFEFE9"/>
                </a:solidFill>
                <a:latin typeface="Consolas" pitchFamily="34" charset="0"/>
                <a:ea typeface="Consolas" pitchFamily="34" charset="-122"/>
                <a:cs typeface="Consolas" pitchFamily="34" charset="-120"/>
              </a:rPr>
              <a:t>/* process one reading */</a:t>
            </a:r>
            <a:endParaRPr lang="en-US" sz="1200" dirty="0"/>
          </a:p>
          <a:p>
            <a:pPr indent="0" marL="0">
              <a:buNone/>
            </a:pPr>
            <a:r>
              <a:rPr lang="en-US" sz="1200" dirty="0">
                <a:solidFill>
                  <a:srgbClr val="BFEFE9"/>
                </a:solidFill>
                <a:latin typeface="Consolas" pitchFamily="34" charset="0"/>
                <a:ea typeface="Consolas" pitchFamily="34" charset="-122"/>
                <a:cs typeface="Consolas" pitchFamily="34" charset="-120"/>
              </a:rPr>
              <a:t>cycles = ESP.getCycleCount() - start;</a:t>
            </a:r>
            <a:endParaRPr lang="en-US" sz="1200" dirty="0"/>
          </a:p>
        </p:txBody>
      </p:sp>
      <p:sp>
        <p:nvSpPr>
          <p:cNvPr id="15" name="Text 12"/>
          <p:cNvSpPr txBox="1"/>
          <p:nvPr/>
        </p:nvSpPr>
        <p:spPr>
          <a:xfrm>
            <a:off x="548640" y="4480560"/>
            <a:ext cx="5120640" cy="274320"/>
          </a:xfrm>
          <a:prstGeom prst="rect">
            <a:avLst/>
          </a:prstGeom>
          <a:noFill/>
          <a:ln/>
        </p:spPr>
        <p:txBody>
          <a:bodyPr wrap="square" lIns="0" tIns="0" rIns="0" bIns="0" rtlCol="0" anchor="t"/>
          <a:lstStyle/>
          <a:p>
            <a:pPr indent="0" marL="0">
              <a:buNone/>
            </a:pPr>
            <a:r>
              <a:rPr lang="en-US" sz="1100" dirty="0">
                <a:solidFill>
                  <a:srgbClr val="8E9BAA"/>
                </a:solidFill>
                <a:latin typeface="Calibri" pitchFamily="34" charset="0"/>
                <a:ea typeface="Calibri" pitchFamily="34" charset="-122"/>
                <a:cs typeface="Calibri" pitchFamily="34" charset="-120"/>
              </a:rPr>
              <a:t>Simplified. The tracker call is outside the measured section.</a:t>
            </a:r>
            <a:endParaRPr lang="en-US" sz="1100" dirty="0"/>
          </a:p>
        </p:txBody>
      </p:sp>
      <p:sp>
        <p:nvSpPr>
          <p:cNvPr id="16" name="Shape 13"/>
          <p:cNvSpPr/>
          <p:nvPr/>
        </p:nvSpPr>
        <p:spPr>
          <a:xfrm>
            <a:off x="548640" y="4892040"/>
            <a:ext cx="5120640" cy="1188720"/>
          </a:xfrm>
          <a:prstGeom prst="rect">
            <a:avLst/>
          </a:prstGeom>
          <a:solidFill>
            <a:srgbClr val="2E2210"/>
          </a:solidFill>
          <a:ln w="15875">
            <a:solidFill>
              <a:srgbClr val="FFB23F"/>
            </a:solidFill>
            <a:prstDash val="solid"/>
          </a:ln>
        </p:spPr>
      </p:sp>
      <p:sp>
        <p:nvSpPr>
          <p:cNvPr id="17" name="Text 14"/>
          <p:cNvSpPr txBox="1"/>
          <p:nvPr/>
        </p:nvSpPr>
        <p:spPr>
          <a:xfrm>
            <a:off x="731520" y="4937760"/>
            <a:ext cx="4754880" cy="1097280"/>
          </a:xfrm>
          <a:prstGeom prst="rect">
            <a:avLst/>
          </a:prstGeom>
          <a:noFill/>
          <a:ln/>
        </p:spPr>
        <p:txBody>
          <a:bodyPr wrap="square" lIns="0" tIns="0" rIns="0" bIns="0" rtlCol="0" anchor="ctr"/>
          <a:lstStyle/>
          <a:p>
            <a:pPr indent="0" marL="0">
              <a:buNone/>
            </a:pPr>
            <a:r>
              <a:rPr lang="en-US" sz="1100" b="1" dirty="0">
                <a:solidFill>
                  <a:srgbClr val="FFB23F"/>
                </a:solidFill>
                <a:latin typeface="Calibri" pitchFamily="34" charset="0"/>
                <a:ea typeface="Calibri" pitchFamily="34" charset="-122"/>
                <a:cs typeface="Calibri" pitchFamily="34" charset="-120"/>
              </a:rPr>
              <a:t>POST-FLIGHT, NOT PER-READING
</a:t>
            </a:r>
            <a:pPr indent="0" marL="0">
              <a:buNone/>
            </a:pPr>
            <a:r>
              <a:rPr lang="en-US" sz="1300" dirty="0">
                <a:solidFill>
                  <a:srgbClr val="E8ECEF"/>
                </a:solidFill>
                <a:latin typeface="Calibri" pitchFamily="34" charset="0"/>
                <a:ea typeface="Calibri" pitchFamily="34" charset="-122"/>
                <a:cs typeface="Calibri" pitchFamily="34" charset="-120"/>
              </a:rPr>
              <a:t>The ~104k-cycle first G occurs after flight completion and does not consume the per-reading budget.</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035040" y="2743200"/>
          <a:ext cx="5577840" cy="914400"/>
        </p:xfrm>
        <a:graphic>
          <a:graphicData uri="http://schemas.openxmlformats.org/drawingml/2006/table">
            <a:tbl>
              <a:tblPr/>
              <a:tblGrid>
                <a:gridCol w="2194560"/>
                <a:gridCol w="1097280"/>
                <a:gridCol w="1188720"/>
                <a:gridCol w="1097280"/>
              </a:tblGrid>
              <a:tr h="347472">
                <a:tc>
                  <a:txBody>
                    <a:bodyPr/>
                    <a:lstStyle/>
                    <a:p>
                      <a:pPr algn="l" indent="0" marL="0">
                        <a:buNone/>
                      </a:pPr>
                      <a:r>
                        <a:rPr lang="en-US" sz="1100" b="1" dirty="0">
                          <a:solidFill>
                            <a:srgbClr val="8E9BAA"/>
                          </a:solidFill>
                          <a:latin typeface="Calibri" pitchFamily="34" charset="0"/>
                          <a:ea typeface="Calibri" pitchFamily="34" charset="-122"/>
                          <a:cs typeface="Calibri" pitchFamily="34" charset="-120"/>
                        </a:rPr>
                        <a:t>Command (after flight)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r" indent="0" marL="0">
                        <a:buNone/>
                      </a:pPr>
                      <a:r>
                        <a:rPr lang="en-US" sz="1100" b="1" dirty="0">
                          <a:solidFill>
                            <a:srgbClr val="8E9BAA"/>
                          </a:solidFill>
                          <a:latin typeface="Consolas" pitchFamily="34" charset="0"/>
                          <a:ea typeface="Consolas" pitchFamily="34" charset="-122"/>
                          <a:cs typeface="Consolas" pitchFamily="34" charset="-120"/>
                        </a:rPr>
                        <a:t>Official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r" indent="0" marL="0">
                        <a:buNone/>
                      </a:pPr>
                      <a:r>
                        <a:rPr lang="en-US" sz="1100" b="1" dirty="0">
                          <a:solidFill>
                            <a:srgbClr val="8E9BAA"/>
                          </a:solidFill>
                          <a:latin typeface="Consolas" pitchFamily="34" charset="0"/>
                          <a:ea typeface="Consolas" pitchFamily="34" charset="-122"/>
                          <a:cs typeface="Consolas" pitchFamily="34" charset="-120"/>
                        </a:rPr>
                        <a:t>Practice B</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r" indent="0" marL="0">
                        <a:buNone/>
                      </a:pPr>
                      <a:r>
                        <a:rPr lang="en-US" sz="1100" b="1" dirty="0">
                          <a:solidFill>
                            <a:srgbClr val="8E9BAA"/>
                          </a:solidFill>
                          <a:latin typeface="Consolas" pitchFamily="34" charset="0"/>
                          <a:ea typeface="Consolas" pitchFamily="34" charset="-122"/>
                          <a:cs typeface="Consolas" pitchFamily="34" charset="-120"/>
                        </a:rPr>
                        <a:t>≈ µs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r>
              <a:tr h="347472">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STATS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0.04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47472">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GLITCHES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13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13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0.05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47472">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DEPLOY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0.24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47472">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DESCENT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61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61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0.25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47472">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LAND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391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391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47472">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ALT t (6 queries)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632–1212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657–1212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2.6–5.1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47472">
                <a:tc>
                  <a:txBody>
                    <a:bodyPr/>
                    <a:lstStyle/>
                    <a:p>
                      <a:pPr algn="l" indent="0" marL="0">
                        <a:buNone/>
                      </a:pPr>
                      <a:r>
                        <a:rPr lang="en-US" sz="1100" dirty="0">
                          <a:solidFill>
                            <a:srgbClr val="E8ECEF"/>
                          </a:solidFill>
                          <a:latin typeface="Calibri" pitchFamily="34" charset="0"/>
                          <a:ea typeface="Calibri" pitchFamily="34" charset="-122"/>
                          <a:cs typeface="Calibri" pitchFamily="34" charset="-120"/>
                        </a:rPr>
                        <a:t>APOGEE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2244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2175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100" dirty="0">
                          <a:solidFill>
                            <a:srgbClr val="E8ECEF"/>
                          </a:solidFill>
                          <a:latin typeface="Consolas" pitchFamily="34" charset="0"/>
                          <a:ea typeface="Consolas" pitchFamily="34" charset="-122"/>
                          <a:cs typeface="Consolas" pitchFamily="34" charset="-120"/>
                        </a:rPr>
                        <a:t>9.4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47472">
                <a:tc>
                  <a:txBody>
                    <a:bodyPr/>
                    <a:lstStyle/>
                    <a:p>
                      <a:pPr algn="l" indent="0" marL="0">
                        <a:buNone/>
                      </a:pPr>
                      <a:r>
                        <a:rPr lang="en-US" sz="1100" dirty="0">
                          <a:solidFill>
                            <a:srgbClr val="FFB23F"/>
                          </a:solidFill>
                          <a:latin typeface="Calibri" pitchFamily="34" charset="0"/>
                          <a:ea typeface="Calibri" pitchFamily="34" charset="-122"/>
                          <a:cs typeface="Calibri" pitchFamily="34" charset="-120"/>
                        </a:rPr>
                        <a:t>G (first call)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FFB23F"/>
                          </a:solidFill>
                          <a:latin typeface="Consolas" pitchFamily="34" charset="0"/>
                          <a:ea typeface="Consolas" pitchFamily="34" charset="-122"/>
                          <a:cs typeface="Consolas" pitchFamily="34" charset="-120"/>
                        </a:rPr>
                        <a:t>104337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FFB23F"/>
                          </a:solidFill>
                          <a:latin typeface="Consolas" pitchFamily="34" charset="0"/>
                          <a:ea typeface="Consolas" pitchFamily="34" charset="-122"/>
                          <a:cs typeface="Consolas" pitchFamily="34" charset="-120"/>
                        </a:rPr>
                        <a:t>104186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100" dirty="0">
                          <a:solidFill>
                            <a:srgbClr val="FFB23F"/>
                          </a:solidFill>
                          <a:latin typeface="Consolas" pitchFamily="34" charset="0"/>
                          <a:ea typeface="Consolas" pitchFamily="34" charset="-122"/>
                          <a:cs typeface="Consolas" pitchFamily="34" charset="-120"/>
                        </a:rPr>
                        <a:t>434.7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bl>
          </a:graphicData>
        </a:graphic>
      </p:graphicFrame>
      <p:sp>
        <p:nvSpPr>
          <p:cNvPr id="19" name="Text 15"/>
          <p:cNvSpPr txBox="1"/>
          <p:nvPr/>
        </p:nvSpPr>
        <p:spPr>
          <a:xfrm>
            <a:off x="6035040" y="5943600"/>
            <a:ext cx="5577840" cy="274320"/>
          </a:xfrm>
          <a:prstGeom prst="rect">
            <a:avLst/>
          </a:prstGeom>
          <a:noFill/>
          <a:ln/>
        </p:spPr>
        <p:txBody>
          <a:bodyPr wrap="square" lIns="0" tIns="0" rIns="0" bIns="0" rtlCol="0" anchor="t"/>
          <a:lstStyle/>
          <a:p>
            <a:pPr indent="0" marL="0">
              <a:buNone/>
            </a:pPr>
            <a:r>
              <a:rPr lang="en-US" sz="1000" dirty="0">
                <a:solidFill>
                  <a:srgbClr val="6B7888"/>
                </a:solidFill>
                <a:latin typeface="Calibri" pitchFamily="34" charset="0"/>
                <a:ea typeface="Calibri" pitchFamily="34" charset="-122"/>
                <a:cs typeface="Calibri" pitchFamily="34" charset="-120"/>
              </a:rPr>
              <a:t>cycles per command · µs = cycles ÷ 240 (derived) · source: Level 5 serial captures</a:t>
            </a:r>
            <a:endParaRPr lang="en-US" sz="10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10 / FINAL HARDWARE RESULTS</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HARDWARE VERIFIED: MEASURED VS TRUTH</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058400" cy="914400"/>
        </p:xfrm>
        <a:graphic>
          <a:graphicData uri="http://schemas.openxmlformats.org/drawingml/2006/table">
            <a:tbl>
              <a:tblPr/>
              <a:tblGrid>
                <a:gridCol w="2286000"/>
                <a:gridCol w="1097280"/>
                <a:gridCol w="1097280"/>
                <a:gridCol w="868680"/>
                <a:gridCol w="1188720"/>
                <a:gridCol w="1097280"/>
                <a:gridCol w="868680"/>
                <a:gridCol w="1554480"/>
              </a:tblGrid>
              <a:tr h="306324">
                <a:tc>
                  <a:txBody>
                    <a:bodyPr/>
                    <a:lstStyle/>
                    <a:p>
                      <a:pPr algn="l" indent="0" marL="0">
                        <a:buNone/>
                      </a:pPr>
                      <a:r>
                        <a:rPr lang="en-US" sz="1100" b="1" dirty="0">
                          <a:solidFill>
                            <a:srgbClr val="8E9BAA"/>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r" indent="0" marL="0">
                        <a:buNone/>
                      </a:pPr>
                      <a:r>
                        <a:rPr lang="en-US" sz="1100" b="1" dirty="0">
                          <a:solidFill>
                            <a:srgbClr val="8E9BAA"/>
                          </a:solidFill>
                          <a:latin typeface="Consolas" pitchFamily="34" charset="0"/>
                          <a:ea typeface="Consolas" pitchFamily="34" charset="-122"/>
                          <a:cs typeface="Consolas" pitchFamily="34" charset="-120"/>
                        </a:rPr>
                        <a:t>Official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r" indent="0" marL="0">
                        <a:buNone/>
                      </a:pPr>
                      <a:r>
                        <a:rPr lang="en-US" sz="1100" b="1" dirty="0">
                          <a:solidFill>
                            <a:srgbClr val="8E9BAA"/>
                          </a:solidFill>
                          <a:latin typeface="Consolas" pitchFamily="34" charset="0"/>
                          <a:ea typeface="Consolas" pitchFamily="34" charset="-122"/>
                          <a:cs typeface="Consolas" pitchFamily="34" charset="-120"/>
                        </a:rPr>
                        <a:t>truth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r" indent="0" marL="0">
                        <a:buNone/>
                      </a:pPr>
                      <a:r>
                        <a:rPr lang="en-US" sz="1100" b="1" dirty="0">
                          <a:solidFill>
                            <a:srgbClr val="8E9BAA"/>
                          </a:solidFill>
                          <a:latin typeface="Consolas" pitchFamily="34" charset="0"/>
                          <a:ea typeface="Consolas" pitchFamily="34" charset="-122"/>
                          <a:cs typeface="Consolas" pitchFamily="34" charset="-120"/>
                        </a:rPr>
                        <a:t>Δ</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r" indent="0" marL="0">
                        <a:buNone/>
                      </a:pPr>
                      <a:r>
                        <a:rPr lang="en-US" sz="1100" b="1" dirty="0">
                          <a:solidFill>
                            <a:srgbClr val="8E9BAA"/>
                          </a:solidFill>
                          <a:latin typeface="Consolas" pitchFamily="34" charset="0"/>
                          <a:ea typeface="Consolas" pitchFamily="34" charset="-122"/>
                          <a:cs typeface="Consolas" pitchFamily="34" charset="-120"/>
                        </a:rPr>
                        <a:t>Practice B</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r" indent="0" marL="0">
                        <a:buNone/>
                      </a:pPr>
                      <a:r>
                        <a:rPr lang="en-US" sz="1100" b="1" dirty="0">
                          <a:solidFill>
                            <a:srgbClr val="8E9BAA"/>
                          </a:solidFill>
                          <a:latin typeface="Consolas" pitchFamily="34" charset="0"/>
                          <a:ea typeface="Consolas" pitchFamily="34" charset="-122"/>
                          <a:cs typeface="Consolas" pitchFamily="34" charset="-120"/>
                        </a:rPr>
                        <a:t>truth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r" indent="0" marL="0">
                        <a:buNone/>
                      </a:pPr>
                      <a:r>
                        <a:rPr lang="en-US" sz="1100" b="1" dirty="0">
                          <a:solidFill>
                            <a:srgbClr val="8E9BAA"/>
                          </a:solidFill>
                          <a:latin typeface="Consolas" pitchFamily="34" charset="0"/>
                          <a:ea typeface="Consolas" pitchFamily="34" charset="-122"/>
                          <a:cs typeface="Consolas" pitchFamily="34" charset="-120"/>
                        </a:rPr>
                        <a:t>Δ</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r" indent="0" marL="0">
                        <a:buNone/>
                      </a:pPr>
                      <a:r>
                        <a:rPr lang="en-US" sz="1100" b="1" dirty="0">
                          <a:solidFill>
                            <a:srgbClr val="8E9BAA"/>
                          </a:solidFill>
                          <a:latin typeface="Consolas" pitchFamily="34" charset="0"/>
                          <a:ea typeface="Consolas" pitchFamily="34" charset="-122"/>
                          <a:cs typeface="Consolas" pitchFamily="34" charset="-120"/>
                        </a:rPr>
                        <a:t>Limit (judging)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r>
              <a:tr h="306324">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Gravity (m/s²)</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9.810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9.810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3.711</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3.710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+0.001</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±0.02</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06324">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Apogee time (s)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8.002</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8.002</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11.321</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11.321</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±0.02</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06324">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Apogee altitude (m)</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626.08</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626.08</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1737.75</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1737.74</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+0.01</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±0.25</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06324">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Deployment time (s)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12.000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12.000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23.999</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24.000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−0.001</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±0.02</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06324">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Deployment altitude (m)</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547.68</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547.68</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1439.54</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1439.52</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+0.02</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±0.25</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06324">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Descent velocity (m/s)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−4.500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−4.500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−8.500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−8.500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±0.01</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06324">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Landing time (s)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133.706</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133.707</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−0.001</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193.351</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193.355</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−0.004</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±0.50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06324">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ALT 0 s (m)</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311.99</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312.00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−0.01</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1499.95</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1500.00</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−0.05</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±0.25</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06324">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Glitches detected</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739</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739</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exact</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727</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727</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exact</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r" indent="0" marL="0">
                        <a:buNone/>
                      </a:pPr>
                      <a:r>
                        <a:rPr lang="en-US" sz="1200" dirty="0">
                          <a:solidFill>
                            <a:srgbClr val="E8ECEF"/>
                          </a:solidFill>
                          <a:latin typeface="Consolas" pitchFamily="34" charset="0"/>
                          <a:ea typeface="Consolas" pitchFamily="34" charset="-122"/>
                          <a:cs typeface="Consolas" pitchFamily="34" charset="-120"/>
                        </a:rPr>
                        <a:t>exact</a:t>
                      </a:r>
                      <a:endParaRPr lang="en-US" sz="12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bl>
          </a:graphicData>
        </a:graphic>
      </p:graphicFrame>
      <p:sp>
        <p:nvSpPr>
          <p:cNvPr id="6" name="Text 2"/>
          <p:cNvSpPr txBox="1"/>
          <p:nvPr/>
        </p:nvSpPr>
        <p:spPr>
          <a:xfrm>
            <a:off x="548640" y="4526280"/>
            <a:ext cx="11064240" cy="274320"/>
          </a:xfrm>
          <a:prstGeom prst="rect">
            <a:avLst/>
          </a:prstGeom>
          <a:noFill/>
          <a:ln/>
        </p:spPr>
        <p:txBody>
          <a:bodyPr wrap="square" lIns="0" tIns="0" rIns="0" bIns="0" rtlCol="0" anchor="t"/>
          <a:lstStyle/>
          <a:p>
            <a:pPr indent="0" marL="0">
              <a:buNone/>
            </a:pPr>
            <a:r>
              <a:rPr lang="en-US" sz="1200" dirty="0">
                <a:solidFill>
                  <a:srgbClr val="E8ECEF"/>
                </a:solidFill>
                <a:latin typeface="Consolas" pitchFamily="34" charset="0"/>
                <a:ea typeface="Consolas" pitchFamily="34" charset="-122"/>
                <a:cs typeface="Consolas" pitchFamily="34" charset="-120"/>
              </a:rPr>
              <a:t>ALT 8/12/20/50/100 s  Official: 626.08 · 547.68 · 511.68 · 376.68 · 151.68 m</a:t>
            </a:r>
            <a:endParaRPr lang="en-US" sz="1200" dirty="0"/>
          </a:p>
        </p:txBody>
      </p:sp>
      <p:sp>
        <p:nvSpPr>
          <p:cNvPr id="7" name="Text 3"/>
          <p:cNvSpPr txBox="1"/>
          <p:nvPr/>
        </p:nvSpPr>
        <p:spPr>
          <a:xfrm>
            <a:off x="548640" y="4828032"/>
            <a:ext cx="11064240" cy="274320"/>
          </a:xfrm>
          <a:prstGeom prst="rect">
            <a:avLst/>
          </a:prstGeom>
          <a:noFill/>
          <a:ln/>
        </p:spPr>
        <p:txBody>
          <a:bodyPr wrap="square" lIns="0" tIns="0" rIns="0" bIns="0" rtlCol="0" anchor="t"/>
          <a:lstStyle/>
          <a:p>
            <a:pPr indent="0" marL="0">
              <a:buNone/>
            </a:pPr>
            <a:r>
              <a:rPr lang="en-US" sz="1200" dirty="0">
                <a:solidFill>
                  <a:srgbClr val="E8ECEF"/>
                </a:solidFill>
                <a:latin typeface="Consolas" pitchFamily="34" charset="0"/>
                <a:ea typeface="Consolas" pitchFamily="34" charset="-122"/>
                <a:cs typeface="Consolas" pitchFamily="34" charset="-120"/>
              </a:rPr>
              <a:t>ALT 8/12/20/50/100 s  Practice B: 1717.29 · 1736.90 · 1598.00 · 1218.53 · 793.51 m</a:t>
            </a:r>
            <a:endParaRPr lang="en-US" sz="1200" dirty="0"/>
          </a:p>
        </p:txBody>
      </p:sp>
      <p:sp>
        <p:nvSpPr>
          <p:cNvPr id="8" name="Shape 4"/>
          <p:cNvSpPr/>
          <p:nvPr/>
        </p:nvSpPr>
        <p:spPr>
          <a:xfrm>
            <a:off x="548640" y="5212080"/>
            <a:ext cx="11064240" cy="868680"/>
          </a:xfrm>
          <a:prstGeom prst="rect">
            <a:avLst/>
          </a:prstGeom>
          <a:solidFill>
            <a:srgbClr val="121923"/>
          </a:solidFill>
          <a:ln w="9525">
            <a:solidFill>
              <a:srgbClr val="263241"/>
            </a:solidFill>
            <a:prstDash val="solid"/>
          </a:ln>
        </p:spPr>
      </p:sp>
      <p:sp>
        <p:nvSpPr>
          <p:cNvPr id="9" name="Text 5"/>
          <p:cNvSpPr txBox="1"/>
          <p:nvPr/>
        </p:nvSpPr>
        <p:spPr>
          <a:xfrm>
            <a:off x="731520" y="5257800"/>
            <a:ext cx="10698480" cy="777240"/>
          </a:xfrm>
          <a:prstGeom prst="rect">
            <a:avLst/>
          </a:prstGeom>
          <a:noFill/>
          <a:ln/>
        </p:spPr>
        <p:txBody>
          <a:bodyPr wrap="square" lIns="0" tIns="0" rIns="0" bIns="0" rtlCol="0" anchor="ctr"/>
          <a:lstStyle/>
          <a:p>
            <a:pPr indent="0" marL="0">
              <a:buNone/>
            </a:pPr>
            <a:r>
              <a:rPr lang="en-US" sz="1100" b="1" dirty="0">
                <a:solidFill>
                  <a:srgbClr val="3FD0C0"/>
                </a:solidFill>
                <a:latin typeface="Calibri" pitchFamily="34" charset="0"/>
                <a:ea typeface="Calibri" pitchFamily="34" charset="-122"/>
                <a:cs typeface="Calibri" pitchFamily="34" charset="-120"/>
              </a:rPr>
              <a:t>HOW WE VERIFIED   </a:t>
            </a:r>
            <a:pPr indent="0" marL="0">
              <a:buNone/>
            </a:pPr>
            <a:r>
              <a:rPr lang="en-US" sz="1100" dirty="0">
                <a:solidFill>
                  <a:srgbClr val="E8ECEF"/>
                </a:solidFill>
                <a:latin typeface="Calibri" pitchFamily="34" charset="0"/>
                <a:ea typeface="Calibri" pitchFamily="34" charset="-122"/>
                <a:cs typeface="Calibri" pitchFamily="34" charset="-120"/>
              </a:rPr>
              <a:t>Flash sketch → tracker feeds 100,000 readings → send STATS, G, APOGEE, DEPLOY, DESCENT, LAND, GLITCHES, ALT t over serial → compare with the tracker model → read worst cycles from STATS.  Glitch-free run (Level 3, TRACKER_GLITCHES 0): Official 9.811 m/s², 11.999 s, 547.69 m, 133.705 s; Practice B 3.711, 23.999 s, 1439.54 m, 193.351 s.  Glitch-enabled runs (Levels 4–5, TRACKER_GLITCHES 1) are the table above. Tracker seeds: Official 20261001, Practice B 4242.</a:t>
            </a:r>
            <a:endParaRPr lang="en-US" sz="1400" dirty="0"/>
          </a:p>
        </p:txBody>
      </p:sp>
      <p:sp>
        <p:nvSpPr>
          <p:cNvPr id="10" name="Text 6"/>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000" dirty="0">
                <a:solidFill>
                  <a:srgbClr val="8E9BAA"/>
                </a:solidFill>
                <a:latin typeface="Calibri" pitchFamily="34" charset="0"/>
                <a:ea typeface="Calibri" pitchFamily="34" charset="-122"/>
                <a:cs typeface="Calibri" pitchFamily="34" charset="-120"/>
              </a:rPr>
              <a:t>Truth = tracker secrets (report Q1; same as the sketch tracker model; the firmware never reads them). Measured = Level 5 captures. Limits = judging tolerances (report Table 1). All within limits.</a:t>
            </a:r>
            <a:endParaRPr lang="en-US" sz="10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11 / WHAT DIDN'T WORK, WHAT WE LEARNED</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WHAT WE CHANGED, WHAT'S LIMITED</a:t>
            </a:r>
            <a:endParaRPr lang="en-US" sz="3400" dirty="0"/>
          </a:p>
        </p:txBody>
      </p:sp>
      <p:sp>
        <p:nvSpPr>
          <p:cNvPr id="5" name="Text 2"/>
          <p:cNvSpPr txBox="1"/>
          <p:nvPr/>
        </p:nvSpPr>
        <p:spPr>
          <a:xfrm>
            <a:off x="548640" y="1508760"/>
            <a:ext cx="3520440" cy="274320"/>
          </a:xfrm>
          <a:prstGeom prst="rect">
            <a:avLst/>
          </a:prstGeom>
          <a:noFill/>
          <a:ln/>
        </p:spPr>
        <p:txBody>
          <a:bodyPr wrap="square" lIns="0" tIns="0" rIns="0" bIns="0" rtlCol="0" anchor="t"/>
          <a:lstStyle/>
          <a:p>
            <a:pPr indent="0" marL="0">
              <a:buNone/>
            </a:pPr>
            <a:r>
              <a:rPr lang="en-US" sz="1200" b="1" dirty="0">
                <a:solidFill>
                  <a:srgbClr val="FFB23F"/>
                </a:solidFill>
                <a:latin typeface="Consolas" pitchFamily="34" charset="0"/>
                <a:ea typeface="Consolas" pitchFamily="34" charset="-122"/>
                <a:cs typeface="Consolas" pitchFamily="34" charset="-120"/>
              </a:rPr>
              <a:t>WHAT FAILED → WHAT WE CHANGED</a:t>
            </a:r>
            <a:endParaRPr lang="en-US" sz="1200" dirty="0"/>
          </a:p>
        </p:txBody>
      </p:sp>
      <p:sp>
        <p:nvSpPr>
          <p:cNvPr id="6" name="Shape 3"/>
          <p:cNvSpPr/>
          <p:nvPr/>
        </p:nvSpPr>
        <p:spPr>
          <a:xfrm>
            <a:off x="548640" y="1828800"/>
            <a:ext cx="3520440" cy="0"/>
          </a:xfrm>
          <a:prstGeom prst="line">
            <a:avLst/>
          </a:prstGeom>
          <a:noFill/>
          <a:ln w="9525">
            <a:solidFill>
              <a:srgbClr val="FFB23F"/>
            </a:solidFill>
            <a:prstDash val="solid"/>
          </a:ln>
        </p:spPr>
      </p:sp>
      <p:sp>
        <p:nvSpPr>
          <p:cNvPr id="7" name="Text 4"/>
          <p:cNvSpPr txBox="1"/>
          <p:nvPr/>
        </p:nvSpPr>
        <p:spPr>
          <a:xfrm>
            <a:off x="548640" y="2011680"/>
            <a:ext cx="3520440" cy="3840480"/>
          </a:xfrm>
          <a:prstGeom prst="rect">
            <a:avLst/>
          </a:prstGeom>
          <a:noFill/>
          <a:ln/>
        </p:spPr>
        <p:txBody>
          <a:bodyPr wrap="square" lIns="0" tIns="0" rIns="0" bIns="0" rtlCol="0" anchor="t"/>
          <a:lstStyle/>
          <a:p>
            <a:pPr marL="177800" indent="-177800">
              <a:spcAft>
                <a:spcPts val="1400"/>
              </a:spcAft>
              <a:buSzPct val="100000"/>
              <a:buChar char="•"/>
            </a:pPr>
            <a:r>
              <a:rPr lang="en-US" sz="1700" dirty="0">
                <a:solidFill>
                  <a:srgbClr val="E8ECEF"/>
                </a:solidFill>
                <a:latin typeface="Calibri" pitchFamily="34" charset="0"/>
                <a:ea typeface="Calibri" pitchFamily="34" charset="-122"/>
                <a:cs typeface="Calibri" pitchFamily="34" charset="-120"/>
              </a:rPr>
              <a:t>Float fit: g came out ≈ −45.2 or +112 m/s² (Σq⁴ ≈ 10¹⁹) → int64 sums + double → 9.814</a:t>
            </a:r>
            <a:endParaRPr lang="en-US" sz="1700" dirty="0"/>
          </a:p>
          <a:p>
            <a:pPr marL="177800" indent="-177800">
              <a:spcAft>
                <a:spcPts val="1400"/>
              </a:spcAft>
              <a:buSzPct val="100000"/>
              <a:buChar char="•"/>
            </a:pPr>
            <a:r>
              <a:rPr lang="en-US" sz="1700" dirty="0">
                <a:solidFill>
                  <a:srgbClr val="E8ECEF"/>
                </a:solidFill>
                <a:latin typeface="Calibri" pitchFamily="34" charset="0"/>
                <a:ea typeface="Calibri" pitchFamily="34" charset="-122"/>
                <a:cs typeface="Calibri" pitchFamily="34" charset="-120"/>
              </a:rPr>
              <a:t>Ring of 2048 floats = 8192 B, struct 8640 B → 1024 × uint16 at 5 cm = 2048 B</a:t>
            </a:r>
            <a:endParaRPr lang="en-US" sz="1700" dirty="0"/>
          </a:p>
          <a:p>
            <a:pPr marL="177800" indent="-177800">
              <a:spcAft>
                <a:spcPts val="1400"/>
              </a:spcAft>
              <a:buSzPct val="100000"/>
              <a:buChar char="•"/>
            </a:pPr>
            <a:r>
              <a:rPr lang="en-US" sz="1700" dirty="0">
                <a:solidFill>
                  <a:srgbClr val="E8ECEF"/>
                </a:solidFill>
                <a:latin typeface="Calibri" pitchFamily="34" charset="0"/>
                <a:ea typeface="Calibri" pitchFamily="34" charset="-122"/>
                <a:cs typeface="Calibri" pitchFamily="34" charset="-120"/>
              </a:rPr>
              <a:t>Fits across the opening: descent ≈ −5.1 m/s → 1024-reading exclusion window → −4.500</a:t>
            </a:r>
            <a:endParaRPr lang="en-US" sz="1700" dirty="0"/>
          </a:p>
          <a:p>
            <a:pPr marL="177800" indent="-177800">
              <a:spcAft>
                <a:spcPts val="1400"/>
              </a:spcAft>
              <a:buSzPct val="100000"/>
              <a:buChar char="•"/>
            </a:pPr>
            <a:r>
              <a:rPr lang="en-US" sz="1700" dirty="0">
                <a:solidFill>
                  <a:srgbClr val="E8ECEF"/>
                </a:solidFill>
                <a:latin typeface="Calibri" pitchFamily="34" charset="0"/>
                <a:ea typeface="Calibri" pitchFamily="34" charset="-122"/>
                <a:cs typeface="Calibri" pitchFamily="34" charset="-120"/>
              </a:rPr>
              <a:t>Level 3 G = 1.25 M / 2.1 M cycles → closed-form sums + cached fit ≈ 104 k</a:t>
            </a:r>
            <a:endParaRPr lang="en-US" sz="1700" dirty="0"/>
          </a:p>
        </p:txBody>
      </p:sp>
      <p:sp>
        <p:nvSpPr>
          <p:cNvPr id="8" name="Text 5"/>
          <p:cNvSpPr txBox="1"/>
          <p:nvPr/>
        </p:nvSpPr>
        <p:spPr>
          <a:xfrm>
            <a:off x="4320540" y="1508760"/>
            <a:ext cx="3520440" cy="274320"/>
          </a:xfrm>
          <a:prstGeom prst="rect">
            <a:avLst/>
          </a:prstGeom>
          <a:noFill/>
          <a:ln/>
        </p:spPr>
        <p:txBody>
          <a:bodyPr wrap="square" lIns="0" tIns="0" rIns="0" bIns="0" rtlCol="0" anchor="t"/>
          <a:lstStyle/>
          <a:p>
            <a:pPr indent="0" marL="0">
              <a:buNone/>
            </a:pPr>
            <a:r>
              <a:rPr lang="en-US" sz="1200" b="1" dirty="0">
                <a:solidFill>
                  <a:srgbClr val="8E9BAA"/>
                </a:solidFill>
                <a:latin typeface="Consolas" pitchFamily="34" charset="0"/>
                <a:ea typeface="Consolas" pitchFamily="34" charset="-122"/>
                <a:cs typeface="Consolas" pitchFamily="34" charset="-120"/>
              </a:rPr>
              <a:t>KNOWN LIMITATIONS</a:t>
            </a:r>
            <a:endParaRPr lang="en-US" sz="1200" dirty="0"/>
          </a:p>
        </p:txBody>
      </p:sp>
      <p:sp>
        <p:nvSpPr>
          <p:cNvPr id="9" name="Shape 6"/>
          <p:cNvSpPr/>
          <p:nvPr/>
        </p:nvSpPr>
        <p:spPr>
          <a:xfrm>
            <a:off x="4320540" y="1828800"/>
            <a:ext cx="3520440" cy="0"/>
          </a:xfrm>
          <a:prstGeom prst="line">
            <a:avLst/>
          </a:prstGeom>
          <a:noFill/>
          <a:ln w="9525">
            <a:solidFill>
              <a:srgbClr val="8E9BAA"/>
            </a:solidFill>
            <a:prstDash val="solid"/>
          </a:ln>
        </p:spPr>
      </p:sp>
      <p:sp>
        <p:nvSpPr>
          <p:cNvPr id="10" name="Text 7"/>
          <p:cNvSpPr txBox="1"/>
          <p:nvPr/>
        </p:nvSpPr>
        <p:spPr>
          <a:xfrm>
            <a:off x="4320540" y="2011680"/>
            <a:ext cx="3520440" cy="3840480"/>
          </a:xfrm>
          <a:prstGeom prst="rect">
            <a:avLst/>
          </a:prstGeom>
          <a:noFill/>
          <a:ln/>
        </p:spPr>
        <p:txBody>
          <a:bodyPr wrap="square" lIns="0" tIns="0" rIns="0" bIns="0" rtlCol="0" anchor="t"/>
          <a:lstStyle/>
          <a:p>
            <a:pPr marL="177800" indent="-177800">
              <a:spcAft>
                <a:spcPts val="1400"/>
              </a:spcAft>
              <a:buSzPct val="100000"/>
              <a:buChar char="•"/>
            </a:pPr>
            <a:r>
              <a:rPr lang="en-US" sz="1700" dirty="0">
                <a:solidFill>
                  <a:srgbClr val="E8ECEF"/>
                </a:solidFill>
                <a:latin typeface="Calibri" pitchFamily="34" charset="0"/>
                <a:ea typeface="Calibri" pitchFamily="34" charset="-122"/>
                <a:cs typeface="Calibri" pitchFamily="34" charset="-120"/>
              </a:rPr>
              <a:t>Altitude clamps at 3000 m (uint16, 5 cm units)</a:t>
            </a:r>
            <a:endParaRPr lang="en-US" sz="1700" dirty="0"/>
          </a:p>
          <a:p>
            <a:pPr marL="177800" indent="-177800">
              <a:spcAft>
                <a:spcPts val="1400"/>
              </a:spcAft>
              <a:buSzPct val="100000"/>
              <a:buChar char="•"/>
            </a:pPr>
            <a:r>
              <a:rPr lang="en-US" sz="1700" dirty="0">
                <a:solidFill>
                  <a:srgbClr val="E8ECEF"/>
                </a:solidFill>
                <a:latin typeface="Calibri" pitchFamily="34" charset="0"/>
                <a:ea typeface="Calibri" pitchFamily="34" charset="-122"/>
                <a:cs typeface="Calibri" pitchFamily="34" charset="-120"/>
              </a:rPr>
              <a:t>Glitch check starts at reading 1000</a:t>
            </a:r>
            <a:endParaRPr lang="en-US" sz="1700" dirty="0"/>
          </a:p>
          <a:p>
            <a:pPr marL="177800" indent="-177800">
              <a:spcAft>
                <a:spcPts val="1400"/>
              </a:spcAft>
              <a:buSzPct val="100000"/>
              <a:buChar char="•"/>
            </a:pPr>
            <a:r>
              <a:rPr lang="en-US" sz="1700" dirty="0">
                <a:solidFill>
                  <a:srgbClr val="E8ECEF"/>
                </a:solidFill>
                <a:latin typeface="Calibri" pitchFamily="34" charset="0"/>
                <a:ea typeface="Calibri" pitchFamily="34" charset="-122"/>
                <a:cs typeface="Calibri" pitchFamily="34" charset="-120"/>
              </a:rPr>
              <a:t>First G ≈ 104 k cycles (after the flight)</a:t>
            </a:r>
            <a:endParaRPr lang="en-US" sz="1700" dirty="0"/>
          </a:p>
          <a:p>
            <a:pPr marL="177800" indent="-177800">
              <a:spcAft>
                <a:spcPts val="1400"/>
              </a:spcAft>
              <a:buSzPct val="100000"/>
              <a:buChar char="•"/>
            </a:pPr>
            <a:r>
              <a:rPr lang="en-US" sz="1700" dirty="0">
                <a:solidFill>
                  <a:srgbClr val="E8ECEF"/>
                </a:solidFill>
                <a:latin typeface="Calibri" pitchFamily="34" charset="0"/>
                <a:ea typeface="Calibri" pitchFamily="34" charset="-122"/>
                <a:cs typeface="Calibri" pitchFamily="34" charset="-120"/>
              </a:rPr>
              <a:t>Tested on Official + Practice B only; no unseen-tracker evidence</a:t>
            </a:r>
            <a:endParaRPr lang="en-US" sz="1700" dirty="0"/>
          </a:p>
        </p:txBody>
      </p:sp>
      <p:sp>
        <p:nvSpPr>
          <p:cNvPr id="11" name="Text 8"/>
          <p:cNvSpPr txBox="1"/>
          <p:nvPr/>
        </p:nvSpPr>
        <p:spPr>
          <a:xfrm>
            <a:off x="8092440" y="1508760"/>
            <a:ext cx="3520440" cy="274320"/>
          </a:xfrm>
          <a:prstGeom prst="rect">
            <a:avLst/>
          </a:prstGeom>
          <a:noFill/>
          <a:ln/>
        </p:spPr>
        <p:txBody>
          <a:bodyPr wrap="square" lIns="0" tIns="0" rIns="0" bIns="0" rtlCol="0" anchor="t"/>
          <a:lstStyle/>
          <a:p>
            <a:pPr indent="0" marL="0">
              <a:buNone/>
            </a:pPr>
            <a:r>
              <a:rPr lang="en-US" sz="1200" b="1" dirty="0">
                <a:solidFill>
                  <a:srgbClr val="3FD0C0"/>
                </a:solidFill>
                <a:latin typeface="Consolas" pitchFamily="34" charset="0"/>
                <a:ea typeface="Consolas" pitchFamily="34" charset="-122"/>
                <a:cs typeface="Consolas" pitchFamily="34" charset="-120"/>
              </a:rPr>
              <a:t>WHAT WE LEARNED</a:t>
            </a:r>
            <a:endParaRPr lang="en-US" sz="1200" dirty="0"/>
          </a:p>
        </p:txBody>
      </p:sp>
      <p:sp>
        <p:nvSpPr>
          <p:cNvPr id="12" name="Shape 9"/>
          <p:cNvSpPr/>
          <p:nvPr/>
        </p:nvSpPr>
        <p:spPr>
          <a:xfrm>
            <a:off x="8092440" y="1828800"/>
            <a:ext cx="3520440" cy="0"/>
          </a:xfrm>
          <a:prstGeom prst="line">
            <a:avLst/>
          </a:prstGeom>
          <a:noFill/>
          <a:ln w="9525">
            <a:solidFill>
              <a:srgbClr val="3FD0C0"/>
            </a:solidFill>
            <a:prstDash val="solid"/>
          </a:ln>
        </p:spPr>
      </p:sp>
      <p:sp>
        <p:nvSpPr>
          <p:cNvPr id="13" name="Text 10"/>
          <p:cNvSpPr txBox="1"/>
          <p:nvPr/>
        </p:nvSpPr>
        <p:spPr>
          <a:xfrm>
            <a:off x="8092440" y="2011680"/>
            <a:ext cx="3520440" cy="3840480"/>
          </a:xfrm>
          <a:prstGeom prst="rect">
            <a:avLst/>
          </a:prstGeom>
          <a:noFill/>
          <a:ln/>
        </p:spPr>
        <p:txBody>
          <a:bodyPr wrap="square" lIns="0" tIns="0" rIns="0" bIns="0" rtlCol="0" anchor="t"/>
          <a:lstStyle/>
          <a:p>
            <a:pPr marL="177800" indent="-177800">
              <a:spcAft>
                <a:spcPts val="1400"/>
              </a:spcAft>
              <a:buSzPct val="100000"/>
              <a:buChar char="•"/>
            </a:pPr>
            <a:r>
              <a:rPr lang="en-US" sz="1700" dirty="0">
                <a:solidFill>
                  <a:srgbClr val="E8ECEF"/>
                </a:solidFill>
                <a:latin typeface="Calibri" pitchFamily="34" charset="0"/>
                <a:ea typeface="Calibri" pitchFamily="34" charset="-122"/>
                <a:cs typeface="Calibri" pitchFamily="34" charset="-120"/>
              </a:rPr>
              <a:t>Memory: 1024 floats = the whole 4096 B; 5 cm uint16 halves it</a:t>
            </a:r>
            <a:endParaRPr lang="en-US" sz="1700" dirty="0"/>
          </a:p>
          <a:p>
            <a:pPr marL="177800" indent="-177800">
              <a:spcAft>
                <a:spcPts val="1400"/>
              </a:spcAft>
              <a:buSzPct val="100000"/>
              <a:buChar char="•"/>
            </a:pPr>
            <a:r>
              <a:rPr lang="en-US" sz="1700" dirty="0">
                <a:solidFill>
                  <a:srgbClr val="E8ECEF"/>
                </a:solidFill>
                <a:latin typeface="Calibri" pitchFamily="34" charset="0"/>
                <a:ea typeface="Calibri" pitchFamily="34" charset="-122"/>
                <a:cs typeface="Calibri" pitchFamily="34" charset="-120"/>
              </a:rPr>
              <a:t>Representation: centred time + int64 sums prevent overflow</a:t>
            </a:r>
            <a:endParaRPr lang="en-US" sz="1700" dirty="0"/>
          </a:p>
          <a:p>
            <a:pPr marL="177800" indent="-177800">
              <a:spcAft>
                <a:spcPts val="1400"/>
              </a:spcAft>
              <a:buSzPct val="100000"/>
              <a:buChar char="•"/>
            </a:pPr>
            <a:r>
              <a:rPr lang="en-US" sz="1700" dirty="0">
                <a:solidFill>
                  <a:srgbClr val="E8ECEF"/>
                </a:solidFill>
                <a:latin typeface="Calibri" pitchFamily="34" charset="0"/>
                <a:ea typeface="Calibri" pitchFamily="34" charset="-122"/>
                <a:cs typeface="Calibri" pitchFamily="34" charset="-120"/>
              </a:rPr>
              <a:t>Computation: closed-form sums and cached coefficients cut G ≈ 12× (Official)</a:t>
            </a:r>
            <a:endParaRPr lang="en-US" sz="1700" dirty="0"/>
          </a:p>
          <a:p>
            <a:pPr marL="177800" indent="-177800">
              <a:spcAft>
                <a:spcPts val="1400"/>
              </a:spcAft>
              <a:buSzPct val="100000"/>
              <a:buChar char="•"/>
            </a:pPr>
            <a:r>
              <a:rPr lang="en-US" sz="1700" dirty="0">
                <a:solidFill>
                  <a:srgbClr val="E8ECEF"/>
                </a:solidFill>
                <a:latin typeface="Calibri" pitchFamily="34" charset="0"/>
                <a:ea typeface="Calibri" pitchFamily="34" charset="-122"/>
                <a:cs typeface="Calibri" pitchFamily="34" charset="-120"/>
              </a:rPr>
              <a:t>Measure cycles; don't guess</a:t>
            </a:r>
            <a:endParaRPr lang="en-US" sz="1700" dirty="0"/>
          </a:p>
        </p:txBody>
      </p:sp>
      <p:sp>
        <p:nvSpPr>
          <p:cNvPr id="14" name="Text 11"/>
          <p:cNvSpPr txBox="1"/>
          <p:nvPr/>
        </p:nvSpPr>
        <p:spPr>
          <a:xfrm>
            <a:off x="548640" y="5989320"/>
            <a:ext cx="10972800" cy="274320"/>
          </a:xfrm>
          <a:prstGeom prst="rect">
            <a:avLst/>
          </a:prstGeom>
          <a:noFill/>
          <a:ln/>
        </p:spPr>
        <p:txBody>
          <a:bodyPr wrap="square" lIns="0" tIns="0" rIns="0" bIns="0" rtlCol="0" anchor="t"/>
          <a:lstStyle/>
          <a:p>
            <a:pPr indent="0" marL="0">
              <a:buNone/>
            </a:pPr>
            <a:r>
              <a:rPr lang="en-US" sz="1000" dirty="0">
                <a:solidFill>
                  <a:srgbClr val="6B7888"/>
                </a:solidFill>
                <a:latin typeface="Calibri" pitchFamily="34" charset="0"/>
                <a:ea typeface="Calibri" pitchFamily="34" charset="-122"/>
                <a:cs typeface="Calibri" pitchFamily="34" charset="-120"/>
              </a:rPr>
              <a:t>Sources: final report §12 (failures); Level 3 vs Level 5 serial captures; sketch constants (clamp 60000 × 5 cm, glitch gate 1000).</a:t>
            </a:r>
            <a:endParaRPr lang="en-US" sz="10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12 / LLM USE AND VERIFICATION</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WHERE AN LLM HELPED, AND WHERE IT WAS WRONG</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3291840"/>
                <a:gridCol w="3108960"/>
                <a:gridCol w="2651760"/>
              </a:tblGrid>
              <a:tr h="365760">
                <a:tc>
                  <a:txBody>
                    <a:bodyPr/>
                    <a:lstStyle/>
                    <a:p>
                      <a:pPr algn="l" indent="0" marL="0">
                        <a:buNone/>
                      </a:pPr>
                      <a:r>
                        <a:rPr lang="en-US" sz="1100" b="1" dirty="0">
                          <a:solidFill>
                            <a:srgbClr val="8E9BAA"/>
                          </a:solidFill>
                          <a:latin typeface="Calibri" pitchFamily="34" charset="0"/>
                          <a:ea typeface="Calibri" pitchFamily="34" charset="-122"/>
                          <a:cs typeface="Calibri" pitchFamily="34" charset="-120"/>
                        </a:rPr>
                        <a:t>Task</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l" indent="0" marL="0">
                        <a:buNone/>
                      </a:pPr>
                      <a:r>
                        <a:rPr lang="en-US" sz="1100" b="1" dirty="0">
                          <a:solidFill>
                            <a:srgbClr val="8E9BAA"/>
                          </a:solidFill>
                          <a:latin typeface="Calibri" pitchFamily="34" charset="0"/>
                          <a:ea typeface="Calibri" pitchFamily="34" charset="-122"/>
                          <a:cs typeface="Calibri" pitchFamily="34" charset="-120"/>
                        </a:rPr>
                        <a:t>LLM suggestion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l" indent="0" marL="0">
                        <a:buNone/>
                      </a:pPr>
                      <a:r>
                        <a:rPr lang="en-US" sz="1100" b="1" dirty="0">
                          <a:solidFill>
                            <a:srgbClr val="8E9BAA"/>
                          </a:solidFill>
                          <a:latin typeface="Calibri" pitchFamily="34" charset="0"/>
                          <a:ea typeface="Calibri" pitchFamily="34" charset="-122"/>
                          <a:cs typeface="Calibri" pitchFamily="34" charset="-120"/>
                        </a:rPr>
                        <a:t>How we verified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c>
                  <a:txBody>
                    <a:bodyPr/>
                    <a:lstStyle/>
                    <a:p>
                      <a:pPr algn="l" indent="0" marL="0">
                        <a:buNone/>
                      </a:pPr>
                      <a:r>
                        <a:rPr lang="en-US" sz="1100" b="1" dirty="0">
                          <a:solidFill>
                            <a:srgbClr val="8E9BAA"/>
                          </a:solidFill>
                          <a:latin typeface="Calibri" pitchFamily="34" charset="0"/>
                          <a:ea typeface="Calibri" pitchFamily="34" charset="-122"/>
                          <a:cs typeface="Calibri" pitchFamily="34" charset="-120"/>
                        </a:rPr>
                        <a:t>What happened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A0E13"/>
                    </a:solidFill>
                  </a:tcPr>
                </a:tc>
              </a:tr>
              <a:tr h="365760">
                <a:tc>
                  <a:txBody>
                    <a:bodyPr/>
                    <a:lstStyle/>
                    <a:p>
                      <a:pPr algn="l" indent="0" marL="0">
                        <a:buNone/>
                      </a:pPr>
                      <a:r>
                        <a:rPr lang="en-US" sz="1200" dirty="0">
                          <a:solidFill>
                            <a:srgbClr val="3FD0C0"/>
                          </a:solidFill>
                          <a:latin typeface="Calibri" pitchFamily="34" charset="0"/>
                          <a:ea typeface="Calibri" pitchFamily="34" charset="-122"/>
                          <a:cs typeface="Calibri" pitchFamily="34" charset="-120"/>
                        </a:rPr>
                        <a:t>Power-sum identities</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200" dirty="0">
                          <a:solidFill>
                            <a:srgbClr val="3FD0C0"/>
                          </a:solidFill>
                          <a:latin typeface="Calibri" pitchFamily="34" charset="0"/>
                          <a:ea typeface="Calibri" pitchFamily="34" charset="-122"/>
                          <a:cs typeface="Calibri" pitchFamily="34" charset="-120"/>
                        </a:rPr>
                        <a:t>Faulhaber polynomial formulas for Σk², Σk³, Σk⁴</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200" dirty="0">
                          <a:solidFill>
                            <a:srgbClr val="3FD0C0"/>
                          </a:solidFill>
                          <a:latin typeface="Calibri" pitchFamily="34" charset="0"/>
                          <a:ea typeface="Calibri" pitchFamily="34" charset="-122"/>
                          <a:cs typeface="Calibri" pitchFamily="34" charset="-120"/>
                        </a:rPr>
                        <a:t>Gana: on paper + desktop C++</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200" dirty="0">
                          <a:solidFill>
                            <a:srgbClr val="3FD0C0"/>
                          </a:solidFill>
                          <a:latin typeface="Calibri" pitchFamily="34" charset="0"/>
                          <a:ea typeface="Calibri" pitchFamily="34" charset="-122"/>
                          <a:cs typeface="Calibri" pitchFamily="34" charset="-120"/>
                        </a:rPr>
                        <a:t>Used in final code</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r h="365760">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5-value median</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9-comparator branchless sorting network</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Sindhu: 100,000 random vectors; cut to 7</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Final sketch uses a simple 5-value sort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0F151D"/>
                    </a:solidFill>
                  </a:tcPr>
                </a:tc>
              </a:tr>
              <a:tr h="365760">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Report layout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booktabs table formatting</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Compiled and checked by Brunda</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c>
                  <a:txBody>
                    <a:bodyPr/>
                    <a:lstStyle/>
                    <a:p>
                      <a:pPr algn="l" indent="0" marL="0">
                        <a:buNone/>
                      </a:pPr>
                      <a:r>
                        <a:rPr lang="en-US" sz="1200" dirty="0">
                          <a:solidFill>
                            <a:srgbClr val="E8ECEF"/>
                          </a:solidFill>
                          <a:latin typeface="Calibri" pitchFamily="34" charset="0"/>
                          <a:ea typeface="Calibri" pitchFamily="34" charset="-122"/>
                          <a:cs typeface="Calibri" pitchFamily="34" charset="-120"/>
                        </a:rPr>
                        <a:t>Used in the report</a:t>
                      </a:r>
                      <a:endParaRPr lang="en-US" sz="12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263241"/>
                      </a:solidFill>
                      <a:prstDash val="solid"/>
                      <a:round/>
                      <a:headEnd type="none" w="med" len="med"/>
                      <a:tailEnd type="none" w="med" len="med"/>
                    </a:lnB>
                    <a:solidFill>
                      <a:srgbClr val="121923"/>
                    </a:solidFill>
                  </a:tcPr>
                </a:tc>
              </a:tr>
            </a:tbl>
          </a:graphicData>
        </a:graphic>
      </p:graphicFrame>
      <p:sp>
        <p:nvSpPr>
          <p:cNvPr id="6" name="Shape 2"/>
          <p:cNvSpPr/>
          <p:nvPr/>
        </p:nvSpPr>
        <p:spPr>
          <a:xfrm>
            <a:off x="548640" y="3017520"/>
            <a:ext cx="11064240" cy="2971800"/>
          </a:xfrm>
          <a:prstGeom prst="rect">
            <a:avLst/>
          </a:prstGeom>
          <a:solidFill>
            <a:srgbClr val="2E2210"/>
          </a:solidFill>
          <a:ln w="15875">
            <a:solidFill>
              <a:srgbClr val="FFB23F"/>
            </a:solidFill>
            <a:prstDash val="solid"/>
          </a:ln>
        </p:spPr>
      </p:sp>
      <p:sp>
        <p:nvSpPr>
          <p:cNvPr id="7" name="Text 3"/>
          <p:cNvSpPr txBox="1"/>
          <p:nvPr/>
        </p:nvSpPr>
        <p:spPr>
          <a:xfrm>
            <a:off x="777240" y="3108960"/>
            <a:ext cx="10607040" cy="274320"/>
          </a:xfrm>
          <a:prstGeom prst="rect">
            <a:avLst/>
          </a:prstGeom>
          <a:noFill/>
          <a:ln/>
        </p:spPr>
        <p:txBody>
          <a:bodyPr wrap="square" lIns="0" tIns="0" rIns="0" bIns="0" rtlCol="0" anchor="t"/>
          <a:lstStyle/>
          <a:p>
            <a:pPr indent="0" marL="0">
              <a:buNone/>
            </a:pPr>
            <a:r>
              <a:rPr lang="en-US" sz="1200" b="1" dirty="0">
                <a:solidFill>
                  <a:srgbClr val="FFB23F"/>
                </a:solidFill>
                <a:latin typeface="Consolas" pitchFamily="34" charset="0"/>
                <a:ea typeface="Consolas" pitchFamily="34" charset="-122"/>
                <a:cs typeface="Consolas" pitchFamily="34" charset="-120"/>
              </a:rPr>
              <a:t>WRONG ANSWER: ROLLING-VARIANCE DEPLOYMENT DETECTOR</a:t>
            </a:r>
            <a:endParaRPr lang="en-US" sz="1200" dirty="0"/>
          </a:p>
        </p:txBody>
      </p:sp>
      <p:sp>
        <p:nvSpPr>
          <p:cNvPr id="8" name="Text 4"/>
          <p:cNvSpPr txBox="1"/>
          <p:nvPr/>
        </p:nvSpPr>
        <p:spPr>
          <a:xfrm>
            <a:off x="777240" y="3520440"/>
            <a:ext cx="2514600" cy="274320"/>
          </a:xfrm>
          <a:prstGeom prst="rect">
            <a:avLst/>
          </a:prstGeom>
          <a:noFill/>
          <a:ln/>
        </p:spPr>
        <p:txBody>
          <a:bodyPr wrap="square" lIns="0" tIns="0" rIns="0" bIns="0" rtlCol="0" anchor="t"/>
          <a:lstStyle/>
          <a:p>
            <a:pPr indent="0" marL="0">
              <a:buNone/>
            </a:pPr>
            <a:r>
              <a:rPr lang="en-US" sz="1100" b="1" dirty="0">
                <a:solidFill>
                  <a:srgbClr val="8E9BAA"/>
                </a:solidFill>
                <a:latin typeface="Consolas" pitchFamily="34" charset="0"/>
                <a:ea typeface="Consolas" pitchFamily="34" charset="-122"/>
                <a:cs typeface="Consolas" pitchFamily="34" charset="-120"/>
              </a:rPr>
              <a:t>LLM SAID</a:t>
            </a:r>
            <a:endParaRPr lang="en-US" sz="1100" dirty="0"/>
          </a:p>
        </p:txBody>
      </p:sp>
      <p:sp>
        <p:nvSpPr>
          <p:cNvPr id="9" name="Text 5"/>
          <p:cNvSpPr txBox="1"/>
          <p:nvPr/>
        </p:nvSpPr>
        <p:spPr>
          <a:xfrm>
            <a:off x="777240" y="3840480"/>
            <a:ext cx="2514600" cy="1737360"/>
          </a:xfrm>
          <a:prstGeom prst="rect">
            <a:avLst/>
          </a:prstGeom>
          <a:noFill/>
          <a:ln/>
        </p:spPr>
        <p:txBody>
          <a:bodyPr wrap="square" lIns="0" tIns="0" rIns="0" bIns="0" rtlCol="0" anchor="t"/>
          <a:lstStyle/>
          <a:p>
            <a:pPr indent="0" marL="0">
              <a:buNone/>
            </a:pPr>
            <a:r>
              <a:rPr lang="en-US" sz="1400" dirty="0">
                <a:solidFill>
                  <a:srgbClr val="E8ECEF"/>
                </a:solidFill>
                <a:latin typeface="Calibri" pitchFamily="34" charset="0"/>
                <a:ea typeface="Calibri" pitchFamily="34" charset="-122"/>
                <a:cs typeface="Calibri" pitchFamily="34" charset="-120"/>
              </a:rPr>
              <a:t>Deployment can be detected by a sudden spike in rolling variance.</a:t>
            </a:r>
            <a:endParaRPr lang="en-US" sz="1400" dirty="0"/>
          </a:p>
        </p:txBody>
      </p:sp>
      <p:sp>
        <p:nvSpPr>
          <p:cNvPr id="10" name="Text 6"/>
          <p:cNvSpPr txBox="1"/>
          <p:nvPr/>
        </p:nvSpPr>
        <p:spPr>
          <a:xfrm>
            <a:off x="3474720" y="3520440"/>
            <a:ext cx="2514600" cy="274320"/>
          </a:xfrm>
          <a:prstGeom prst="rect">
            <a:avLst/>
          </a:prstGeom>
          <a:noFill/>
          <a:ln/>
        </p:spPr>
        <p:txBody>
          <a:bodyPr wrap="square" lIns="0" tIns="0" rIns="0" bIns="0" rtlCol="0" anchor="t"/>
          <a:lstStyle/>
          <a:p>
            <a:pPr indent="0" marL="0">
              <a:buNone/>
            </a:pPr>
            <a:r>
              <a:rPr lang="en-US" sz="1100" b="1" dirty="0">
                <a:solidFill>
                  <a:srgbClr val="8E9BAA"/>
                </a:solidFill>
                <a:latin typeface="Consolas" pitchFamily="34" charset="0"/>
                <a:ea typeface="Consolas" pitchFamily="34" charset="-122"/>
                <a:cs typeface="Consolas" pitchFamily="34" charset="-120"/>
              </a:rPr>
              <a:t>HOW WE TESTED</a:t>
            </a:r>
            <a:endParaRPr lang="en-US" sz="1100" dirty="0"/>
          </a:p>
        </p:txBody>
      </p:sp>
      <p:sp>
        <p:nvSpPr>
          <p:cNvPr id="11" name="Text 7"/>
          <p:cNvSpPr txBox="1"/>
          <p:nvPr/>
        </p:nvSpPr>
        <p:spPr>
          <a:xfrm>
            <a:off x="3474720" y="3840480"/>
            <a:ext cx="2514600" cy="1737360"/>
          </a:xfrm>
          <a:prstGeom prst="rect">
            <a:avLst/>
          </a:prstGeom>
          <a:noFill/>
          <a:ln/>
        </p:spPr>
        <p:txBody>
          <a:bodyPr wrap="square" lIns="0" tIns="0" rIns="0" bIns="0" rtlCol="0" anchor="t"/>
          <a:lstStyle/>
          <a:p>
            <a:pPr indent="0" marL="0">
              <a:buNone/>
            </a:pPr>
            <a:r>
              <a:rPr lang="en-US" sz="1400" dirty="0">
                <a:solidFill>
                  <a:srgbClr val="E8ECEF"/>
                </a:solidFill>
                <a:latin typeface="Calibri" pitchFamily="34" charset="0"/>
                <a:ea typeface="Calibri" pitchFamily="34" charset="-122"/>
                <a:cs typeface="Calibri" pitchFamily="34" charset="-120"/>
              </a:rPr>
              <a:t>Run on the ESP32 board against the tracker stream.</a:t>
            </a:r>
            <a:endParaRPr lang="en-US" sz="1400" dirty="0"/>
          </a:p>
        </p:txBody>
      </p:sp>
      <p:sp>
        <p:nvSpPr>
          <p:cNvPr id="12" name="Text 8"/>
          <p:cNvSpPr txBox="1"/>
          <p:nvPr/>
        </p:nvSpPr>
        <p:spPr>
          <a:xfrm>
            <a:off x="6172200" y="3520440"/>
            <a:ext cx="2514600" cy="274320"/>
          </a:xfrm>
          <a:prstGeom prst="rect">
            <a:avLst/>
          </a:prstGeom>
          <a:noFill/>
          <a:ln/>
        </p:spPr>
        <p:txBody>
          <a:bodyPr wrap="square" lIns="0" tIns="0" rIns="0" bIns="0" rtlCol="0" anchor="t"/>
          <a:lstStyle/>
          <a:p>
            <a:pPr indent="0" marL="0">
              <a:buNone/>
            </a:pPr>
            <a:r>
              <a:rPr lang="en-US" sz="1100" b="1" dirty="0">
                <a:solidFill>
                  <a:srgbClr val="8E9BAA"/>
                </a:solidFill>
                <a:latin typeface="Consolas" pitchFamily="34" charset="0"/>
                <a:ea typeface="Consolas" pitchFamily="34" charset="-122"/>
                <a:cs typeface="Consolas" pitchFamily="34" charset="-120"/>
              </a:rPr>
              <a:t>WHAT HAPPENED</a:t>
            </a:r>
            <a:endParaRPr lang="en-US" sz="1100" dirty="0"/>
          </a:p>
        </p:txBody>
      </p:sp>
      <p:sp>
        <p:nvSpPr>
          <p:cNvPr id="13" name="Text 9"/>
          <p:cNvSpPr txBox="1"/>
          <p:nvPr/>
        </p:nvSpPr>
        <p:spPr>
          <a:xfrm>
            <a:off x="6172200" y="3840480"/>
            <a:ext cx="2514600" cy="1737360"/>
          </a:xfrm>
          <a:prstGeom prst="rect">
            <a:avLst/>
          </a:prstGeom>
          <a:noFill/>
          <a:ln/>
        </p:spPr>
        <p:txBody>
          <a:bodyPr wrap="square" lIns="0" tIns="0" rIns="0" bIns="0" rtlCol="0" anchor="t"/>
          <a:lstStyle/>
          <a:p>
            <a:pPr indent="0" marL="0">
              <a:buNone/>
            </a:pPr>
            <a:r>
              <a:rPr lang="en-US" sz="1400" dirty="0">
                <a:solidFill>
                  <a:srgbClr val="E8ECEF"/>
                </a:solidFill>
                <a:latin typeface="Calibri" pitchFamily="34" charset="0"/>
                <a:ea typeface="Calibri" pitchFamily="34" charset="-122"/>
                <a:cs typeface="Calibri" pitchFamily="34" charset="-120"/>
              </a:rPr>
              <a:t>Failed completely: normal ±2 m noise caused continuous false triggers. Discarded by Gana.</a:t>
            </a:r>
            <a:endParaRPr lang="en-US" sz="1400" dirty="0"/>
          </a:p>
        </p:txBody>
      </p:sp>
      <p:sp>
        <p:nvSpPr>
          <p:cNvPr id="14" name="Text 10"/>
          <p:cNvSpPr txBox="1"/>
          <p:nvPr/>
        </p:nvSpPr>
        <p:spPr>
          <a:xfrm>
            <a:off x="8869680" y="3520440"/>
            <a:ext cx="2514600" cy="274320"/>
          </a:xfrm>
          <a:prstGeom prst="rect">
            <a:avLst/>
          </a:prstGeom>
          <a:noFill/>
          <a:ln/>
        </p:spPr>
        <p:txBody>
          <a:bodyPr wrap="square" lIns="0" tIns="0" rIns="0" bIns="0" rtlCol="0" anchor="t"/>
          <a:lstStyle/>
          <a:p>
            <a:pPr indent="0" marL="0">
              <a:buNone/>
            </a:pPr>
            <a:r>
              <a:rPr lang="en-US" sz="1100" b="1" dirty="0">
                <a:solidFill>
                  <a:srgbClr val="3FD0C0"/>
                </a:solidFill>
                <a:latin typeface="Consolas" pitchFamily="34" charset="0"/>
                <a:ea typeface="Consolas" pitchFamily="34" charset="-122"/>
                <a:cs typeface="Consolas" pitchFamily="34" charset="-120"/>
              </a:rPr>
              <a:t>THE FIX WE KEPT</a:t>
            </a:r>
            <a:endParaRPr lang="en-US" sz="1100" dirty="0"/>
          </a:p>
        </p:txBody>
      </p:sp>
      <p:sp>
        <p:nvSpPr>
          <p:cNvPr id="15" name="Text 11"/>
          <p:cNvSpPr txBox="1"/>
          <p:nvPr/>
        </p:nvSpPr>
        <p:spPr>
          <a:xfrm>
            <a:off x="8869680" y="3840480"/>
            <a:ext cx="2514600" cy="1737360"/>
          </a:xfrm>
          <a:prstGeom prst="rect">
            <a:avLst/>
          </a:prstGeom>
          <a:noFill/>
          <a:ln/>
        </p:spPr>
        <p:txBody>
          <a:bodyPr wrap="square" lIns="0" tIns="0" rIns="0" bIns="0" rtlCol="0" anchor="t"/>
          <a:lstStyle/>
          <a:p>
            <a:pPr indent="0" marL="0">
              <a:buNone/>
            </a:pPr>
            <a:r>
              <a:rPr lang="en-US" sz="1400" dirty="0">
                <a:solidFill>
                  <a:srgbClr val="E8ECEF"/>
                </a:solidFill>
                <a:latin typeface="Calibri" pitchFamily="34" charset="0"/>
                <a:ea typeface="Calibri" pitchFamily="34" charset="-122"/>
                <a:cs typeface="Calibri" pitchFamily="34" charset="-120"/>
              </a:rPr>
              <a:t>Compare the real altitude drop over 1024 samples with the drop predicted by the coast parabola. Trigger when the gap exceeds 500 cm.</a:t>
            </a:r>
            <a:endParaRPr lang="en-US" sz="1400" dirty="0"/>
          </a:p>
        </p:txBody>
      </p:sp>
      <p:sp>
        <p:nvSpPr>
          <p:cNvPr id="16" name="Text 12"/>
          <p:cNvSpPr txBox="1"/>
          <p:nvPr/>
        </p:nvSpPr>
        <p:spPr>
          <a:xfrm>
            <a:off x="777240" y="5577840"/>
            <a:ext cx="10607040" cy="365760"/>
          </a:xfrm>
          <a:prstGeom prst="rect">
            <a:avLst/>
          </a:prstGeom>
          <a:noFill/>
          <a:ln/>
        </p:spPr>
        <p:txBody>
          <a:bodyPr wrap="square" lIns="0" tIns="0" rIns="0" bIns="0" rtlCol="0" anchor="t"/>
          <a:lstStyle/>
          <a:p>
            <a:pPr indent="0" marL="0">
              <a:buNone/>
            </a:pPr>
            <a:r>
              <a:rPr lang="en-US" sz="1100" dirty="0">
                <a:solidFill>
                  <a:srgbClr val="8E9BAA"/>
                </a:solidFill>
                <a:latin typeface="Calibri" pitchFamily="34" charset="0"/>
                <a:ea typeface="Calibri" pitchFamily="34" charset="-122"/>
                <a:cs typeface="Calibri" pitchFamily="34" charset="-120"/>
              </a:rPr>
              <a:t>The fix is in the final code: 500 cm threshold, 1024-sample window, checked every 16th reading.</a:t>
            </a:r>
            <a:endParaRPr lang="en-US" sz="1100" dirty="0"/>
          </a:p>
        </p:txBody>
      </p:sp>
      <p:sp>
        <p:nvSpPr>
          <p:cNvPr id="17" name="Text 13"/>
          <p:cNvSpPr txBox="1"/>
          <p:nvPr/>
        </p:nvSpPr>
        <p:spPr>
          <a:xfrm>
            <a:off x="548640" y="6080760"/>
            <a:ext cx="10972800" cy="274320"/>
          </a:xfrm>
          <a:prstGeom prst="rect">
            <a:avLst/>
          </a:prstGeom>
          <a:noFill/>
          <a:ln/>
        </p:spPr>
        <p:txBody>
          <a:bodyPr wrap="square" lIns="0" tIns="0" rIns="0" bIns="0" rtlCol="0" anchor="t"/>
          <a:lstStyle/>
          <a:p>
            <a:pPr indent="0" marL="0">
              <a:buNone/>
            </a:pPr>
            <a:r>
              <a:rPr lang="en-US" sz="1000" dirty="0">
                <a:solidFill>
                  <a:srgbClr val="6B7888"/>
                </a:solidFill>
                <a:latin typeface="Calibri" pitchFamily="34" charset="0"/>
                <a:ea typeface="Calibri" pitchFamily="34" charset="-122"/>
                <a:cs typeface="Calibri" pitchFamily="34" charset="-120"/>
              </a:rPr>
              <a:t>Source: final report §13, Table 11 (LLM audit log); sketch detection code.</a:t>
            </a:r>
            <a:endParaRPr lang="en-US" sz="10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8229600" cy="274320"/>
          </a:xfrm>
          <a:prstGeom prst="rect">
            <a:avLst/>
          </a:prstGeom>
          <a:noFill/>
          <a:ln/>
        </p:spPr>
        <p:txBody>
          <a:bodyPr wrap="square" lIns="0" tIns="0" rIns="0" bIns="0" rtlCol="0" anchor="ctr"/>
          <a:lstStyle/>
          <a:p>
            <a:pPr indent="0" marL="0">
              <a:buNone/>
            </a:pPr>
            <a:r>
              <a:rPr lang="en-US" sz="1200" spc="200" kern="0" dirty="0">
                <a:solidFill>
                  <a:srgbClr val="3FD0C0"/>
                </a:solidFill>
                <a:latin typeface="Consolas" pitchFamily="34" charset="0"/>
                <a:ea typeface="Consolas" pitchFamily="34" charset="-122"/>
                <a:cs typeface="Consolas" pitchFamily="34" charset="-120"/>
              </a:rPr>
              <a:t>13 / THE RESULT</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E8ECEF"/>
                </a:solidFill>
                <a:latin typeface="Calibri" pitchFamily="34" charset="0"/>
                <a:ea typeface="Calibri" pitchFamily="34" charset="-122"/>
                <a:cs typeface="Calibri" pitchFamily="34" charset="-120"/>
              </a:rPr>
              <a:t>THE RESULT</a:t>
            </a:r>
            <a:endParaRPr lang="en-US" sz="3400" dirty="0"/>
          </a:p>
        </p:txBody>
      </p:sp>
      <p:sp>
        <p:nvSpPr>
          <p:cNvPr id="5" name="Shape 2"/>
          <p:cNvSpPr/>
          <p:nvPr/>
        </p:nvSpPr>
        <p:spPr>
          <a:xfrm>
            <a:off x="548640" y="1508760"/>
            <a:ext cx="1920240" cy="868680"/>
          </a:xfrm>
          <a:prstGeom prst="rect">
            <a:avLst/>
          </a:prstGeom>
          <a:solidFill>
            <a:srgbClr val="121923"/>
          </a:solidFill>
          <a:ln w="9525">
            <a:solidFill>
              <a:srgbClr val="263241"/>
            </a:solidFill>
            <a:prstDash val="solid"/>
          </a:ln>
        </p:spPr>
      </p:sp>
      <p:sp>
        <p:nvSpPr>
          <p:cNvPr id="6" name="Text 3"/>
          <p:cNvSpPr txBox="1"/>
          <p:nvPr/>
        </p:nvSpPr>
        <p:spPr>
          <a:xfrm>
            <a:off x="548640" y="1508760"/>
            <a:ext cx="1920240" cy="868680"/>
          </a:xfrm>
          <a:prstGeom prst="rect">
            <a:avLst/>
          </a:prstGeom>
          <a:noFill/>
          <a:ln/>
        </p:spPr>
        <p:txBody>
          <a:bodyPr wrap="square" lIns="0" tIns="0" rIns="0" bIns="0" rtlCol="0" anchor="ctr"/>
          <a:lstStyle/>
          <a:p>
            <a:pPr algn="ctr" indent="0" marL="0">
              <a:buNone/>
            </a:pPr>
            <a:r>
              <a:rPr lang="en-US" sz="1500" b="1" dirty="0">
                <a:solidFill>
                  <a:srgbClr val="E8ECEF"/>
                </a:solidFill>
                <a:latin typeface="Calibri" pitchFamily="34" charset="0"/>
                <a:ea typeface="Calibri" pitchFamily="34" charset="-122"/>
                <a:cs typeface="Calibri" pitchFamily="34" charset="-120"/>
              </a:rPr>
              <a:t>100,000</a:t>
            </a:r>
            <a:endParaRPr lang="en-US" sz="1500" dirty="0"/>
          </a:p>
          <a:p>
            <a:pPr algn="ctr" indent="0" marL="0">
              <a:buNone/>
            </a:pPr>
            <a:r>
              <a:rPr lang="en-US" sz="1500" b="1" dirty="0">
                <a:solidFill>
                  <a:srgbClr val="E8ECEF"/>
                </a:solidFill>
                <a:latin typeface="Calibri" pitchFamily="34" charset="0"/>
                <a:ea typeface="Calibri" pitchFamily="34" charset="-122"/>
                <a:cs typeface="Calibri" pitchFamily="34" charset="-120"/>
              </a:rPr>
              <a:t>samples</a:t>
            </a:r>
            <a:endParaRPr lang="en-US" sz="1500" dirty="0"/>
          </a:p>
        </p:txBody>
      </p:sp>
      <p:sp>
        <p:nvSpPr>
          <p:cNvPr id="7" name="Shape 4"/>
          <p:cNvSpPr/>
          <p:nvPr/>
        </p:nvSpPr>
        <p:spPr>
          <a:xfrm>
            <a:off x="2487168" y="1943100"/>
            <a:ext cx="329184" cy="0"/>
          </a:xfrm>
          <a:prstGeom prst="line">
            <a:avLst/>
          </a:prstGeom>
          <a:noFill/>
          <a:ln w="19050">
            <a:solidFill>
              <a:srgbClr val="3FD0C0"/>
            </a:solidFill>
            <a:prstDash val="solid"/>
            <a:tailEnd type="triangle"/>
          </a:ln>
        </p:spPr>
      </p:sp>
      <p:sp>
        <p:nvSpPr>
          <p:cNvPr id="8" name="Shape 5"/>
          <p:cNvSpPr/>
          <p:nvPr/>
        </p:nvSpPr>
        <p:spPr>
          <a:xfrm>
            <a:off x="2834640" y="1508760"/>
            <a:ext cx="1920240" cy="868680"/>
          </a:xfrm>
          <a:prstGeom prst="rect">
            <a:avLst/>
          </a:prstGeom>
          <a:solidFill>
            <a:srgbClr val="121923"/>
          </a:solidFill>
          <a:ln w="9525">
            <a:solidFill>
              <a:srgbClr val="263241"/>
            </a:solidFill>
            <a:prstDash val="solid"/>
          </a:ln>
        </p:spPr>
      </p:sp>
      <p:sp>
        <p:nvSpPr>
          <p:cNvPr id="9" name="Text 6"/>
          <p:cNvSpPr txBox="1"/>
          <p:nvPr/>
        </p:nvSpPr>
        <p:spPr>
          <a:xfrm>
            <a:off x="2834640" y="1508760"/>
            <a:ext cx="1920240" cy="868680"/>
          </a:xfrm>
          <a:prstGeom prst="rect">
            <a:avLst/>
          </a:prstGeom>
          <a:noFill/>
          <a:ln/>
        </p:spPr>
        <p:txBody>
          <a:bodyPr wrap="square" lIns="0" tIns="0" rIns="0" bIns="0" rtlCol="0" anchor="ctr"/>
          <a:lstStyle/>
          <a:p>
            <a:pPr algn="ctr" indent="0" marL="0">
              <a:buNone/>
            </a:pPr>
            <a:r>
              <a:rPr lang="en-US" sz="1500" b="1" dirty="0">
                <a:solidFill>
                  <a:srgbClr val="E8ECEF"/>
                </a:solidFill>
                <a:latin typeface="Calibri" pitchFamily="34" charset="0"/>
                <a:ea typeface="Calibri" pitchFamily="34" charset="-122"/>
                <a:cs typeface="Calibri" pitchFamily="34" charset="-120"/>
              </a:rPr>
              <a:t>ONLINE</a:t>
            </a:r>
            <a:endParaRPr lang="en-US" sz="1500" dirty="0"/>
          </a:p>
          <a:p>
            <a:pPr algn="ctr" indent="0" marL="0">
              <a:buNone/>
            </a:pPr>
            <a:r>
              <a:rPr lang="en-US" sz="1500" b="1" dirty="0">
                <a:solidFill>
                  <a:srgbClr val="E8ECEF"/>
                </a:solidFill>
                <a:latin typeface="Calibri" pitchFamily="34" charset="0"/>
                <a:ea typeface="Calibri" pitchFamily="34" charset="-122"/>
                <a:cs typeface="Calibri" pitchFamily="34" charset="-120"/>
              </a:rPr>
              <a:t>PROCESSING</a:t>
            </a:r>
            <a:endParaRPr lang="en-US" sz="1500" dirty="0"/>
          </a:p>
        </p:txBody>
      </p:sp>
      <p:sp>
        <p:nvSpPr>
          <p:cNvPr id="10" name="Shape 7"/>
          <p:cNvSpPr/>
          <p:nvPr/>
        </p:nvSpPr>
        <p:spPr>
          <a:xfrm>
            <a:off x="4773168" y="1943100"/>
            <a:ext cx="329184" cy="0"/>
          </a:xfrm>
          <a:prstGeom prst="line">
            <a:avLst/>
          </a:prstGeom>
          <a:noFill/>
          <a:ln w="19050">
            <a:solidFill>
              <a:srgbClr val="3FD0C0"/>
            </a:solidFill>
            <a:prstDash val="solid"/>
            <a:tailEnd type="triangle"/>
          </a:ln>
        </p:spPr>
      </p:sp>
      <p:sp>
        <p:nvSpPr>
          <p:cNvPr id="11" name="Shape 8"/>
          <p:cNvSpPr/>
          <p:nvPr/>
        </p:nvSpPr>
        <p:spPr>
          <a:xfrm>
            <a:off x="5120640" y="1508760"/>
            <a:ext cx="1920240" cy="868680"/>
          </a:xfrm>
          <a:prstGeom prst="rect">
            <a:avLst/>
          </a:prstGeom>
          <a:solidFill>
            <a:srgbClr val="121923"/>
          </a:solidFill>
          <a:ln w="9525">
            <a:solidFill>
              <a:srgbClr val="263241"/>
            </a:solidFill>
            <a:prstDash val="solid"/>
          </a:ln>
        </p:spPr>
      </p:sp>
      <p:sp>
        <p:nvSpPr>
          <p:cNvPr id="12" name="Text 9"/>
          <p:cNvSpPr txBox="1"/>
          <p:nvPr/>
        </p:nvSpPr>
        <p:spPr>
          <a:xfrm>
            <a:off x="5120640" y="1508760"/>
            <a:ext cx="1920240" cy="868680"/>
          </a:xfrm>
          <a:prstGeom prst="rect">
            <a:avLst/>
          </a:prstGeom>
          <a:noFill/>
          <a:ln/>
        </p:spPr>
        <p:txBody>
          <a:bodyPr wrap="square" lIns="0" tIns="0" rIns="0" bIns="0" rtlCol="0" anchor="ctr"/>
          <a:lstStyle/>
          <a:p>
            <a:pPr algn="ctr" indent="0" marL="0">
              <a:buNone/>
            </a:pPr>
            <a:r>
              <a:rPr lang="en-US" sz="1500" b="1" dirty="0">
                <a:solidFill>
                  <a:srgbClr val="E8ECEF"/>
                </a:solidFill>
                <a:latin typeface="Calibri" pitchFamily="34" charset="0"/>
                <a:ea typeface="Calibri" pitchFamily="34" charset="-122"/>
                <a:cs typeface="Calibri" pitchFamily="34" charset="-120"/>
              </a:rPr>
              <a:t>FILTERED +</a:t>
            </a:r>
            <a:endParaRPr lang="en-US" sz="1500" dirty="0"/>
          </a:p>
          <a:p>
            <a:pPr algn="ctr" indent="0" marL="0">
              <a:buNone/>
            </a:pPr>
            <a:r>
              <a:rPr lang="en-US" sz="1500" b="1" dirty="0">
                <a:solidFill>
                  <a:srgbClr val="E8ECEF"/>
                </a:solidFill>
                <a:latin typeface="Calibri" pitchFamily="34" charset="0"/>
                <a:ea typeface="Calibri" pitchFamily="34" charset="-122"/>
                <a:cs typeface="Calibri" pitchFamily="34" charset="-120"/>
              </a:rPr>
              <a:t>COMPRESSED</a:t>
            </a:r>
            <a:endParaRPr lang="en-US" sz="1500" dirty="0"/>
          </a:p>
        </p:txBody>
      </p:sp>
      <p:sp>
        <p:nvSpPr>
          <p:cNvPr id="13" name="Shape 10"/>
          <p:cNvSpPr/>
          <p:nvPr/>
        </p:nvSpPr>
        <p:spPr>
          <a:xfrm>
            <a:off x="7059168" y="1943100"/>
            <a:ext cx="329184" cy="0"/>
          </a:xfrm>
          <a:prstGeom prst="line">
            <a:avLst/>
          </a:prstGeom>
          <a:noFill/>
          <a:ln w="19050">
            <a:solidFill>
              <a:srgbClr val="3FD0C0"/>
            </a:solidFill>
            <a:prstDash val="solid"/>
            <a:tailEnd type="triangle"/>
          </a:ln>
        </p:spPr>
      </p:sp>
      <p:sp>
        <p:nvSpPr>
          <p:cNvPr id="14" name="Shape 11"/>
          <p:cNvSpPr/>
          <p:nvPr/>
        </p:nvSpPr>
        <p:spPr>
          <a:xfrm>
            <a:off x="7406640" y="1508760"/>
            <a:ext cx="1920240" cy="868680"/>
          </a:xfrm>
          <a:prstGeom prst="rect">
            <a:avLst/>
          </a:prstGeom>
          <a:solidFill>
            <a:srgbClr val="121923"/>
          </a:solidFill>
          <a:ln w="9525">
            <a:solidFill>
              <a:srgbClr val="263241"/>
            </a:solidFill>
            <a:prstDash val="solid"/>
          </a:ln>
        </p:spPr>
      </p:sp>
      <p:sp>
        <p:nvSpPr>
          <p:cNvPr id="15" name="Text 12"/>
          <p:cNvSpPr txBox="1"/>
          <p:nvPr/>
        </p:nvSpPr>
        <p:spPr>
          <a:xfrm>
            <a:off x="7406640" y="1508760"/>
            <a:ext cx="1920240" cy="868680"/>
          </a:xfrm>
          <a:prstGeom prst="rect">
            <a:avLst/>
          </a:prstGeom>
          <a:noFill/>
          <a:ln/>
        </p:spPr>
        <p:txBody>
          <a:bodyPr wrap="square" lIns="0" tIns="0" rIns="0" bIns="0" rtlCol="0" anchor="ctr"/>
          <a:lstStyle/>
          <a:p>
            <a:pPr algn="ctr" indent="0" marL="0">
              <a:buNone/>
            </a:pPr>
            <a:r>
              <a:rPr lang="en-US" sz="1500" b="1" dirty="0">
                <a:solidFill>
                  <a:srgbClr val="E8ECEF"/>
                </a:solidFill>
                <a:latin typeface="Calibri" pitchFamily="34" charset="0"/>
                <a:ea typeface="Calibri" pitchFamily="34" charset="-122"/>
                <a:cs typeface="Calibri" pitchFamily="34" charset="-120"/>
              </a:rPr>
              <a:t>TRAJECTORY</a:t>
            </a:r>
            <a:endParaRPr lang="en-US" sz="1500" dirty="0"/>
          </a:p>
          <a:p>
            <a:pPr algn="ctr" indent="0" marL="0">
              <a:buNone/>
            </a:pPr>
            <a:r>
              <a:rPr lang="en-US" sz="1500" b="1" dirty="0">
                <a:solidFill>
                  <a:srgbClr val="E8ECEF"/>
                </a:solidFill>
                <a:latin typeface="Calibri" pitchFamily="34" charset="0"/>
                <a:ea typeface="Calibri" pitchFamily="34" charset="-122"/>
                <a:cs typeface="Calibri" pitchFamily="34" charset="-120"/>
              </a:rPr>
              <a:t>MODEL</a:t>
            </a:r>
            <a:endParaRPr lang="en-US" sz="1500" dirty="0"/>
          </a:p>
        </p:txBody>
      </p:sp>
      <p:sp>
        <p:nvSpPr>
          <p:cNvPr id="16" name="Shape 13"/>
          <p:cNvSpPr/>
          <p:nvPr/>
        </p:nvSpPr>
        <p:spPr>
          <a:xfrm>
            <a:off x="9345168" y="1943100"/>
            <a:ext cx="329184" cy="0"/>
          </a:xfrm>
          <a:prstGeom prst="line">
            <a:avLst/>
          </a:prstGeom>
          <a:noFill/>
          <a:ln w="19050">
            <a:solidFill>
              <a:srgbClr val="3FD0C0"/>
            </a:solidFill>
            <a:prstDash val="solid"/>
            <a:tailEnd type="triangle"/>
          </a:ln>
        </p:spPr>
      </p:sp>
      <p:sp>
        <p:nvSpPr>
          <p:cNvPr id="17" name="Shape 14"/>
          <p:cNvSpPr/>
          <p:nvPr/>
        </p:nvSpPr>
        <p:spPr>
          <a:xfrm>
            <a:off x="9692640" y="1508760"/>
            <a:ext cx="1920240" cy="868680"/>
          </a:xfrm>
          <a:prstGeom prst="rect">
            <a:avLst/>
          </a:prstGeom>
          <a:solidFill>
            <a:srgbClr val="10312F"/>
          </a:solidFill>
          <a:ln w="15875">
            <a:solidFill>
              <a:srgbClr val="3FD0C0"/>
            </a:solidFill>
            <a:prstDash val="solid"/>
          </a:ln>
        </p:spPr>
      </p:sp>
      <p:sp>
        <p:nvSpPr>
          <p:cNvPr id="18" name="Text 15"/>
          <p:cNvSpPr txBox="1"/>
          <p:nvPr/>
        </p:nvSpPr>
        <p:spPr>
          <a:xfrm>
            <a:off x="9692640" y="1508760"/>
            <a:ext cx="1920240" cy="868680"/>
          </a:xfrm>
          <a:prstGeom prst="rect">
            <a:avLst/>
          </a:prstGeom>
          <a:noFill/>
          <a:ln/>
        </p:spPr>
        <p:txBody>
          <a:bodyPr wrap="square" lIns="0" tIns="0" rIns="0" bIns="0" rtlCol="0" anchor="ctr"/>
          <a:lstStyle/>
          <a:p>
            <a:pPr algn="ctr" indent="0" marL="0">
              <a:buNone/>
            </a:pPr>
            <a:r>
              <a:rPr lang="en-US" sz="1500" b="1" dirty="0">
                <a:solidFill>
                  <a:srgbClr val="3FD0C0"/>
                </a:solidFill>
                <a:latin typeface="Calibri" pitchFamily="34" charset="0"/>
                <a:ea typeface="Calibri" pitchFamily="34" charset="-122"/>
                <a:cs typeface="Calibri" pitchFamily="34" charset="-120"/>
              </a:rPr>
              <a:t>FLIGHT</a:t>
            </a:r>
            <a:endParaRPr lang="en-US" sz="1500" dirty="0"/>
          </a:p>
          <a:p>
            <a:pPr algn="ctr" indent="0" marL="0">
              <a:buNone/>
            </a:pPr>
            <a:r>
              <a:rPr lang="en-US" sz="1500" b="1" dirty="0">
                <a:solidFill>
                  <a:srgbClr val="3FD0C0"/>
                </a:solidFill>
                <a:latin typeface="Calibri" pitchFamily="34" charset="0"/>
                <a:ea typeface="Calibri" pitchFamily="34" charset="-122"/>
                <a:cs typeface="Calibri" pitchFamily="34" charset="-120"/>
              </a:rPr>
              <a:t>INTELLIGENCE</a:t>
            </a:r>
            <a:endParaRPr lang="en-US" sz="1500" dirty="0"/>
          </a:p>
        </p:txBody>
      </p:sp>
      <p:sp>
        <p:nvSpPr>
          <p:cNvPr id="19" name="Shape 16"/>
          <p:cNvSpPr/>
          <p:nvPr/>
        </p:nvSpPr>
        <p:spPr>
          <a:xfrm>
            <a:off x="548640" y="2834640"/>
            <a:ext cx="11064240" cy="0"/>
          </a:xfrm>
          <a:prstGeom prst="line">
            <a:avLst/>
          </a:prstGeom>
          <a:noFill/>
          <a:ln w="9525">
            <a:solidFill>
              <a:srgbClr val="263241"/>
            </a:solidFill>
            <a:prstDash val="solid"/>
          </a:ln>
        </p:spPr>
      </p:sp>
      <p:sp>
        <p:nvSpPr>
          <p:cNvPr id="20" name="Text 17"/>
          <p:cNvSpPr txBox="1"/>
          <p:nvPr/>
        </p:nvSpPr>
        <p:spPr>
          <a:xfrm>
            <a:off x="548640" y="3017520"/>
            <a:ext cx="2606040" cy="548640"/>
          </a:xfrm>
          <a:prstGeom prst="rect">
            <a:avLst/>
          </a:prstGeom>
          <a:noFill/>
          <a:ln/>
        </p:spPr>
        <p:txBody>
          <a:bodyPr wrap="square" lIns="0" tIns="0" rIns="0" bIns="0" rtlCol="0" anchor="t"/>
          <a:lstStyle/>
          <a:p>
            <a:pPr indent="0" marL="0">
              <a:buNone/>
            </a:pPr>
            <a:r>
              <a:rPr lang="en-US" sz="2600" b="1" dirty="0">
                <a:solidFill>
                  <a:srgbClr val="3FD0C0"/>
                </a:solidFill>
                <a:latin typeface="Consolas" pitchFamily="34" charset="0"/>
                <a:ea typeface="Consolas" pitchFamily="34" charset="-122"/>
                <a:cs typeface="Consolas" pitchFamily="34" charset="-120"/>
              </a:rPr>
              <a:t>2336 / 4096 B</a:t>
            </a:r>
            <a:endParaRPr lang="en-US" sz="2600" dirty="0"/>
          </a:p>
        </p:txBody>
      </p:sp>
      <p:sp>
        <p:nvSpPr>
          <p:cNvPr id="21" name="Text 18"/>
          <p:cNvSpPr txBox="1"/>
          <p:nvPr/>
        </p:nvSpPr>
        <p:spPr>
          <a:xfrm>
            <a:off x="548640" y="3611880"/>
            <a:ext cx="2560320" cy="457200"/>
          </a:xfrm>
          <a:prstGeom prst="rect">
            <a:avLst/>
          </a:prstGeom>
          <a:noFill/>
          <a:ln/>
        </p:spPr>
        <p:txBody>
          <a:bodyPr wrap="square" lIns="0" tIns="0" rIns="0" bIns="0" rtlCol="0" anchor="t"/>
          <a:lstStyle/>
          <a:p>
            <a:pPr indent="0" marL="0">
              <a:buNone/>
            </a:pPr>
            <a:r>
              <a:rPr lang="en-US" sz="1300" dirty="0">
                <a:solidFill>
                  <a:srgbClr val="8E9BAA"/>
                </a:solidFill>
                <a:latin typeface="Calibri" pitchFamily="34" charset="0"/>
                <a:ea typeface="Calibri" pitchFamily="34" charset="-122"/>
                <a:cs typeface="Calibri" pitchFamily="34" charset="-120"/>
              </a:rPr>
              <a:t>57.0% RAM utilization</a:t>
            </a:r>
            <a:endParaRPr lang="en-US" sz="1300" dirty="0"/>
          </a:p>
        </p:txBody>
      </p:sp>
      <p:sp>
        <p:nvSpPr>
          <p:cNvPr id="22" name="Shape 19"/>
          <p:cNvSpPr/>
          <p:nvPr/>
        </p:nvSpPr>
        <p:spPr>
          <a:xfrm>
            <a:off x="3200400" y="3017520"/>
            <a:ext cx="0" cy="1188720"/>
          </a:xfrm>
          <a:prstGeom prst="line">
            <a:avLst/>
          </a:prstGeom>
          <a:noFill/>
          <a:ln w="9525">
            <a:solidFill>
              <a:srgbClr val="263241"/>
            </a:solidFill>
            <a:prstDash val="solid"/>
          </a:ln>
        </p:spPr>
      </p:sp>
      <p:sp>
        <p:nvSpPr>
          <p:cNvPr id="23" name="Text 20"/>
          <p:cNvSpPr txBox="1"/>
          <p:nvPr/>
        </p:nvSpPr>
        <p:spPr>
          <a:xfrm>
            <a:off x="3337560" y="3017520"/>
            <a:ext cx="2606040" cy="548640"/>
          </a:xfrm>
          <a:prstGeom prst="rect">
            <a:avLst/>
          </a:prstGeom>
          <a:noFill/>
          <a:ln/>
        </p:spPr>
        <p:txBody>
          <a:bodyPr wrap="square" lIns="0" tIns="0" rIns="0" bIns="0" rtlCol="0" anchor="t"/>
          <a:lstStyle/>
          <a:p>
            <a:pPr indent="0" marL="0">
              <a:buNone/>
            </a:pPr>
            <a:r>
              <a:rPr lang="en-US" sz="2600" b="1" dirty="0">
                <a:solidFill>
                  <a:srgbClr val="3FD0C0"/>
                </a:solidFill>
                <a:latin typeface="Consolas" pitchFamily="34" charset="0"/>
                <a:ea typeface="Consolas" pitchFamily="34" charset="-122"/>
                <a:cs typeface="Consolas" pitchFamily="34" charset="-120"/>
              </a:rPr>
              <a:t>6502 / 12,000</a:t>
            </a:r>
            <a:endParaRPr lang="en-US" sz="2600" dirty="0"/>
          </a:p>
        </p:txBody>
      </p:sp>
      <p:sp>
        <p:nvSpPr>
          <p:cNvPr id="24" name="Text 21"/>
          <p:cNvSpPr txBox="1"/>
          <p:nvPr/>
        </p:nvSpPr>
        <p:spPr>
          <a:xfrm>
            <a:off x="3337560" y="3611880"/>
            <a:ext cx="2560320" cy="457200"/>
          </a:xfrm>
          <a:prstGeom prst="rect">
            <a:avLst/>
          </a:prstGeom>
          <a:noFill/>
          <a:ln/>
        </p:spPr>
        <p:txBody>
          <a:bodyPr wrap="square" lIns="0" tIns="0" rIns="0" bIns="0" rtlCol="0" anchor="t"/>
          <a:lstStyle/>
          <a:p>
            <a:pPr indent="0" marL="0">
              <a:buNone/>
            </a:pPr>
            <a:r>
              <a:rPr lang="en-US" sz="1300" dirty="0">
                <a:solidFill>
                  <a:srgbClr val="8E9BAA"/>
                </a:solidFill>
                <a:latin typeface="Calibri" pitchFamily="34" charset="0"/>
                <a:ea typeface="Calibri" pitchFamily="34" charset="-122"/>
                <a:cs typeface="Calibri" pitchFamily="34" charset="-120"/>
              </a:rPr>
              <a:t>54.2% budget utilization</a:t>
            </a:r>
            <a:endParaRPr lang="en-US" sz="1300" dirty="0"/>
          </a:p>
        </p:txBody>
      </p:sp>
      <p:sp>
        <p:nvSpPr>
          <p:cNvPr id="25" name="Shape 22"/>
          <p:cNvSpPr/>
          <p:nvPr/>
        </p:nvSpPr>
        <p:spPr>
          <a:xfrm>
            <a:off x="5989320" y="3017520"/>
            <a:ext cx="0" cy="1188720"/>
          </a:xfrm>
          <a:prstGeom prst="line">
            <a:avLst/>
          </a:prstGeom>
          <a:noFill/>
          <a:ln w="9525">
            <a:solidFill>
              <a:srgbClr val="263241"/>
            </a:solidFill>
            <a:prstDash val="solid"/>
          </a:ln>
        </p:spPr>
      </p:sp>
      <p:sp>
        <p:nvSpPr>
          <p:cNvPr id="26" name="Text 23"/>
          <p:cNvSpPr txBox="1"/>
          <p:nvPr/>
        </p:nvSpPr>
        <p:spPr>
          <a:xfrm>
            <a:off x="6126480" y="3017520"/>
            <a:ext cx="2606040" cy="548640"/>
          </a:xfrm>
          <a:prstGeom prst="rect">
            <a:avLst/>
          </a:prstGeom>
          <a:noFill/>
          <a:ln/>
        </p:spPr>
        <p:txBody>
          <a:bodyPr wrap="square" lIns="0" tIns="0" rIns="0" bIns="0" rtlCol="0" anchor="t"/>
          <a:lstStyle/>
          <a:p>
            <a:pPr indent="0" marL="0">
              <a:buNone/>
            </a:pPr>
            <a:r>
              <a:rPr lang="en-US" sz="3000" b="1" dirty="0">
                <a:solidFill>
                  <a:srgbClr val="E8ECEF"/>
                </a:solidFill>
                <a:latin typeface="Consolas" pitchFamily="34" charset="0"/>
                <a:ea typeface="Consolas" pitchFamily="34" charset="-122"/>
                <a:cs typeface="Consolas" pitchFamily="34" charset="-120"/>
              </a:rPr>
              <a:t>1760 B</a:t>
            </a:r>
            <a:endParaRPr lang="en-US" sz="3000" dirty="0"/>
          </a:p>
        </p:txBody>
      </p:sp>
      <p:sp>
        <p:nvSpPr>
          <p:cNvPr id="27" name="Text 24"/>
          <p:cNvSpPr txBox="1"/>
          <p:nvPr/>
        </p:nvSpPr>
        <p:spPr>
          <a:xfrm>
            <a:off x="6126480" y="3611880"/>
            <a:ext cx="2560320" cy="457200"/>
          </a:xfrm>
          <a:prstGeom prst="rect">
            <a:avLst/>
          </a:prstGeom>
          <a:noFill/>
          <a:ln/>
        </p:spPr>
        <p:txBody>
          <a:bodyPr wrap="square" lIns="0" tIns="0" rIns="0" bIns="0" rtlCol="0" anchor="t"/>
          <a:lstStyle/>
          <a:p>
            <a:pPr indent="0" marL="0">
              <a:buNone/>
            </a:pPr>
            <a:r>
              <a:rPr lang="en-US" sz="1300" dirty="0">
                <a:solidFill>
                  <a:srgbClr val="8E9BAA"/>
                </a:solidFill>
                <a:latin typeface="Calibri" pitchFamily="34" charset="0"/>
                <a:ea typeface="Calibri" pitchFamily="34" charset="-122"/>
                <a:cs typeface="Calibri" pitchFamily="34" charset="-120"/>
              </a:rPr>
              <a:t>RAM free</a:t>
            </a:r>
            <a:endParaRPr lang="en-US" sz="1300" dirty="0"/>
          </a:p>
        </p:txBody>
      </p:sp>
      <p:sp>
        <p:nvSpPr>
          <p:cNvPr id="28" name="Shape 25"/>
          <p:cNvSpPr/>
          <p:nvPr/>
        </p:nvSpPr>
        <p:spPr>
          <a:xfrm>
            <a:off x="8778240" y="3017520"/>
            <a:ext cx="0" cy="1188720"/>
          </a:xfrm>
          <a:prstGeom prst="line">
            <a:avLst/>
          </a:prstGeom>
          <a:noFill/>
          <a:ln w="9525">
            <a:solidFill>
              <a:srgbClr val="263241"/>
            </a:solidFill>
            <a:prstDash val="solid"/>
          </a:ln>
        </p:spPr>
      </p:sp>
      <p:sp>
        <p:nvSpPr>
          <p:cNvPr id="29" name="Text 26"/>
          <p:cNvSpPr txBox="1"/>
          <p:nvPr/>
        </p:nvSpPr>
        <p:spPr>
          <a:xfrm>
            <a:off x="8915400" y="3017520"/>
            <a:ext cx="2606040" cy="548640"/>
          </a:xfrm>
          <a:prstGeom prst="rect">
            <a:avLst/>
          </a:prstGeom>
          <a:noFill/>
          <a:ln/>
        </p:spPr>
        <p:txBody>
          <a:bodyPr wrap="square" lIns="0" tIns="0" rIns="0" bIns="0" rtlCol="0" anchor="t"/>
          <a:lstStyle/>
          <a:p>
            <a:pPr indent="0" marL="0">
              <a:buNone/>
            </a:pPr>
            <a:r>
              <a:rPr lang="en-US" sz="3000" b="1" dirty="0">
                <a:solidFill>
                  <a:srgbClr val="E8ECEF"/>
                </a:solidFill>
                <a:latin typeface="Consolas" pitchFamily="34" charset="0"/>
                <a:ea typeface="Consolas" pitchFamily="34" charset="-122"/>
                <a:cs typeface="Consolas" pitchFamily="34" charset="-120"/>
              </a:rPr>
              <a:t>&gt;5400</a:t>
            </a:r>
            <a:endParaRPr lang="en-US" sz="3000" dirty="0"/>
          </a:p>
        </p:txBody>
      </p:sp>
      <p:sp>
        <p:nvSpPr>
          <p:cNvPr id="30" name="Text 27"/>
          <p:cNvSpPr txBox="1"/>
          <p:nvPr/>
        </p:nvSpPr>
        <p:spPr>
          <a:xfrm>
            <a:off x="8915400" y="3611880"/>
            <a:ext cx="2560320" cy="457200"/>
          </a:xfrm>
          <a:prstGeom prst="rect">
            <a:avLst/>
          </a:prstGeom>
          <a:noFill/>
          <a:ln/>
        </p:spPr>
        <p:txBody>
          <a:bodyPr wrap="square" lIns="0" tIns="0" rIns="0" bIns="0" rtlCol="0" anchor="t"/>
          <a:lstStyle/>
          <a:p>
            <a:pPr indent="0" marL="0">
              <a:buNone/>
            </a:pPr>
            <a:r>
              <a:rPr lang="en-US" sz="1300" dirty="0">
                <a:solidFill>
                  <a:srgbClr val="8E9BAA"/>
                </a:solidFill>
                <a:latin typeface="Calibri" pitchFamily="34" charset="0"/>
                <a:ea typeface="Calibri" pitchFamily="34" charset="-122"/>
                <a:cs typeface="Calibri" pitchFamily="34" charset="-120"/>
              </a:rPr>
              <a:t>cycles of headroom per sample</a:t>
            </a:r>
            <a:endParaRPr lang="en-US" sz="1300" dirty="0"/>
          </a:p>
        </p:txBody>
      </p:sp>
      <p:sp>
        <p:nvSpPr>
          <p:cNvPr id="31" name="Shape 28"/>
          <p:cNvSpPr/>
          <p:nvPr/>
        </p:nvSpPr>
        <p:spPr>
          <a:xfrm>
            <a:off x="548640" y="4343400"/>
            <a:ext cx="11064240" cy="0"/>
          </a:xfrm>
          <a:prstGeom prst="line">
            <a:avLst/>
          </a:prstGeom>
          <a:noFill/>
          <a:ln w="9525">
            <a:solidFill>
              <a:srgbClr val="263241"/>
            </a:solidFill>
            <a:prstDash val="solid"/>
          </a:ln>
        </p:spPr>
      </p:sp>
      <p:sp>
        <p:nvSpPr>
          <p:cNvPr id="32" name="Text 29"/>
          <p:cNvSpPr txBox="1"/>
          <p:nvPr/>
        </p:nvSpPr>
        <p:spPr>
          <a:xfrm>
            <a:off x="548640" y="4526280"/>
            <a:ext cx="7315200" cy="1463040"/>
          </a:xfrm>
          <a:prstGeom prst="rect">
            <a:avLst/>
          </a:prstGeom>
          <a:noFill/>
          <a:ln/>
        </p:spPr>
        <p:txBody>
          <a:bodyPr wrap="square" lIns="0" tIns="0" rIns="0" bIns="0" rtlCol="0" anchor="t"/>
          <a:lstStyle/>
          <a:p>
            <a:pPr indent="0" marL="0">
              <a:lnSpc>
                <a:spcPct val="105000"/>
              </a:lnSpc>
              <a:buNone/>
            </a:pPr>
            <a:r>
              <a:rPr lang="en-US" sz="2200" b="1" dirty="0">
                <a:solidFill>
                  <a:srgbClr val="E8ECEF"/>
                </a:solidFill>
                <a:latin typeface="Calibri" pitchFamily="34" charset="0"/>
                <a:ea typeface="Calibri" pitchFamily="34" charset="-122"/>
                <a:cs typeface="Calibri" pitchFamily="34" charset="-120"/>
              </a:rPr>
              <a:t>One ESP32.</a:t>
            </a:r>
            <a:endParaRPr lang="en-US" sz="2200" dirty="0"/>
          </a:p>
          <a:p>
            <a:pPr indent="0" marL="0">
              <a:lnSpc>
                <a:spcPct val="105000"/>
              </a:lnSpc>
              <a:buNone/>
            </a:pPr>
            <a:r>
              <a:rPr lang="en-US" sz="2200" b="1" dirty="0">
                <a:solidFill>
                  <a:srgbClr val="E8ECEF"/>
                </a:solidFill>
                <a:latin typeface="Calibri" pitchFamily="34" charset="0"/>
                <a:ea typeface="Calibri" pitchFamily="34" charset="-122"/>
                <a:cs typeface="Calibri" pitchFamily="34" charset="-120"/>
              </a:rPr>
              <a:t>One compact state structure.</a:t>
            </a:r>
            <a:endParaRPr lang="en-US" sz="2200" dirty="0"/>
          </a:p>
          <a:p>
            <a:pPr indent="0" marL="0">
              <a:lnSpc>
                <a:spcPct val="105000"/>
              </a:lnSpc>
              <a:buNone/>
            </a:pPr>
            <a:r>
              <a:rPr lang="en-US" sz="2200" b="1" dirty="0">
                <a:solidFill>
                  <a:srgbClr val="E8ECEF"/>
                </a:solidFill>
                <a:latin typeface="Calibri" pitchFamily="34" charset="0"/>
                <a:ea typeface="Calibri" pitchFamily="34" charset="-122"/>
                <a:cs typeface="Calibri" pitchFamily="34" charset="-120"/>
              </a:rPr>
              <a:t>100,000 telemetry readings.</a:t>
            </a:r>
            <a:endParaRPr lang="en-US" sz="2200" dirty="0"/>
          </a:p>
          <a:p>
            <a:pPr indent="0" marL="0">
              <a:lnSpc>
                <a:spcPct val="105000"/>
              </a:lnSpc>
              <a:buNone/>
            </a:pPr>
            <a:r>
              <a:rPr lang="en-US" sz="2200" b="1" dirty="0">
                <a:solidFill>
                  <a:srgbClr val="E8ECEF"/>
                </a:solidFill>
                <a:latin typeface="Calibri" pitchFamily="34" charset="0"/>
                <a:ea typeface="Calibri" pitchFamily="34" charset="-122"/>
                <a:cs typeface="Calibri" pitchFamily="34" charset="-120"/>
              </a:rPr>
              <a:t>Real-time flight analysis.</a:t>
            </a:r>
            <a:endParaRPr lang="en-US" sz="2200" dirty="0"/>
          </a:p>
        </p:txBody>
      </p:sp>
      <p:sp>
        <p:nvSpPr>
          <p:cNvPr id="33" name="Text 30"/>
          <p:cNvSpPr txBox="1"/>
          <p:nvPr/>
        </p:nvSpPr>
        <p:spPr>
          <a:xfrm>
            <a:off x="6766560" y="4754880"/>
            <a:ext cx="4846320" cy="274320"/>
          </a:xfrm>
          <a:prstGeom prst="rect">
            <a:avLst/>
          </a:prstGeom>
          <a:noFill/>
          <a:ln/>
        </p:spPr>
        <p:txBody>
          <a:bodyPr wrap="square" lIns="0" tIns="0" rIns="0" bIns="0" rtlCol="0" anchor="t"/>
          <a:lstStyle/>
          <a:p>
            <a:pPr algn="r" indent="0" marL="0">
              <a:buNone/>
            </a:pPr>
            <a:r>
              <a:rPr lang="en-US" sz="1300" b="1" dirty="0">
                <a:solidFill>
                  <a:srgbClr val="3FD0C0"/>
                </a:solidFill>
                <a:latin typeface="Consolas" pitchFamily="34" charset="0"/>
                <a:ea typeface="Consolas" pitchFamily="34" charset="-122"/>
                <a:cs typeface="Consolas" pitchFamily="34" charset="-120"/>
              </a:rPr>
              <a:t>FINAL LEVEL: 5  ·  Official + Practice B</a:t>
            </a:r>
            <a:endParaRPr lang="en-US" sz="1300" dirty="0"/>
          </a:p>
        </p:txBody>
      </p:sp>
      <p:sp>
        <p:nvSpPr>
          <p:cNvPr id="34" name="Text 31"/>
          <p:cNvSpPr txBox="1"/>
          <p:nvPr/>
        </p:nvSpPr>
        <p:spPr>
          <a:xfrm>
            <a:off x="7498080" y="5532120"/>
            <a:ext cx="4114800" cy="457200"/>
          </a:xfrm>
          <a:prstGeom prst="rect">
            <a:avLst/>
          </a:prstGeom>
          <a:noFill/>
          <a:ln/>
        </p:spPr>
        <p:txBody>
          <a:bodyPr wrap="square" lIns="0" tIns="0" rIns="0" bIns="0" rtlCol="0" anchor="t"/>
          <a:lstStyle/>
          <a:p>
            <a:pPr algn="r" indent="0" marL="0">
              <a:buNone/>
            </a:pPr>
            <a:r>
              <a:rPr lang="en-US" sz="2400" b="1" spc="300" kern="0" dirty="0">
                <a:solidFill>
                  <a:srgbClr val="3FD0C0"/>
                </a:solidFill>
                <a:latin typeface="Calibri" pitchFamily="34" charset="0"/>
                <a:ea typeface="Calibri" pitchFamily="34" charset="-122"/>
                <a:cs typeface="Calibri" pitchFamily="34" charset="-120"/>
              </a:rPr>
              <a:t>TEAM BYTEFORCE</a:t>
            </a:r>
            <a:endParaRPr lang="en-US" sz="2400" dirty="0"/>
          </a:p>
        </p:txBody>
      </p:sp>
      <p:sp>
        <p:nvSpPr>
          <p:cNvPr id="25" name="Slide Number Placeholder 0"/>
          <p:cNvSpPr>
            <a:spLocks noGrp="1"/>
          </p:cNvSpPr>
          <p:nvPr>
            <p:ph type="sldNum" sz="quarter" idx="4294967295"/>
          </p:nvPr>
        </p:nvSpPr>
        <p:spPr>
          <a:xfrm>
            <a:off x="11155680" y="6446520"/>
            <a:ext cx="50292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E6B7A"/>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Catch the Rocket – Mission Control (Team ByteForce)</dc:title>
  <dc:subject>PptxGenJS Presentation</dc:subject>
  <dc:creator>Team ByteForce</dc:creator>
  <cp:lastModifiedBy>Team ByteForce</cp:lastModifiedBy>
  <cp:revision>1</cp:revision>
  <dcterms:created xsi:type="dcterms:W3CDTF">2026-10-04T08:31:06Z</dcterms:created>
  <dcterms:modified xsi:type="dcterms:W3CDTF">2026-10-04T08:31:06Z</dcterms:modified>
</cp:coreProperties>
</file>